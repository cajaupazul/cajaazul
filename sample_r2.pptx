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3" r:id="rId2"/>
  </p:sldMasterIdLst>
  <p:notesMasterIdLst>
    <p:notesMasterId r:id="rId30"/>
  </p:notesMasterIdLst>
  <p:sldIdLst>
    <p:sldId id="256" r:id="rId3"/>
    <p:sldId id="257" r:id="rId4"/>
    <p:sldId id="335" r:id="rId5"/>
    <p:sldId id="259" r:id="rId6"/>
    <p:sldId id="330" r:id="rId7"/>
    <p:sldId id="334" r:id="rId8"/>
    <p:sldId id="263" r:id="rId9"/>
    <p:sldId id="267" r:id="rId10"/>
    <p:sldId id="336" r:id="rId11"/>
    <p:sldId id="337" r:id="rId12"/>
    <p:sldId id="570" r:id="rId13"/>
    <p:sldId id="284" r:id="rId14"/>
    <p:sldId id="568" r:id="rId15"/>
    <p:sldId id="341" r:id="rId16"/>
    <p:sldId id="273" r:id="rId17"/>
    <p:sldId id="344" r:id="rId18"/>
    <p:sldId id="275" r:id="rId19"/>
    <p:sldId id="276" r:id="rId20"/>
    <p:sldId id="277" r:id="rId21"/>
    <p:sldId id="566" r:id="rId22"/>
    <p:sldId id="348" r:id="rId23"/>
    <p:sldId id="571" r:id="rId24"/>
    <p:sldId id="565" r:id="rId25"/>
    <p:sldId id="567" r:id="rId26"/>
    <p:sldId id="320" r:id="rId27"/>
    <p:sldId id="569" r:id="rId28"/>
    <p:sldId id="282" r:id="rId29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iUrBK3wxnEnikHrSzPb/qRN7ya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7D7B"/>
    <a:srgbClr val="3B918F"/>
    <a:srgbClr val="42A2A0"/>
    <a:srgbClr val="36AE80"/>
    <a:srgbClr val="276399"/>
    <a:srgbClr val="CDBA85"/>
    <a:srgbClr val="BFA33B"/>
    <a:srgbClr val="C3AC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90"/>
  </p:normalViewPr>
  <p:slideViewPr>
    <p:cSldViewPr snapToGrid="0">
      <p:cViewPr varScale="1">
        <p:scale>
          <a:sx n="56" d="100"/>
          <a:sy n="56" d="100"/>
        </p:scale>
        <p:origin x="330" y="5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52F4E6-6212-B14F-A9E2-8DF51A223735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5FE7A01E-CB83-5B4B-80B0-4EA445BBBFF7}">
      <dgm:prSet phldrT="[Texto]" custT="1"/>
      <dgm:spPr>
        <a:solidFill>
          <a:srgbClr val="337D7B"/>
        </a:solidFill>
      </dgm:spPr>
      <dgm:t>
        <a:bodyPr/>
        <a:lstStyle/>
        <a:p>
          <a:r>
            <a:rPr lang="es-MX" sz="2400" dirty="0"/>
            <a:t>Mejora del desempeño organizacional</a:t>
          </a:r>
        </a:p>
      </dgm:t>
    </dgm:pt>
    <dgm:pt modelId="{31045DE0-D611-F949-AD2E-236025540A54}" type="parTrans" cxnId="{0FFF6984-0230-4842-9EF8-115F0866C295}">
      <dgm:prSet/>
      <dgm:spPr/>
      <dgm:t>
        <a:bodyPr/>
        <a:lstStyle/>
        <a:p>
          <a:endParaRPr lang="es-MX" sz="2400"/>
        </a:p>
      </dgm:t>
    </dgm:pt>
    <dgm:pt modelId="{33865EB2-99BC-EA4F-85D8-3999230A5C97}" type="sibTrans" cxnId="{0FFF6984-0230-4842-9EF8-115F0866C295}">
      <dgm:prSet/>
      <dgm:spPr/>
      <dgm:t>
        <a:bodyPr/>
        <a:lstStyle/>
        <a:p>
          <a:endParaRPr lang="es-MX" sz="2400"/>
        </a:p>
      </dgm:t>
    </dgm:pt>
    <dgm:pt modelId="{514DC0FF-F27B-5A4A-B3F8-94C872DFD88D}">
      <dgm:prSet phldrT="[Texto]" custT="1"/>
      <dgm:spPr>
        <a:solidFill>
          <a:srgbClr val="337D7B"/>
        </a:solidFill>
      </dgm:spPr>
      <dgm:t>
        <a:bodyPr/>
        <a:lstStyle/>
        <a:p>
          <a:r>
            <a:rPr lang="es-MX" sz="2400" dirty="0"/>
            <a:t>Adaptación al cambio</a:t>
          </a:r>
        </a:p>
      </dgm:t>
    </dgm:pt>
    <dgm:pt modelId="{8AACDB07-B57E-CC4C-B050-870502717F3F}" type="parTrans" cxnId="{DFD5ABFF-2DDE-104D-B9D0-830E43811132}">
      <dgm:prSet/>
      <dgm:spPr/>
      <dgm:t>
        <a:bodyPr/>
        <a:lstStyle/>
        <a:p>
          <a:endParaRPr lang="es-MX" sz="2400"/>
        </a:p>
      </dgm:t>
    </dgm:pt>
    <dgm:pt modelId="{5CE27885-4F84-F147-8B7B-6FF870851C39}" type="sibTrans" cxnId="{DFD5ABFF-2DDE-104D-B9D0-830E43811132}">
      <dgm:prSet/>
      <dgm:spPr/>
      <dgm:t>
        <a:bodyPr/>
        <a:lstStyle/>
        <a:p>
          <a:endParaRPr lang="es-MX" sz="2400"/>
        </a:p>
      </dgm:t>
    </dgm:pt>
    <dgm:pt modelId="{B3E7A23B-6B22-4A40-9692-D57159E04E15}">
      <dgm:prSet phldrT="[Texto]" custT="1"/>
      <dgm:spPr>
        <a:solidFill>
          <a:srgbClr val="337D7B"/>
        </a:solidFill>
      </dgm:spPr>
      <dgm:t>
        <a:bodyPr/>
        <a:lstStyle/>
        <a:p>
          <a:r>
            <a:rPr lang="es-MX" sz="2400" dirty="0"/>
            <a:t>Logro de metas</a:t>
          </a:r>
        </a:p>
      </dgm:t>
    </dgm:pt>
    <dgm:pt modelId="{0103EE5A-BEF0-E446-9AEB-291EF4AAAF97}" type="parTrans" cxnId="{7DDEE609-FE87-FB43-B6A6-3648C9BA34FD}">
      <dgm:prSet/>
      <dgm:spPr/>
      <dgm:t>
        <a:bodyPr/>
        <a:lstStyle/>
        <a:p>
          <a:endParaRPr lang="es-MX" sz="2400"/>
        </a:p>
      </dgm:t>
    </dgm:pt>
    <dgm:pt modelId="{56E37699-B5C9-F54C-B3EE-87E4CC99B1F2}" type="sibTrans" cxnId="{7DDEE609-FE87-FB43-B6A6-3648C9BA34FD}">
      <dgm:prSet/>
      <dgm:spPr/>
      <dgm:t>
        <a:bodyPr/>
        <a:lstStyle/>
        <a:p>
          <a:endParaRPr lang="es-MX" sz="2400"/>
        </a:p>
      </dgm:t>
    </dgm:pt>
    <dgm:pt modelId="{3D858C45-37C9-804B-8B74-AD4CBFF50A60}">
      <dgm:prSet custT="1"/>
      <dgm:spPr/>
      <dgm:t>
        <a:bodyPr/>
        <a:lstStyle/>
        <a:p>
          <a:r>
            <a:rPr lang="es-MX" sz="2000" dirty="0"/>
            <a:t>Las organizaciones que aplican la administración estratégica tienden a obtener mejores resultados.</a:t>
          </a:r>
        </a:p>
      </dgm:t>
    </dgm:pt>
    <dgm:pt modelId="{43938557-3435-AF43-89FD-75DF9A6E0A86}" type="parTrans" cxnId="{9402DB2F-F6E3-5444-97FD-EF774D8B8D32}">
      <dgm:prSet/>
      <dgm:spPr/>
      <dgm:t>
        <a:bodyPr/>
        <a:lstStyle/>
        <a:p>
          <a:endParaRPr lang="es-MX" sz="2400"/>
        </a:p>
      </dgm:t>
    </dgm:pt>
    <dgm:pt modelId="{0FC0DC56-FFC8-234E-A91B-95917DE553E5}" type="sibTrans" cxnId="{9402DB2F-F6E3-5444-97FD-EF774D8B8D32}">
      <dgm:prSet/>
      <dgm:spPr/>
      <dgm:t>
        <a:bodyPr/>
        <a:lstStyle/>
        <a:p>
          <a:endParaRPr lang="es-MX" sz="2400"/>
        </a:p>
      </dgm:t>
    </dgm:pt>
    <dgm:pt modelId="{7C2BBD38-9375-EB43-8538-5AD98C1E0E36}">
      <dgm:prSet custT="1"/>
      <dgm:spPr/>
      <dgm:t>
        <a:bodyPr/>
        <a:lstStyle/>
        <a:p>
          <a:r>
            <a:rPr lang="es-MX" sz="2000" dirty="0"/>
            <a:t>Permite a la organización responder eficazmente a entornos cambiantes.</a:t>
          </a:r>
        </a:p>
      </dgm:t>
    </dgm:pt>
    <dgm:pt modelId="{BFA6B96E-EAE2-CE4A-A90B-EDD7BE16B1A2}" type="parTrans" cxnId="{D0B0619E-DE07-3842-BE5A-C06E3EF08A71}">
      <dgm:prSet/>
      <dgm:spPr/>
      <dgm:t>
        <a:bodyPr/>
        <a:lstStyle/>
        <a:p>
          <a:endParaRPr lang="es-MX" sz="2400"/>
        </a:p>
      </dgm:t>
    </dgm:pt>
    <dgm:pt modelId="{7B849396-8AAA-B248-A8C0-41927E66310F}" type="sibTrans" cxnId="{D0B0619E-DE07-3842-BE5A-C06E3EF08A71}">
      <dgm:prSet/>
      <dgm:spPr/>
      <dgm:t>
        <a:bodyPr/>
        <a:lstStyle/>
        <a:p>
          <a:endParaRPr lang="es-MX" sz="2400"/>
        </a:p>
      </dgm:t>
    </dgm:pt>
    <dgm:pt modelId="{0B49D4CA-B352-464C-92AF-84328E0AB70B}">
      <dgm:prSet custT="1"/>
      <dgm:spPr/>
      <dgm:t>
        <a:bodyPr/>
        <a:lstStyle/>
        <a:p>
          <a:r>
            <a:rPr lang="es-MX" sz="2000" dirty="0"/>
            <a:t>Las organizaciones son complejas y diversas. Cada parte necesita trabajar en conjunto con las demás para cumplir las metas de la empresa y la administración estratégica contribuye a lograrlas.</a:t>
          </a:r>
        </a:p>
      </dgm:t>
    </dgm:pt>
    <dgm:pt modelId="{9BA4EB83-2ECF-1F45-9F4B-0254A8A73B19}" type="parTrans" cxnId="{7E07106E-8A1C-DF43-A105-2465AF943D27}">
      <dgm:prSet/>
      <dgm:spPr/>
      <dgm:t>
        <a:bodyPr/>
        <a:lstStyle/>
        <a:p>
          <a:endParaRPr lang="es-MX" sz="2400"/>
        </a:p>
      </dgm:t>
    </dgm:pt>
    <dgm:pt modelId="{32703F7F-DE67-1245-A506-731CF70C0702}" type="sibTrans" cxnId="{7E07106E-8A1C-DF43-A105-2465AF943D27}">
      <dgm:prSet/>
      <dgm:spPr/>
      <dgm:t>
        <a:bodyPr/>
        <a:lstStyle/>
        <a:p>
          <a:endParaRPr lang="es-MX" sz="2400"/>
        </a:p>
      </dgm:t>
    </dgm:pt>
    <dgm:pt modelId="{985C9E3E-C5A2-EE4F-BC75-B03202730AB2}" type="pres">
      <dgm:prSet presAssocID="{2752F4E6-6212-B14F-A9E2-8DF51A223735}" presName="linear" presStyleCnt="0">
        <dgm:presLayoutVars>
          <dgm:dir/>
          <dgm:animLvl val="lvl"/>
          <dgm:resizeHandles val="exact"/>
        </dgm:presLayoutVars>
      </dgm:prSet>
      <dgm:spPr/>
    </dgm:pt>
    <dgm:pt modelId="{2C612448-F134-8C47-B443-F5EBF9608FB3}" type="pres">
      <dgm:prSet presAssocID="{5FE7A01E-CB83-5B4B-80B0-4EA445BBBFF7}" presName="parentLin" presStyleCnt="0"/>
      <dgm:spPr/>
    </dgm:pt>
    <dgm:pt modelId="{20375159-609D-F54B-8EE5-7476E42FA849}" type="pres">
      <dgm:prSet presAssocID="{5FE7A01E-CB83-5B4B-80B0-4EA445BBBFF7}" presName="parentLeftMargin" presStyleLbl="node1" presStyleIdx="0" presStyleCnt="3"/>
      <dgm:spPr/>
    </dgm:pt>
    <dgm:pt modelId="{B4779CD8-DF78-2948-9CE0-01D7FDE4C0C6}" type="pres">
      <dgm:prSet presAssocID="{5FE7A01E-CB83-5B4B-80B0-4EA445BBBFF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E901152-D230-174E-8E6E-B86AB8AF7518}" type="pres">
      <dgm:prSet presAssocID="{5FE7A01E-CB83-5B4B-80B0-4EA445BBBFF7}" presName="negativeSpace" presStyleCnt="0"/>
      <dgm:spPr/>
    </dgm:pt>
    <dgm:pt modelId="{E17D2D5C-9F05-8A4D-A367-68DE5C11D217}" type="pres">
      <dgm:prSet presAssocID="{5FE7A01E-CB83-5B4B-80B0-4EA445BBBFF7}" presName="childText" presStyleLbl="conFgAcc1" presStyleIdx="0" presStyleCnt="3">
        <dgm:presLayoutVars>
          <dgm:bulletEnabled val="1"/>
        </dgm:presLayoutVars>
      </dgm:prSet>
      <dgm:spPr/>
    </dgm:pt>
    <dgm:pt modelId="{27AC4BD0-C681-8A4B-B828-C462888805CF}" type="pres">
      <dgm:prSet presAssocID="{33865EB2-99BC-EA4F-85D8-3999230A5C97}" presName="spaceBetweenRectangles" presStyleCnt="0"/>
      <dgm:spPr/>
    </dgm:pt>
    <dgm:pt modelId="{446D72F9-9476-BD47-88B8-7AF2484F3A20}" type="pres">
      <dgm:prSet presAssocID="{514DC0FF-F27B-5A4A-B3F8-94C872DFD88D}" presName="parentLin" presStyleCnt="0"/>
      <dgm:spPr/>
    </dgm:pt>
    <dgm:pt modelId="{940D7805-5CC7-3441-A702-3176F1FCEB11}" type="pres">
      <dgm:prSet presAssocID="{514DC0FF-F27B-5A4A-B3F8-94C872DFD88D}" presName="parentLeftMargin" presStyleLbl="node1" presStyleIdx="0" presStyleCnt="3"/>
      <dgm:spPr/>
    </dgm:pt>
    <dgm:pt modelId="{FF48E9ED-441A-BA48-BC58-785E97DD3B11}" type="pres">
      <dgm:prSet presAssocID="{514DC0FF-F27B-5A4A-B3F8-94C872DFD88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F12D91E-945E-374B-A517-7C8C0EFE2104}" type="pres">
      <dgm:prSet presAssocID="{514DC0FF-F27B-5A4A-B3F8-94C872DFD88D}" presName="negativeSpace" presStyleCnt="0"/>
      <dgm:spPr/>
    </dgm:pt>
    <dgm:pt modelId="{02211A2C-99A4-AE4F-A642-313BB92B97CE}" type="pres">
      <dgm:prSet presAssocID="{514DC0FF-F27B-5A4A-B3F8-94C872DFD88D}" presName="childText" presStyleLbl="conFgAcc1" presStyleIdx="1" presStyleCnt="3">
        <dgm:presLayoutVars>
          <dgm:bulletEnabled val="1"/>
        </dgm:presLayoutVars>
      </dgm:prSet>
      <dgm:spPr/>
    </dgm:pt>
    <dgm:pt modelId="{25A49FC2-5658-2D4F-8135-742D5B7C53ED}" type="pres">
      <dgm:prSet presAssocID="{5CE27885-4F84-F147-8B7B-6FF870851C39}" presName="spaceBetweenRectangles" presStyleCnt="0"/>
      <dgm:spPr/>
    </dgm:pt>
    <dgm:pt modelId="{0AFC8F62-7669-2E4C-969E-B6B0B9C3A329}" type="pres">
      <dgm:prSet presAssocID="{B3E7A23B-6B22-4A40-9692-D57159E04E15}" presName="parentLin" presStyleCnt="0"/>
      <dgm:spPr/>
    </dgm:pt>
    <dgm:pt modelId="{60F1BF83-6C9B-914F-AF2F-6DCC656C92B5}" type="pres">
      <dgm:prSet presAssocID="{B3E7A23B-6B22-4A40-9692-D57159E04E15}" presName="parentLeftMargin" presStyleLbl="node1" presStyleIdx="1" presStyleCnt="3"/>
      <dgm:spPr/>
    </dgm:pt>
    <dgm:pt modelId="{41EBFDD4-474E-B646-A242-5DCEDE7C707F}" type="pres">
      <dgm:prSet presAssocID="{B3E7A23B-6B22-4A40-9692-D57159E04E1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257F7E8-8DA6-ED4B-BAC1-D309788B3E2A}" type="pres">
      <dgm:prSet presAssocID="{B3E7A23B-6B22-4A40-9692-D57159E04E15}" presName="negativeSpace" presStyleCnt="0"/>
      <dgm:spPr/>
    </dgm:pt>
    <dgm:pt modelId="{BCAEC5E4-D8FB-B548-A8F1-F3856FA6061E}" type="pres">
      <dgm:prSet presAssocID="{B3E7A23B-6B22-4A40-9692-D57159E04E1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7637D03-53D3-5949-BAE6-BEB079970B45}" type="presOf" srcId="{3D858C45-37C9-804B-8B74-AD4CBFF50A60}" destId="{E17D2D5C-9F05-8A4D-A367-68DE5C11D217}" srcOrd="0" destOrd="0" presId="urn:microsoft.com/office/officeart/2005/8/layout/list1"/>
    <dgm:cxn modelId="{7DDEE609-FE87-FB43-B6A6-3648C9BA34FD}" srcId="{2752F4E6-6212-B14F-A9E2-8DF51A223735}" destId="{B3E7A23B-6B22-4A40-9692-D57159E04E15}" srcOrd="2" destOrd="0" parTransId="{0103EE5A-BEF0-E446-9AEB-291EF4AAAF97}" sibTransId="{56E37699-B5C9-F54C-B3EE-87E4CC99B1F2}"/>
    <dgm:cxn modelId="{9314D023-E88C-7344-ACF4-43D094BDFEBE}" type="presOf" srcId="{0B49D4CA-B352-464C-92AF-84328E0AB70B}" destId="{BCAEC5E4-D8FB-B548-A8F1-F3856FA6061E}" srcOrd="0" destOrd="0" presId="urn:microsoft.com/office/officeart/2005/8/layout/list1"/>
    <dgm:cxn modelId="{9402DB2F-F6E3-5444-97FD-EF774D8B8D32}" srcId="{5FE7A01E-CB83-5B4B-80B0-4EA445BBBFF7}" destId="{3D858C45-37C9-804B-8B74-AD4CBFF50A60}" srcOrd="0" destOrd="0" parTransId="{43938557-3435-AF43-89FD-75DF9A6E0A86}" sibTransId="{0FC0DC56-FFC8-234E-A91B-95917DE553E5}"/>
    <dgm:cxn modelId="{993E7C47-54F3-F64B-BD0C-D9821BBE7D8C}" type="presOf" srcId="{514DC0FF-F27B-5A4A-B3F8-94C872DFD88D}" destId="{FF48E9ED-441A-BA48-BC58-785E97DD3B11}" srcOrd="1" destOrd="0" presId="urn:microsoft.com/office/officeart/2005/8/layout/list1"/>
    <dgm:cxn modelId="{7E07106E-8A1C-DF43-A105-2465AF943D27}" srcId="{B3E7A23B-6B22-4A40-9692-D57159E04E15}" destId="{0B49D4CA-B352-464C-92AF-84328E0AB70B}" srcOrd="0" destOrd="0" parTransId="{9BA4EB83-2ECF-1F45-9F4B-0254A8A73B19}" sibTransId="{32703F7F-DE67-1245-A506-731CF70C0702}"/>
    <dgm:cxn modelId="{937DBD4E-2141-F44B-B172-D5CF5C17B195}" type="presOf" srcId="{5FE7A01E-CB83-5B4B-80B0-4EA445BBBFF7}" destId="{B4779CD8-DF78-2948-9CE0-01D7FDE4C0C6}" srcOrd="1" destOrd="0" presId="urn:microsoft.com/office/officeart/2005/8/layout/list1"/>
    <dgm:cxn modelId="{5E68C77B-C086-084A-9D3D-008DDA5338E8}" type="presOf" srcId="{B3E7A23B-6B22-4A40-9692-D57159E04E15}" destId="{60F1BF83-6C9B-914F-AF2F-6DCC656C92B5}" srcOrd="0" destOrd="0" presId="urn:microsoft.com/office/officeart/2005/8/layout/list1"/>
    <dgm:cxn modelId="{53FDCF7C-7124-BA45-8BC9-00FEC4933C95}" type="presOf" srcId="{5FE7A01E-CB83-5B4B-80B0-4EA445BBBFF7}" destId="{20375159-609D-F54B-8EE5-7476E42FA849}" srcOrd="0" destOrd="0" presId="urn:microsoft.com/office/officeart/2005/8/layout/list1"/>
    <dgm:cxn modelId="{0FFF6984-0230-4842-9EF8-115F0866C295}" srcId="{2752F4E6-6212-B14F-A9E2-8DF51A223735}" destId="{5FE7A01E-CB83-5B4B-80B0-4EA445BBBFF7}" srcOrd="0" destOrd="0" parTransId="{31045DE0-D611-F949-AD2E-236025540A54}" sibTransId="{33865EB2-99BC-EA4F-85D8-3999230A5C97}"/>
    <dgm:cxn modelId="{13D60E8F-A6FB-F640-9BF9-1CF6EB3F3257}" type="presOf" srcId="{2752F4E6-6212-B14F-A9E2-8DF51A223735}" destId="{985C9E3E-C5A2-EE4F-BC75-B03202730AB2}" srcOrd="0" destOrd="0" presId="urn:microsoft.com/office/officeart/2005/8/layout/list1"/>
    <dgm:cxn modelId="{D0B0619E-DE07-3842-BE5A-C06E3EF08A71}" srcId="{514DC0FF-F27B-5A4A-B3F8-94C872DFD88D}" destId="{7C2BBD38-9375-EB43-8538-5AD98C1E0E36}" srcOrd="0" destOrd="0" parTransId="{BFA6B96E-EAE2-CE4A-A90B-EDD7BE16B1A2}" sibTransId="{7B849396-8AAA-B248-A8C0-41927E66310F}"/>
    <dgm:cxn modelId="{64CE72B7-3877-6D40-8A02-A44E293ADBA9}" type="presOf" srcId="{514DC0FF-F27B-5A4A-B3F8-94C872DFD88D}" destId="{940D7805-5CC7-3441-A702-3176F1FCEB11}" srcOrd="0" destOrd="0" presId="urn:microsoft.com/office/officeart/2005/8/layout/list1"/>
    <dgm:cxn modelId="{7E69CFB7-D177-2244-878C-C2C3DFD600A7}" type="presOf" srcId="{7C2BBD38-9375-EB43-8538-5AD98C1E0E36}" destId="{02211A2C-99A4-AE4F-A642-313BB92B97CE}" srcOrd="0" destOrd="0" presId="urn:microsoft.com/office/officeart/2005/8/layout/list1"/>
    <dgm:cxn modelId="{305982F6-6EAA-7B49-85C2-9498C98D19C8}" type="presOf" srcId="{B3E7A23B-6B22-4A40-9692-D57159E04E15}" destId="{41EBFDD4-474E-B646-A242-5DCEDE7C707F}" srcOrd="1" destOrd="0" presId="urn:microsoft.com/office/officeart/2005/8/layout/list1"/>
    <dgm:cxn modelId="{DFD5ABFF-2DDE-104D-B9D0-830E43811132}" srcId="{2752F4E6-6212-B14F-A9E2-8DF51A223735}" destId="{514DC0FF-F27B-5A4A-B3F8-94C872DFD88D}" srcOrd="1" destOrd="0" parTransId="{8AACDB07-B57E-CC4C-B050-870502717F3F}" sibTransId="{5CE27885-4F84-F147-8B7B-6FF870851C39}"/>
    <dgm:cxn modelId="{812A74C8-101B-C840-AB05-22D8460B8874}" type="presParOf" srcId="{985C9E3E-C5A2-EE4F-BC75-B03202730AB2}" destId="{2C612448-F134-8C47-B443-F5EBF9608FB3}" srcOrd="0" destOrd="0" presId="urn:microsoft.com/office/officeart/2005/8/layout/list1"/>
    <dgm:cxn modelId="{DB94AEB5-3BB8-504F-98EB-06917DB173A3}" type="presParOf" srcId="{2C612448-F134-8C47-B443-F5EBF9608FB3}" destId="{20375159-609D-F54B-8EE5-7476E42FA849}" srcOrd="0" destOrd="0" presId="urn:microsoft.com/office/officeart/2005/8/layout/list1"/>
    <dgm:cxn modelId="{EAA07F29-14DD-B648-B6BB-A0BB55F9D789}" type="presParOf" srcId="{2C612448-F134-8C47-B443-F5EBF9608FB3}" destId="{B4779CD8-DF78-2948-9CE0-01D7FDE4C0C6}" srcOrd="1" destOrd="0" presId="urn:microsoft.com/office/officeart/2005/8/layout/list1"/>
    <dgm:cxn modelId="{C82A009B-0719-FE45-A42B-3D29FF3771D0}" type="presParOf" srcId="{985C9E3E-C5A2-EE4F-BC75-B03202730AB2}" destId="{DE901152-D230-174E-8E6E-B86AB8AF7518}" srcOrd="1" destOrd="0" presId="urn:microsoft.com/office/officeart/2005/8/layout/list1"/>
    <dgm:cxn modelId="{806A0DDB-E1DE-994B-899E-FA21143EC044}" type="presParOf" srcId="{985C9E3E-C5A2-EE4F-BC75-B03202730AB2}" destId="{E17D2D5C-9F05-8A4D-A367-68DE5C11D217}" srcOrd="2" destOrd="0" presId="urn:microsoft.com/office/officeart/2005/8/layout/list1"/>
    <dgm:cxn modelId="{4264BD5A-F046-2746-A78A-37BA3BFF8BCE}" type="presParOf" srcId="{985C9E3E-C5A2-EE4F-BC75-B03202730AB2}" destId="{27AC4BD0-C681-8A4B-B828-C462888805CF}" srcOrd="3" destOrd="0" presId="urn:microsoft.com/office/officeart/2005/8/layout/list1"/>
    <dgm:cxn modelId="{E4BB145A-3920-BF40-8F36-BABB2E67B724}" type="presParOf" srcId="{985C9E3E-C5A2-EE4F-BC75-B03202730AB2}" destId="{446D72F9-9476-BD47-88B8-7AF2484F3A20}" srcOrd="4" destOrd="0" presId="urn:microsoft.com/office/officeart/2005/8/layout/list1"/>
    <dgm:cxn modelId="{C6C5F3C2-F89D-1149-9A43-2B2F04701EFF}" type="presParOf" srcId="{446D72F9-9476-BD47-88B8-7AF2484F3A20}" destId="{940D7805-5CC7-3441-A702-3176F1FCEB11}" srcOrd="0" destOrd="0" presId="urn:microsoft.com/office/officeart/2005/8/layout/list1"/>
    <dgm:cxn modelId="{9B28C9B0-0F36-1C48-838B-56604DA114B9}" type="presParOf" srcId="{446D72F9-9476-BD47-88B8-7AF2484F3A20}" destId="{FF48E9ED-441A-BA48-BC58-785E97DD3B11}" srcOrd="1" destOrd="0" presId="urn:microsoft.com/office/officeart/2005/8/layout/list1"/>
    <dgm:cxn modelId="{EF814AF1-D629-E848-AB78-2F868F3D860B}" type="presParOf" srcId="{985C9E3E-C5A2-EE4F-BC75-B03202730AB2}" destId="{DF12D91E-945E-374B-A517-7C8C0EFE2104}" srcOrd="5" destOrd="0" presId="urn:microsoft.com/office/officeart/2005/8/layout/list1"/>
    <dgm:cxn modelId="{F2A0F2F0-6952-0B4F-B6A2-9F1230CBCC93}" type="presParOf" srcId="{985C9E3E-C5A2-EE4F-BC75-B03202730AB2}" destId="{02211A2C-99A4-AE4F-A642-313BB92B97CE}" srcOrd="6" destOrd="0" presId="urn:microsoft.com/office/officeart/2005/8/layout/list1"/>
    <dgm:cxn modelId="{711DDD6D-3BD8-4345-9549-3F8F931D28CC}" type="presParOf" srcId="{985C9E3E-C5A2-EE4F-BC75-B03202730AB2}" destId="{25A49FC2-5658-2D4F-8135-742D5B7C53ED}" srcOrd="7" destOrd="0" presId="urn:microsoft.com/office/officeart/2005/8/layout/list1"/>
    <dgm:cxn modelId="{DBB90CB2-4918-9042-8E6A-66E06999BD04}" type="presParOf" srcId="{985C9E3E-C5A2-EE4F-BC75-B03202730AB2}" destId="{0AFC8F62-7669-2E4C-969E-B6B0B9C3A329}" srcOrd="8" destOrd="0" presId="urn:microsoft.com/office/officeart/2005/8/layout/list1"/>
    <dgm:cxn modelId="{DEFA6EF0-58F4-A846-AB18-6F32FF7FA10E}" type="presParOf" srcId="{0AFC8F62-7669-2E4C-969E-B6B0B9C3A329}" destId="{60F1BF83-6C9B-914F-AF2F-6DCC656C92B5}" srcOrd="0" destOrd="0" presId="urn:microsoft.com/office/officeart/2005/8/layout/list1"/>
    <dgm:cxn modelId="{F34E89ED-3A67-F541-B30D-AF6D10922DDB}" type="presParOf" srcId="{0AFC8F62-7669-2E4C-969E-B6B0B9C3A329}" destId="{41EBFDD4-474E-B646-A242-5DCEDE7C707F}" srcOrd="1" destOrd="0" presId="urn:microsoft.com/office/officeart/2005/8/layout/list1"/>
    <dgm:cxn modelId="{856E008F-9D75-7246-B702-66594D9409EF}" type="presParOf" srcId="{985C9E3E-C5A2-EE4F-BC75-B03202730AB2}" destId="{D257F7E8-8DA6-ED4B-BAC1-D309788B3E2A}" srcOrd="9" destOrd="0" presId="urn:microsoft.com/office/officeart/2005/8/layout/list1"/>
    <dgm:cxn modelId="{536B8BC3-BC4B-2B48-AB0F-4912DAF71E5E}" type="presParOf" srcId="{985C9E3E-C5A2-EE4F-BC75-B03202730AB2}" destId="{BCAEC5E4-D8FB-B548-A8F1-F3856FA6061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506DF3-CB15-40BF-B564-4FBBED8C73B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B689C625-E810-4726-A73A-0735B1B245A1}">
      <dgm:prSet phldrT="[Texto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s-PE" sz="2000" dirty="0"/>
            <a:t>Estratégicos</a:t>
          </a:r>
        </a:p>
      </dgm:t>
    </dgm:pt>
    <dgm:pt modelId="{980C2A62-9E4D-4662-96F9-1A6B7028C003}" type="parTrans" cxnId="{44A65C90-E909-4A34-9D0E-C9EA4A441CF8}">
      <dgm:prSet/>
      <dgm:spPr/>
      <dgm:t>
        <a:bodyPr/>
        <a:lstStyle/>
        <a:p>
          <a:endParaRPr lang="es-PE"/>
        </a:p>
      </dgm:t>
    </dgm:pt>
    <dgm:pt modelId="{72DE9452-3DCF-4355-81F5-789CF2EC92CD}" type="sibTrans" cxnId="{44A65C90-E909-4A34-9D0E-C9EA4A441CF8}">
      <dgm:prSet/>
      <dgm:spPr>
        <a:solidFill>
          <a:schemeClr val="bg1">
            <a:lumMod val="75000"/>
          </a:schemeClr>
        </a:solidFill>
      </dgm:spPr>
      <dgm:t>
        <a:bodyPr/>
        <a:lstStyle/>
        <a:p>
          <a:endParaRPr lang="es-PE"/>
        </a:p>
      </dgm:t>
    </dgm:pt>
    <dgm:pt modelId="{85746982-9B85-4726-8510-0F8032FEE502}">
      <dgm:prSet phldrT="[Texto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s-PE" sz="2000" dirty="0"/>
            <a:t>De largo plazo</a:t>
          </a:r>
        </a:p>
      </dgm:t>
    </dgm:pt>
    <dgm:pt modelId="{88CEFFA2-B959-43E1-A8C6-FA8C63FC9684}" type="parTrans" cxnId="{39AF827D-1846-4B21-A316-518EE6BDA35C}">
      <dgm:prSet/>
      <dgm:spPr/>
      <dgm:t>
        <a:bodyPr/>
        <a:lstStyle/>
        <a:p>
          <a:endParaRPr lang="es-PE"/>
        </a:p>
      </dgm:t>
    </dgm:pt>
    <dgm:pt modelId="{91276514-49A6-49F6-8C0B-8E004A2E9123}" type="sibTrans" cxnId="{39AF827D-1846-4B21-A316-518EE6BDA35C}">
      <dgm:prSet/>
      <dgm:spPr>
        <a:solidFill>
          <a:schemeClr val="bg1">
            <a:lumMod val="75000"/>
          </a:schemeClr>
        </a:solidFill>
      </dgm:spPr>
      <dgm:t>
        <a:bodyPr/>
        <a:lstStyle/>
        <a:p>
          <a:endParaRPr lang="es-PE"/>
        </a:p>
      </dgm:t>
    </dgm:pt>
    <dgm:pt modelId="{80D34A6D-6708-4D99-A4F4-17E402DDE3EF}">
      <dgm:prSet phldrT="[Texto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s-PE" sz="2000" dirty="0"/>
            <a:t>Direccionales</a:t>
          </a:r>
        </a:p>
      </dgm:t>
    </dgm:pt>
    <dgm:pt modelId="{421757A1-E5EA-4E86-B7F0-A516DB4DCD78}" type="parTrans" cxnId="{0916399C-FC9E-4AD1-B13C-026C334730E7}">
      <dgm:prSet/>
      <dgm:spPr/>
      <dgm:t>
        <a:bodyPr/>
        <a:lstStyle/>
        <a:p>
          <a:endParaRPr lang="es-PE"/>
        </a:p>
      </dgm:t>
    </dgm:pt>
    <dgm:pt modelId="{A3F624FB-57F7-46A0-A4F7-7DEAEC195F8B}" type="sibTrans" cxnId="{0916399C-FC9E-4AD1-B13C-026C334730E7}">
      <dgm:prSet/>
      <dgm:spPr/>
      <dgm:t>
        <a:bodyPr/>
        <a:lstStyle/>
        <a:p>
          <a:endParaRPr lang="es-PE"/>
        </a:p>
      </dgm:t>
    </dgm:pt>
    <dgm:pt modelId="{50B7F571-EEB4-4C08-87B5-01E3E2DAA867}" type="pres">
      <dgm:prSet presAssocID="{47506DF3-CB15-40BF-B564-4FBBED8C73B6}" presName="Name0" presStyleCnt="0">
        <dgm:presLayoutVars>
          <dgm:dir/>
          <dgm:resizeHandles val="exact"/>
        </dgm:presLayoutVars>
      </dgm:prSet>
      <dgm:spPr/>
    </dgm:pt>
    <dgm:pt modelId="{78A34301-9811-4EA6-B4F3-BA834D042C39}" type="pres">
      <dgm:prSet presAssocID="{B689C625-E810-4726-A73A-0735B1B245A1}" presName="node" presStyleLbl="node1" presStyleIdx="0" presStyleCnt="3" custScaleY="61156">
        <dgm:presLayoutVars>
          <dgm:bulletEnabled val="1"/>
        </dgm:presLayoutVars>
      </dgm:prSet>
      <dgm:spPr/>
    </dgm:pt>
    <dgm:pt modelId="{45C3CC16-1E1C-4CAF-BF94-49F04493847A}" type="pres">
      <dgm:prSet presAssocID="{72DE9452-3DCF-4355-81F5-789CF2EC92CD}" presName="sibTrans" presStyleLbl="sibTrans2D1" presStyleIdx="0" presStyleCnt="2" custScaleX="272896" custLinFactNeighborX="50966" custLinFactNeighborY="7172"/>
      <dgm:spPr/>
    </dgm:pt>
    <dgm:pt modelId="{A91E71DD-001E-4B0E-B11B-3FF660487FE6}" type="pres">
      <dgm:prSet presAssocID="{72DE9452-3DCF-4355-81F5-789CF2EC92CD}" presName="connectorText" presStyleLbl="sibTrans2D1" presStyleIdx="0" presStyleCnt="2"/>
      <dgm:spPr/>
    </dgm:pt>
    <dgm:pt modelId="{B1E8CFAC-559A-4333-A68F-E83303E27E30}" type="pres">
      <dgm:prSet presAssocID="{85746982-9B85-4726-8510-0F8032FEE502}" presName="node" presStyleLbl="node1" presStyleIdx="1" presStyleCnt="3" custScaleY="68523">
        <dgm:presLayoutVars>
          <dgm:bulletEnabled val="1"/>
        </dgm:presLayoutVars>
      </dgm:prSet>
      <dgm:spPr/>
    </dgm:pt>
    <dgm:pt modelId="{3166C988-7E5F-41E7-B4EB-53FE99DA63A4}" type="pres">
      <dgm:prSet presAssocID="{91276514-49A6-49F6-8C0B-8E004A2E9123}" presName="sibTrans" presStyleLbl="sibTrans2D1" presStyleIdx="1" presStyleCnt="2" custScaleX="294665" custLinFactNeighborX="68080" custLinFactNeighborY="1262"/>
      <dgm:spPr/>
    </dgm:pt>
    <dgm:pt modelId="{7163D8FC-BA5F-4F95-B85F-844841F2CE86}" type="pres">
      <dgm:prSet presAssocID="{91276514-49A6-49F6-8C0B-8E004A2E9123}" presName="connectorText" presStyleLbl="sibTrans2D1" presStyleIdx="1" presStyleCnt="2"/>
      <dgm:spPr/>
    </dgm:pt>
    <dgm:pt modelId="{093B0B6F-F729-4281-8BFB-94A72F6246C4}" type="pres">
      <dgm:prSet presAssocID="{80D34A6D-6708-4D99-A4F4-17E402DDE3EF}" presName="node" presStyleLbl="node1" presStyleIdx="2" presStyleCnt="3" custScaleY="66703">
        <dgm:presLayoutVars>
          <dgm:bulletEnabled val="1"/>
        </dgm:presLayoutVars>
      </dgm:prSet>
      <dgm:spPr/>
    </dgm:pt>
  </dgm:ptLst>
  <dgm:cxnLst>
    <dgm:cxn modelId="{79FDB505-6A0E-4169-B664-34F2B49C5918}" type="presOf" srcId="{80D34A6D-6708-4D99-A4F4-17E402DDE3EF}" destId="{093B0B6F-F729-4281-8BFB-94A72F6246C4}" srcOrd="0" destOrd="0" presId="urn:microsoft.com/office/officeart/2005/8/layout/process1"/>
    <dgm:cxn modelId="{85FC5F25-EE48-4333-8963-1BDAB9459720}" type="presOf" srcId="{47506DF3-CB15-40BF-B564-4FBBED8C73B6}" destId="{50B7F571-EEB4-4C08-87B5-01E3E2DAA867}" srcOrd="0" destOrd="0" presId="urn:microsoft.com/office/officeart/2005/8/layout/process1"/>
    <dgm:cxn modelId="{FB351927-56C3-4B8F-9499-5EDBF818C2AD}" type="presOf" srcId="{85746982-9B85-4726-8510-0F8032FEE502}" destId="{B1E8CFAC-559A-4333-A68F-E83303E27E30}" srcOrd="0" destOrd="0" presId="urn:microsoft.com/office/officeart/2005/8/layout/process1"/>
    <dgm:cxn modelId="{71642C52-3745-4DE4-8FBB-80A72456DFDC}" type="presOf" srcId="{72DE9452-3DCF-4355-81F5-789CF2EC92CD}" destId="{45C3CC16-1E1C-4CAF-BF94-49F04493847A}" srcOrd="0" destOrd="0" presId="urn:microsoft.com/office/officeart/2005/8/layout/process1"/>
    <dgm:cxn modelId="{11975976-D402-4A45-8D88-713D2F8A40B3}" type="presOf" srcId="{91276514-49A6-49F6-8C0B-8E004A2E9123}" destId="{3166C988-7E5F-41E7-B4EB-53FE99DA63A4}" srcOrd="0" destOrd="0" presId="urn:microsoft.com/office/officeart/2005/8/layout/process1"/>
    <dgm:cxn modelId="{39AF827D-1846-4B21-A316-518EE6BDA35C}" srcId="{47506DF3-CB15-40BF-B564-4FBBED8C73B6}" destId="{85746982-9B85-4726-8510-0F8032FEE502}" srcOrd="1" destOrd="0" parTransId="{88CEFFA2-B959-43E1-A8C6-FA8C63FC9684}" sibTransId="{91276514-49A6-49F6-8C0B-8E004A2E9123}"/>
    <dgm:cxn modelId="{44A65C90-E909-4A34-9D0E-C9EA4A441CF8}" srcId="{47506DF3-CB15-40BF-B564-4FBBED8C73B6}" destId="{B689C625-E810-4726-A73A-0735B1B245A1}" srcOrd="0" destOrd="0" parTransId="{980C2A62-9E4D-4662-96F9-1A6B7028C003}" sibTransId="{72DE9452-3DCF-4355-81F5-789CF2EC92CD}"/>
    <dgm:cxn modelId="{0916399C-FC9E-4AD1-B13C-026C334730E7}" srcId="{47506DF3-CB15-40BF-B564-4FBBED8C73B6}" destId="{80D34A6D-6708-4D99-A4F4-17E402DDE3EF}" srcOrd="2" destOrd="0" parTransId="{421757A1-E5EA-4E86-B7F0-A516DB4DCD78}" sibTransId="{A3F624FB-57F7-46A0-A4F7-7DEAEC195F8B}"/>
    <dgm:cxn modelId="{15B1949F-54E6-4B79-A8D2-08FB22080C93}" type="presOf" srcId="{B689C625-E810-4726-A73A-0735B1B245A1}" destId="{78A34301-9811-4EA6-B4F3-BA834D042C39}" srcOrd="0" destOrd="0" presId="urn:microsoft.com/office/officeart/2005/8/layout/process1"/>
    <dgm:cxn modelId="{CE32B7C4-4872-4340-A3A0-67D8EF882C90}" type="presOf" srcId="{91276514-49A6-49F6-8C0B-8E004A2E9123}" destId="{7163D8FC-BA5F-4F95-B85F-844841F2CE86}" srcOrd="1" destOrd="0" presId="urn:microsoft.com/office/officeart/2005/8/layout/process1"/>
    <dgm:cxn modelId="{D33848F9-359F-46A7-B09B-F87353649B9E}" type="presOf" srcId="{72DE9452-3DCF-4355-81F5-789CF2EC92CD}" destId="{A91E71DD-001E-4B0E-B11B-3FF660487FE6}" srcOrd="1" destOrd="0" presId="urn:microsoft.com/office/officeart/2005/8/layout/process1"/>
    <dgm:cxn modelId="{E67A31A7-A3C4-44BA-8320-05187AED6A4D}" type="presParOf" srcId="{50B7F571-EEB4-4C08-87B5-01E3E2DAA867}" destId="{78A34301-9811-4EA6-B4F3-BA834D042C39}" srcOrd="0" destOrd="0" presId="urn:microsoft.com/office/officeart/2005/8/layout/process1"/>
    <dgm:cxn modelId="{12C8E6E4-2978-43CB-A30C-B54CB35D1FB0}" type="presParOf" srcId="{50B7F571-EEB4-4C08-87B5-01E3E2DAA867}" destId="{45C3CC16-1E1C-4CAF-BF94-49F04493847A}" srcOrd="1" destOrd="0" presId="urn:microsoft.com/office/officeart/2005/8/layout/process1"/>
    <dgm:cxn modelId="{EF5B05BD-2ED8-4E58-903A-A6C55852ABAF}" type="presParOf" srcId="{45C3CC16-1E1C-4CAF-BF94-49F04493847A}" destId="{A91E71DD-001E-4B0E-B11B-3FF660487FE6}" srcOrd="0" destOrd="0" presId="urn:microsoft.com/office/officeart/2005/8/layout/process1"/>
    <dgm:cxn modelId="{A5720389-4E13-4D58-968A-7DB04BE57F2E}" type="presParOf" srcId="{50B7F571-EEB4-4C08-87B5-01E3E2DAA867}" destId="{B1E8CFAC-559A-4333-A68F-E83303E27E30}" srcOrd="2" destOrd="0" presId="urn:microsoft.com/office/officeart/2005/8/layout/process1"/>
    <dgm:cxn modelId="{0D9E1402-02E4-490F-876A-3CF63E9D4738}" type="presParOf" srcId="{50B7F571-EEB4-4C08-87B5-01E3E2DAA867}" destId="{3166C988-7E5F-41E7-B4EB-53FE99DA63A4}" srcOrd="3" destOrd="0" presId="urn:microsoft.com/office/officeart/2005/8/layout/process1"/>
    <dgm:cxn modelId="{8F3E7A8D-E563-45FB-83BC-B11A8B05EC14}" type="presParOf" srcId="{3166C988-7E5F-41E7-B4EB-53FE99DA63A4}" destId="{7163D8FC-BA5F-4F95-B85F-844841F2CE86}" srcOrd="0" destOrd="0" presId="urn:microsoft.com/office/officeart/2005/8/layout/process1"/>
    <dgm:cxn modelId="{747506CF-F6ED-412D-AF57-0BC0EA1F1C17}" type="presParOf" srcId="{50B7F571-EEB4-4C08-87B5-01E3E2DAA867}" destId="{093B0B6F-F729-4281-8BFB-94A72F6246C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FD411E4-1168-424F-812B-CE84A43B77C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45388EE4-76A1-4E4D-BA97-4D344CE9116C}">
      <dgm:prSet phldrT="[Texto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s-PE" sz="2000" dirty="0"/>
            <a:t>Operativos</a:t>
          </a:r>
        </a:p>
      </dgm:t>
    </dgm:pt>
    <dgm:pt modelId="{6C6F7865-FA62-453E-8D97-909CC5BC3669}" type="parTrans" cxnId="{154D8E54-F2CC-4E9D-8D31-72F376978339}">
      <dgm:prSet/>
      <dgm:spPr/>
      <dgm:t>
        <a:bodyPr/>
        <a:lstStyle/>
        <a:p>
          <a:endParaRPr lang="es-PE" sz="2000"/>
        </a:p>
      </dgm:t>
    </dgm:pt>
    <dgm:pt modelId="{0A139DCC-97C1-4AAE-BCD5-9ADD63459EFD}" type="sibTrans" cxnId="{154D8E54-F2CC-4E9D-8D31-72F376978339}">
      <dgm:prSet custT="1"/>
      <dgm:spPr>
        <a:solidFill>
          <a:schemeClr val="bg1">
            <a:lumMod val="75000"/>
          </a:schemeClr>
        </a:solidFill>
      </dgm:spPr>
      <dgm:t>
        <a:bodyPr/>
        <a:lstStyle/>
        <a:p>
          <a:endParaRPr lang="es-PE" sz="2000"/>
        </a:p>
      </dgm:t>
    </dgm:pt>
    <dgm:pt modelId="{80E19FB5-56F5-41B8-B626-8D9BA725336B}">
      <dgm:prSet phldrT="[Texto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s-PE" sz="2000" dirty="0"/>
            <a:t>De corto plazo</a:t>
          </a:r>
        </a:p>
      </dgm:t>
    </dgm:pt>
    <dgm:pt modelId="{05BF6809-75A8-40FF-9E9C-A30CCDC1F679}" type="parTrans" cxnId="{4B7970C4-1FAF-449C-B498-B88E79663768}">
      <dgm:prSet/>
      <dgm:spPr/>
      <dgm:t>
        <a:bodyPr/>
        <a:lstStyle/>
        <a:p>
          <a:endParaRPr lang="es-PE" sz="2000"/>
        </a:p>
      </dgm:t>
    </dgm:pt>
    <dgm:pt modelId="{B7D3AA19-6594-498A-86A5-49E55664BC99}" type="sibTrans" cxnId="{4B7970C4-1FAF-449C-B498-B88E79663768}">
      <dgm:prSet custT="1"/>
      <dgm:spPr>
        <a:solidFill>
          <a:schemeClr val="bg1">
            <a:lumMod val="75000"/>
          </a:schemeClr>
        </a:solidFill>
      </dgm:spPr>
      <dgm:t>
        <a:bodyPr/>
        <a:lstStyle/>
        <a:p>
          <a:endParaRPr lang="es-PE" sz="2000"/>
        </a:p>
      </dgm:t>
    </dgm:pt>
    <dgm:pt modelId="{9479E0E7-8C5D-4376-B1B0-33766B6EA0E9}">
      <dgm:prSet phldrT="[Texto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s-PE" sz="2000" dirty="0"/>
            <a:t>Específicos</a:t>
          </a:r>
        </a:p>
      </dgm:t>
    </dgm:pt>
    <dgm:pt modelId="{52E6A3CB-FA79-4C08-97FC-2C289429D71E}" type="parTrans" cxnId="{38FC0C26-BFAD-4152-96B8-06DC0F743696}">
      <dgm:prSet/>
      <dgm:spPr/>
      <dgm:t>
        <a:bodyPr/>
        <a:lstStyle/>
        <a:p>
          <a:endParaRPr lang="es-PE" sz="2000"/>
        </a:p>
      </dgm:t>
    </dgm:pt>
    <dgm:pt modelId="{5F7A7962-960F-48DB-87C3-F82E9FEAF5E1}" type="sibTrans" cxnId="{38FC0C26-BFAD-4152-96B8-06DC0F743696}">
      <dgm:prSet/>
      <dgm:spPr/>
      <dgm:t>
        <a:bodyPr/>
        <a:lstStyle/>
        <a:p>
          <a:endParaRPr lang="es-PE" sz="2000"/>
        </a:p>
      </dgm:t>
    </dgm:pt>
    <dgm:pt modelId="{FC492EFC-F33F-49F0-84B1-BF8B2C1D5D97}" type="pres">
      <dgm:prSet presAssocID="{1FD411E4-1168-424F-812B-CE84A43B77C1}" presName="Name0" presStyleCnt="0">
        <dgm:presLayoutVars>
          <dgm:dir/>
          <dgm:resizeHandles val="exact"/>
        </dgm:presLayoutVars>
      </dgm:prSet>
      <dgm:spPr/>
    </dgm:pt>
    <dgm:pt modelId="{AAE742B6-66E1-4F2A-9885-13DE237858A6}" type="pres">
      <dgm:prSet presAssocID="{45388EE4-76A1-4E4D-BA97-4D344CE9116C}" presName="node" presStyleLbl="node1" presStyleIdx="0" presStyleCnt="3" custScaleY="65707" custLinFactX="-20059" custLinFactNeighborX="-100000" custLinFactNeighborY="-1096">
        <dgm:presLayoutVars>
          <dgm:bulletEnabled val="1"/>
        </dgm:presLayoutVars>
      </dgm:prSet>
      <dgm:spPr/>
    </dgm:pt>
    <dgm:pt modelId="{32F688A5-095B-464A-9AD8-6F7B1D902483}" type="pres">
      <dgm:prSet presAssocID="{0A139DCC-97C1-4AAE-BCD5-9ADD63459EFD}" presName="sibTrans" presStyleLbl="sibTrans2D1" presStyleIdx="0" presStyleCnt="2" custScaleX="240283" custLinFactNeighborX="34480" custLinFactNeighborY="1315"/>
      <dgm:spPr/>
    </dgm:pt>
    <dgm:pt modelId="{EC9C948B-F635-4813-A808-C94608E537E5}" type="pres">
      <dgm:prSet presAssocID="{0A139DCC-97C1-4AAE-BCD5-9ADD63459EFD}" presName="connectorText" presStyleLbl="sibTrans2D1" presStyleIdx="0" presStyleCnt="2"/>
      <dgm:spPr/>
    </dgm:pt>
    <dgm:pt modelId="{3767FA50-05A3-433E-8A61-75FB832C6B59}" type="pres">
      <dgm:prSet presAssocID="{80E19FB5-56F5-41B8-B626-8D9BA725336B}" presName="node" presStyleLbl="node1" presStyleIdx="1" presStyleCnt="3" custScaleY="67899">
        <dgm:presLayoutVars>
          <dgm:bulletEnabled val="1"/>
        </dgm:presLayoutVars>
      </dgm:prSet>
      <dgm:spPr/>
    </dgm:pt>
    <dgm:pt modelId="{6FC59461-3F6A-4D3D-8DE3-077AEF6CF603}" type="pres">
      <dgm:prSet presAssocID="{B7D3AA19-6594-498A-86A5-49E55664BC99}" presName="sibTrans" presStyleLbl="sibTrans2D1" presStyleIdx="1" presStyleCnt="2" custScaleX="246353" custLinFactNeighborX="29644" custLinFactNeighborY="0"/>
      <dgm:spPr/>
    </dgm:pt>
    <dgm:pt modelId="{13819409-D74A-4AB3-95BE-46FA637AAAC9}" type="pres">
      <dgm:prSet presAssocID="{B7D3AA19-6594-498A-86A5-49E55664BC99}" presName="connectorText" presStyleLbl="sibTrans2D1" presStyleIdx="1" presStyleCnt="2"/>
      <dgm:spPr/>
    </dgm:pt>
    <dgm:pt modelId="{E8F1578A-F442-4D3C-88EF-B5D5E41872EF}" type="pres">
      <dgm:prSet presAssocID="{9479E0E7-8C5D-4376-B1B0-33766B6EA0E9}" presName="node" presStyleLbl="node1" presStyleIdx="2" presStyleCnt="3" custScaleY="72291" custLinFactNeighborX="22929" custLinFactNeighborY="-1775">
        <dgm:presLayoutVars>
          <dgm:bulletEnabled val="1"/>
        </dgm:presLayoutVars>
      </dgm:prSet>
      <dgm:spPr/>
    </dgm:pt>
  </dgm:ptLst>
  <dgm:cxnLst>
    <dgm:cxn modelId="{38FC0C26-BFAD-4152-96B8-06DC0F743696}" srcId="{1FD411E4-1168-424F-812B-CE84A43B77C1}" destId="{9479E0E7-8C5D-4376-B1B0-33766B6EA0E9}" srcOrd="2" destOrd="0" parTransId="{52E6A3CB-FA79-4C08-97FC-2C289429D71E}" sibTransId="{5F7A7962-960F-48DB-87C3-F82E9FEAF5E1}"/>
    <dgm:cxn modelId="{4CB8F32E-7E21-45A8-9671-662C27F305A0}" type="presOf" srcId="{1FD411E4-1168-424F-812B-CE84A43B77C1}" destId="{FC492EFC-F33F-49F0-84B1-BF8B2C1D5D97}" srcOrd="0" destOrd="0" presId="urn:microsoft.com/office/officeart/2005/8/layout/process1"/>
    <dgm:cxn modelId="{58C27139-1833-4F79-A4FB-25C80127AA43}" type="presOf" srcId="{45388EE4-76A1-4E4D-BA97-4D344CE9116C}" destId="{AAE742B6-66E1-4F2A-9885-13DE237858A6}" srcOrd="0" destOrd="0" presId="urn:microsoft.com/office/officeart/2005/8/layout/process1"/>
    <dgm:cxn modelId="{53289A73-8AD6-4173-BBEF-474F41EF4564}" type="presOf" srcId="{B7D3AA19-6594-498A-86A5-49E55664BC99}" destId="{6FC59461-3F6A-4D3D-8DE3-077AEF6CF603}" srcOrd="0" destOrd="0" presId="urn:microsoft.com/office/officeart/2005/8/layout/process1"/>
    <dgm:cxn modelId="{154D8E54-F2CC-4E9D-8D31-72F376978339}" srcId="{1FD411E4-1168-424F-812B-CE84A43B77C1}" destId="{45388EE4-76A1-4E4D-BA97-4D344CE9116C}" srcOrd="0" destOrd="0" parTransId="{6C6F7865-FA62-453E-8D97-909CC5BC3669}" sibTransId="{0A139DCC-97C1-4AAE-BCD5-9ADD63459EFD}"/>
    <dgm:cxn modelId="{3D5B108D-2CB8-4FB2-A260-F9F626D251F1}" type="presOf" srcId="{0A139DCC-97C1-4AAE-BCD5-9ADD63459EFD}" destId="{EC9C948B-F635-4813-A808-C94608E537E5}" srcOrd="1" destOrd="0" presId="urn:microsoft.com/office/officeart/2005/8/layout/process1"/>
    <dgm:cxn modelId="{3740F38E-2AB2-4295-9BB6-5D0102AB163E}" type="presOf" srcId="{80E19FB5-56F5-41B8-B626-8D9BA725336B}" destId="{3767FA50-05A3-433E-8A61-75FB832C6B59}" srcOrd="0" destOrd="0" presId="urn:microsoft.com/office/officeart/2005/8/layout/process1"/>
    <dgm:cxn modelId="{4B7970C4-1FAF-449C-B498-B88E79663768}" srcId="{1FD411E4-1168-424F-812B-CE84A43B77C1}" destId="{80E19FB5-56F5-41B8-B626-8D9BA725336B}" srcOrd="1" destOrd="0" parTransId="{05BF6809-75A8-40FF-9E9C-A30CCDC1F679}" sibTransId="{B7D3AA19-6594-498A-86A5-49E55664BC99}"/>
    <dgm:cxn modelId="{B60747D2-E727-4BA7-9922-530E9DC058EF}" type="presOf" srcId="{B7D3AA19-6594-498A-86A5-49E55664BC99}" destId="{13819409-D74A-4AB3-95BE-46FA637AAAC9}" srcOrd="1" destOrd="0" presId="urn:microsoft.com/office/officeart/2005/8/layout/process1"/>
    <dgm:cxn modelId="{1BF8C8D5-B0B7-410F-AC64-2898FA5383CD}" type="presOf" srcId="{0A139DCC-97C1-4AAE-BCD5-9ADD63459EFD}" destId="{32F688A5-095B-464A-9AD8-6F7B1D902483}" srcOrd="0" destOrd="0" presId="urn:microsoft.com/office/officeart/2005/8/layout/process1"/>
    <dgm:cxn modelId="{7FDF00DB-680B-4805-A10A-E9D38BD9E5D5}" type="presOf" srcId="{9479E0E7-8C5D-4376-B1B0-33766B6EA0E9}" destId="{E8F1578A-F442-4D3C-88EF-B5D5E41872EF}" srcOrd="0" destOrd="0" presId="urn:microsoft.com/office/officeart/2005/8/layout/process1"/>
    <dgm:cxn modelId="{6876153A-C06F-41F5-9B4F-56EED0D82DFB}" type="presParOf" srcId="{FC492EFC-F33F-49F0-84B1-BF8B2C1D5D97}" destId="{AAE742B6-66E1-4F2A-9885-13DE237858A6}" srcOrd="0" destOrd="0" presId="urn:microsoft.com/office/officeart/2005/8/layout/process1"/>
    <dgm:cxn modelId="{E50F7889-5261-425F-A0BD-720AB8760962}" type="presParOf" srcId="{FC492EFC-F33F-49F0-84B1-BF8B2C1D5D97}" destId="{32F688A5-095B-464A-9AD8-6F7B1D902483}" srcOrd="1" destOrd="0" presId="urn:microsoft.com/office/officeart/2005/8/layout/process1"/>
    <dgm:cxn modelId="{82B79538-4593-470B-8E93-8F6DBBF019ED}" type="presParOf" srcId="{32F688A5-095B-464A-9AD8-6F7B1D902483}" destId="{EC9C948B-F635-4813-A808-C94608E537E5}" srcOrd="0" destOrd="0" presId="urn:microsoft.com/office/officeart/2005/8/layout/process1"/>
    <dgm:cxn modelId="{21F82A19-C3C9-46EF-B7F0-02900D12F52C}" type="presParOf" srcId="{FC492EFC-F33F-49F0-84B1-BF8B2C1D5D97}" destId="{3767FA50-05A3-433E-8A61-75FB832C6B59}" srcOrd="2" destOrd="0" presId="urn:microsoft.com/office/officeart/2005/8/layout/process1"/>
    <dgm:cxn modelId="{43E4F687-5507-417F-BBC6-D32E32B5EC3C}" type="presParOf" srcId="{FC492EFC-F33F-49F0-84B1-BF8B2C1D5D97}" destId="{6FC59461-3F6A-4D3D-8DE3-077AEF6CF603}" srcOrd="3" destOrd="0" presId="urn:microsoft.com/office/officeart/2005/8/layout/process1"/>
    <dgm:cxn modelId="{8BDCF1AB-CFB9-4443-A079-40F93619C2ED}" type="presParOf" srcId="{6FC59461-3F6A-4D3D-8DE3-077AEF6CF603}" destId="{13819409-D74A-4AB3-95BE-46FA637AAAC9}" srcOrd="0" destOrd="0" presId="urn:microsoft.com/office/officeart/2005/8/layout/process1"/>
    <dgm:cxn modelId="{9BBF78A8-0422-4506-A340-2C7964B721D8}" type="presParOf" srcId="{FC492EFC-F33F-49F0-84B1-BF8B2C1D5D97}" destId="{E8F1578A-F442-4D3C-88EF-B5D5E41872EF}" srcOrd="4" destOrd="0" presId="urn:microsoft.com/office/officeart/2005/8/layout/process1"/>
  </dgm:cxnLst>
  <dgm:bg>
    <a:noFill/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7D2D5C-9F05-8A4D-A367-68DE5C11D217}">
      <dsp:nvSpPr>
        <dsp:cNvPr id="0" name=""/>
        <dsp:cNvSpPr/>
      </dsp:nvSpPr>
      <dsp:spPr>
        <a:xfrm>
          <a:off x="0" y="265690"/>
          <a:ext cx="8928295" cy="100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2935" tIns="333248" rIns="69293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 dirty="0"/>
            <a:t>Las organizaciones que aplican la administración estratégica tienden a obtener mejores resultados.</a:t>
          </a:r>
        </a:p>
      </dsp:txBody>
      <dsp:txXfrm>
        <a:off x="0" y="265690"/>
        <a:ext cx="8928295" cy="1008000"/>
      </dsp:txXfrm>
    </dsp:sp>
    <dsp:sp modelId="{B4779CD8-DF78-2948-9CE0-01D7FDE4C0C6}">
      <dsp:nvSpPr>
        <dsp:cNvPr id="0" name=""/>
        <dsp:cNvSpPr/>
      </dsp:nvSpPr>
      <dsp:spPr>
        <a:xfrm>
          <a:off x="446414" y="29530"/>
          <a:ext cx="6249806" cy="472320"/>
        </a:xfrm>
        <a:prstGeom prst="roundRect">
          <a:avLst/>
        </a:prstGeom>
        <a:solidFill>
          <a:srgbClr val="337D7B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228" tIns="0" rIns="236228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Mejora del desempeño organizacional</a:t>
          </a:r>
        </a:p>
      </dsp:txBody>
      <dsp:txXfrm>
        <a:off x="469471" y="52587"/>
        <a:ext cx="6203692" cy="426206"/>
      </dsp:txXfrm>
    </dsp:sp>
    <dsp:sp modelId="{02211A2C-99A4-AE4F-A642-313BB92B97CE}">
      <dsp:nvSpPr>
        <dsp:cNvPr id="0" name=""/>
        <dsp:cNvSpPr/>
      </dsp:nvSpPr>
      <dsp:spPr>
        <a:xfrm>
          <a:off x="0" y="1596250"/>
          <a:ext cx="8928295" cy="100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2935" tIns="333248" rIns="69293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 dirty="0"/>
            <a:t>Permite a la organización responder eficazmente a entornos cambiantes.</a:t>
          </a:r>
        </a:p>
      </dsp:txBody>
      <dsp:txXfrm>
        <a:off x="0" y="1596250"/>
        <a:ext cx="8928295" cy="1008000"/>
      </dsp:txXfrm>
    </dsp:sp>
    <dsp:sp modelId="{FF48E9ED-441A-BA48-BC58-785E97DD3B11}">
      <dsp:nvSpPr>
        <dsp:cNvPr id="0" name=""/>
        <dsp:cNvSpPr/>
      </dsp:nvSpPr>
      <dsp:spPr>
        <a:xfrm>
          <a:off x="446414" y="1360090"/>
          <a:ext cx="6249806" cy="472320"/>
        </a:xfrm>
        <a:prstGeom prst="roundRect">
          <a:avLst/>
        </a:prstGeom>
        <a:solidFill>
          <a:srgbClr val="337D7B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228" tIns="0" rIns="236228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Adaptación al cambio</a:t>
          </a:r>
        </a:p>
      </dsp:txBody>
      <dsp:txXfrm>
        <a:off x="469471" y="1383147"/>
        <a:ext cx="6203692" cy="426206"/>
      </dsp:txXfrm>
    </dsp:sp>
    <dsp:sp modelId="{BCAEC5E4-D8FB-B548-A8F1-F3856FA6061E}">
      <dsp:nvSpPr>
        <dsp:cNvPr id="0" name=""/>
        <dsp:cNvSpPr/>
      </dsp:nvSpPr>
      <dsp:spPr>
        <a:xfrm>
          <a:off x="0" y="2926810"/>
          <a:ext cx="8928295" cy="15371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2935" tIns="333248" rIns="69293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 dirty="0"/>
            <a:t>Las organizaciones son complejas y diversas. Cada parte necesita trabajar en conjunto con las demás para cumplir las metas de la empresa y la administración estratégica contribuye a lograrlas.</a:t>
          </a:r>
        </a:p>
      </dsp:txBody>
      <dsp:txXfrm>
        <a:off x="0" y="2926810"/>
        <a:ext cx="8928295" cy="1537199"/>
      </dsp:txXfrm>
    </dsp:sp>
    <dsp:sp modelId="{41EBFDD4-474E-B646-A242-5DCEDE7C707F}">
      <dsp:nvSpPr>
        <dsp:cNvPr id="0" name=""/>
        <dsp:cNvSpPr/>
      </dsp:nvSpPr>
      <dsp:spPr>
        <a:xfrm>
          <a:off x="446414" y="2690650"/>
          <a:ext cx="6249806" cy="472320"/>
        </a:xfrm>
        <a:prstGeom prst="roundRect">
          <a:avLst/>
        </a:prstGeom>
        <a:solidFill>
          <a:srgbClr val="337D7B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228" tIns="0" rIns="236228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Logro de metas</a:t>
          </a:r>
        </a:p>
      </dsp:txBody>
      <dsp:txXfrm>
        <a:off x="469471" y="2713707"/>
        <a:ext cx="6203692" cy="4262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A34301-9811-4EA6-B4F3-BA834D042C39}">
      <dsp:nvSpPr>
        <dsp:cNvPr id="0" name=""/>
        <dsp:cNvSpPr/>
      </dsp:nvSpPr>
      <dsp:spPr>
        <a:xfrm>
          <a:off x="6437" y="1879274"/>
          <a:ext cx="1924237" cy="706071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kern="1200" dirty="0"/>
            <a:t>Estratégicos</a:t>
          </a:r>
        </a:p>
      </dsp:txBody>
      <dsp:txXfrm>
        <a:off x="27117" y="1899954"/>
        <a:ext cx="1882877" cy="664711"/>
      </dsp:txXfrm>
    </dsp:sp>
    <dsp:sp modelId="{45C3CC16-1E1C-4CAF-BF94-49F04493847A}">
      <dsp:nvSpPr>
        <dsp:cNvPr id="0" name=""/>
        <dsp:cNvSpPr/>
      </dsp:nvSpPr>
      <dsp:spPr>
        <a:xfrm>
          <a:off x="1978354" y="2027930"/>
          <a:ext cx="1113247" cy="477210"/>
        </a:xfrm>
        <a:prstGeom prst="rightArrow">
          <a:avLst>
            <a:gd name="adj1" fmla="val 60000"/>
            <a:gd name="adj2" fmla="val 50000"/>
          </a:avLst>
        </a:prstGeom>
        <a:solidFill>
          <a:schemeClr val="bg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2100" kern="1200"/>
        </a:p>
      </dsp:txBody>
      <dsp:txXfrm>
        <a:off x="1978354" y="2123372"/>
        <a:ext cx="970084" cy="286326"/>
      </dsp:txXfrm>
    </dsp:sp>
    <dsp:sp modelId="{B1E8CFAC-559A-4333-A68F-E83303E27E30}">
      <dsp:nvSpPr>
        <dsp:cNvPr id="0" name=""/>
        <dsp:cNvSpPr/>
      </dsp:nvSpPr>
      <dsp:spPr>
        <a:xfrm>
          <a:off x="2700370" y="1836746"/>
          <a:ext cx="1924237" cy="791127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kern="1200" dirty="0"/>
            <a:t>De largo plazo</a:t>
          </a:r>
        </a:p>
      </dsp:txBody>
      <dsp:txXfrm>
        <a:off x="2723541" y="1859917"/>
        <a:ext cx="1877895" cy="744785"/>
      </dsp:txXfrm>
    </dsp:sp>
    <dsp:sp modelId="{3166C988-7E5F-41E7-B4EB-53FE99DA63A4}">
      <dsp:nvSpPr>
        <dsp:cNvPr id="0" name=""/>
        <dsp:cNvSpPr/>
      </dsp:nvSpPr>
      <dsp:spPr>
        <a:xfrm>
          <a:off x="4697699" y="1999726"/>
          <a:ext cx="1202051" cy="477210"/>
        </a:xfrm>
        <a:prstGeom prst="rightArrow">
          <a:avLst>
            <a:gd name="adj1" fmla="val 60000"/>
            <a:gd name="adj2" fmla="val 50000"/>
          </a:avLst>
        </a:prstGeom>
        <a:solidFill>
          <a:schemeClr val="bg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2100" kern="1200"/>
        </a:p>
      </dsp:txBody>
      <dsp:txXfrm>
        <a:off x="4697699" y="2095168"/>
        <a:ext cx="1058888" cy="286326"/>
      </dsp:txXfrm>
    </dsp:sp>
    <dsp:sp modelId="{093B0B6F-F729-4281-8BFB-94A72F6246C4}">
      <dsp:nvSpPr>
        <dsp:cNvPr id="0" name=""/>
        <dsp:cNvSpPr/>
      </dsp:nvSpPr>
      <dsp:spPr>
        <a:xfrm>
          <a:off x="5394302" y="1847252"/>
          <a:ext cx="1924237" cy="770114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kern="1200" dirty="0"/>
            <a:t>Direccionales</a:t>
          </a:r>
        </a:p>
      </dsp:txBody>
      <dsp:txXfrm>
        <a:off x="5416858" y="1869808"/>
        <a:ext cx="1879125" cy="7250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E742B6-66E1-4F2A-9885-13DE237858A6}">
      <dsp:nvSpPr>
        <dsp:cNvPr id="0" name=""/>
        <dsp:cNvSpPr/>
      </dsp:nvSpPr>
      <dsp:spPr>
        <a:xfrm>
          <a:off x="0" y="1900953"/>
          <a:ext cx="1915454" cy="755152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kern="1200" dirty="0"/>
            <a:t>Operativos</a:t>
          </a:r>
        </a:p>
      </dsp:txBody>
      <dsp:txXfrm>
        <a:off x="22118" y="1923071"/>
        <a:ext cx="1871218" cy="710916"/>
      </dsp:txXfrm>
    </dsp:sp>
    <dsp:sp modelId="{32F688A5-095B-464A-9AD8-6F7B1D902483}">
      <dsp:nvSpPr>
        <dsp:cNvPr id="0" name=""/>
        <dsp:cNvSpPr/>
      </dsp:nvSpPr>
      <dsp:spPr>
        <a:xfrm rot="16109">
          <a:off x="1962574" y="2053612"/>
          <a:ext cx="983904" cy="475032"/>
        </a:xfrm>
        <a:prstGeom prst="rightArrow">
          <a:avLst>
            <a:gd name="adj1" fmla="val 60000"/>
            <a:gd name="adj2" fmla="val 50000"/>
          </a:avLst>
        </a:prstGeom>
        <a:solidFill>
          <a:schemeClr val="bg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2000" kern="1200"/>
        </a:p>
      </dsp:txBody>
      <dsp:txXfrm>
        <a:off x="1962575" y="2148284"/>
        <a:ext cx="841394" cy="285020"/>
      </dsp:txXfrm>
    </dsp:sp>
    <dsp:sp modelId="{3767FA50-05A3-433E-8A61-75FB832C6B59}">
      <dsp:nvSpPr>
        <dsp:cNvPr id="0" name=""/>
        <dsp:cNvSpPr/>
      </dsp:nvSpPr>
      <dsp:spPr>
        <a:xfrm>
          <a:off x="2688045" y="1900953"/>
          <a:ext cx="1915454" cy="780344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kern="1200" dirty="0"/>
            <a:t>De corto plazo</a:t>
          </a:r>
        </a:p>
      </dsp:txBody>
      <dsp:txXfrm>
        <a:off x="2710900" y="1923808"/>
        <a:ext cx="1869744" cy="734634"/>
      </dsp:txXfrm>
    </dsp:sp>
    <dsp:sp modelId="{6FC59461-3F6A-4D3D-8DE3-077AEF6CF603}">
      <dsp:nvSpPr>
        <dsp:cNvPr id="0" name=""/>
        <dsp:cNvSpPr/>
      </dsp:nvSpPr>
      <dsp:spPr>
        <a:xfrm rot="21573911">
          <a:off x="4618383" y="2043321"/>
          <a:ext cx="1008778" cy="475032"/>
        </a:xfrm>
        <a:prstGeom prst="rightArrow">
          <a:avLst>
            <a:gd name="adj1" fmla="val 60000"/>
            <a:gd name="adj2" fmla="val 50000"/>
          </a:avLst>
        </a:prstGeom>
        <a:solidFill>
          <a:schemeClr val="bg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2000" kern="1200"/>
        </a:p>
      </dsp:txBody>
      <dsp:txXfrm>
        <a:off x="4618385" y="2138868"/>
        <a:ext cx="866268" cy="285020"/>
      </dsp:txXfrm>
    </dsp:sp>
    <dsp:sp modelId="{E8F1578A-F442-4D3C-88EF-B5D5E41872EF}">
      <dsp:nvSpPr>
        <dsp:cNvPr id="0" name=""/>
        <dsp:cNvSpPr/>
      </dsp:nvSpPr>
      <dsp:spPr>
        <a:xfrm>
          <a:off x="5376091" y="1855315"/>
          <a:ext cx="1915454" cy="830820"/>
        </a:xfrm>
        <a:prstGeom prst="roundRect">
          <a:avLst>
            <a:gd name="adj" fmla="val 10000"/>
          </a:avLst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000" kern="1200" dirty="0"/>
            <a:t>Específicos</a:t>
          </a:r>
        </a:p>
      </dsp:txBody>
      <dsp:txXfrm>
        <a:off x="5400425" y="1879649"/>
        <a:ext cx="1866786" cy="7821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PE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4e95350035_0_11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4e95350035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>
          <a:extLst>
            <a:ext uri="{FF2B5EF4-FFF2-40B4-BE49-F238E27FC236}">
              <a16:creationId xmlns:a16="http://schemas.microsoft.com/office/drawing/2014/main" id="{423165D3-A08F-497F-5165-CD9D5A233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:notes">
            <a:extLst>
              <a:ext uri="{FF2B5EF4-FFF2-40B4-BE49-F238E27FC236}">
                <a16:creationId xmlns:a16="http://schemas.microsoft.com/office/drawing/2014/main" id="{36EC6BA0-75CA-BCF2-1B2A-9F95257855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1:notes">
            <a:extLst>
              <a:ext uri="{FF2B5EF4-FFF2-40B4-BE49-F238E27FC236}">
                <a16:creationId xmlns:a16="http://schemas.microsoft.com/office/drawing/2014/main" id="{A4E3CA66-83FF-4893-7506-2EAE6A9B19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3254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>
          <a:extLst>
            <a:ext uri="{FF2B5EF4-FFF2-40B4-BE49-F238E27FC236}">
              <a16:creationId xmlns:a16="http://schemas.microsoft.com/office/drawing/2014/main" id="{408C4B25-2AE0-0666-F9E9-38045A6EA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:notes">
            <a:extLst>
              <a:ext uri="{FF2B5EF4-FFF2-40B4-BE49-F238E27FC236}">
                <a16:creationId xmlns:a16="http://schemas.microsoft.com/office/drawing/2014/main" id="{C1A2F76E-9DF3-9015-E9E6-ECA3F52E3F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1:notes">
            <a:extLst>
              <a:ext uri="{FF2B5EF4-FFF2-40B4-BE49-F238E27FC236}">
                <a16:creationId xmlns:a16="http://schemas.microsoft.com/office/drawing/2014/main" id="{5E8E53D6-CD0B-9165-66CC-BB43247FA9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33325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>
          <a:extLst>
            <a:ext uri="{FF2B5EF4-FFF2-40B4-BE49-F238E27FC236}">
              <a16:creationId xmlns:a16="http://schemas.microsoft.com/office/drawing/2014/main" id="{51EDF5A7-C613-BE9B-CDD6-78F9D693C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:notes">
            <a:extLst>
              <a:ext uri="{FF2B5EF4-FFF2-40B4-BE49-F238E27FC236}">
                <a16:creationId xmlns:a16="http://schemas.microsoft.com/office/drawing/2014/main" id="{E587437E-3A40-9B92-3599-2B7DF3A3EE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1:notes">
            <a:extLst>
              <a:ext uri="{FF2B5EF4-FFF2-40B4-BE49-F238E27FC236}">
                <a16:creationId xmlns:a16="http://schemas.microsoft.com/office/drawing/2014/main" id="{206497C1-2552-E450-3D3D-C06543FC77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36999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>
          <a:extLst>
            <a:ext uri="{FF2B5EF4-FFF2-40B4-BE49-F238E27FC236}">
              <a16:creationId xmlns:a16="http://schemas.microsoft.com/office/drawing/2014/main" id="{74224E63-02BF-4C64-D249-91A87D7FE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0:notes">
            <a:extLst>
              <a:ext uri="{FF2B5EF4-FFF2-40B4-BE49-F238E27FC236}">
                <a16:creationId xmlns:a16="http://schemas.microsoft.com/office/drawing/2014/main" id="{3207DE2D-8A06-FC07-A272-DFEFC6D957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40:notes">
            <a:extLst>
              <a:ext uri="{FF2B5EF4-FFF2-40B4-BE49-F238E27FC236}">
                <a16:creationId xmlns:a16="http://schemas.microsoft.com/office/drawing/2014/main" id="{A9272B2D-F45A-F40E-49A3-6003F51C00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90804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6" name="Google Shape;366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>
            <a:spLocks noGrp="1"/>
          </p:cNvSpPr>
          <p:nvPr>
            <p:ph type="title"/>
          </p:nvPr>
        </p:nvSpPr>
        <p:spPr>
          <a:xfrm>
            <a:off x="596265" y="157797"/>
            <a:ext cx="11308080" cy="1588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7"/>
          <p:cNvSpPr txBox="1">
            <a:spLocks noGrp="1"/>
          </p:cNvSpPr>
          <p:nvPr>
            <p:ph type="body" idx="1"/>
          </p:nvPr>
        </p:nvSpPr>
        <p:spPr>
          <a:xfrm>
            <a:off x="791527" y="1771396"/>
            <a:ext cx="10608945" cy="4609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700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7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7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257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143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143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143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143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143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43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143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143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>
            <a:spLocks noGrp="1"/>
          </p:cNvSpPr>
          <p:nvPr>
            <p:ph type="ctrTitle"/>
          </p:nvPr>
        </p:nvSpPr>
        <p:spPr>
          <a:xfrm>
            <a:off x="895032" y="1137920"/>
            <a:ext cx="8582025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700" b="0" i="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1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257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143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143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143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143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143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43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143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143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596265" y="157797"/>
            <a:ext cx="11308080" cy="1588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2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2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257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143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143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143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143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143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43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143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143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257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143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143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143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143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143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43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143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143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7" name="Google Shape;57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5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5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6" name="Google Shape;76;p5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5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8" name="Google Shape;78;p5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5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90" name="Google Shape;90;p5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1" name="Google Shape;91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5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8" name="Google Shape;98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6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6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1" y="274643"/>
            <a:ext cx="10972801" cy="715961"/>
          </a:xfrm>
        </p:spPr>
        <p:txBody>
          <a:bodyPr>
            <a:normAutofit/>
          </a:bodyPr>
          <a:lstStyle>
            <a:lvl1pPr algn="l">
              <a:defRPr sz="373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26060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>
            <a:spLocks noGrp="1"/>
          </p:cNvSpPr>
          <p:nvPr>
            <p:ph type="title"/>
          </p:nvPr>
        </p:nvSpPr>
        <p:spPr>
          <a:xfrm>
            <a:off x="596265" y="157797"/>
            <a:ext cx="11308080" cy="1588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6"/>
          <p:cNvSpPr txBox="1">
            <a:spLocks noGrp="1"/>
          </p:cNvSpPr>
          <p:nvPr>
            <p:ph type="body" idx="1"/>
          </p:nvPr>
        </p:nvSpPr>
        <p:spPr>
          <a:xfrm>
            <a:off x="791527" y="1771396"/>
            <a:ext cx="10608945" cy="4609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700" b="0" i="0" u="none" strike="noStrike" cap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6"/>
          <p:cNvSpPr txBox="1">
            <a:spLocks noGrp="1"/>
          </p:cNvSpPr>
          <p:nvPr>
            <p:ph type="sldNum" idx="12"/>
          </p:nvPr>
        </p:nvSpPr>
        <p:spPr>
          <a:xfrm>
            <a:off x="11074018" y="6465252"/>
            <a:ext cx="24257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1430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14300" marR="0" lvl="1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" marR="0" lvl="2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14300" marR="0" lvl="3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14300" marR="0" lvl="4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14300" marR="0" lvl="5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114300" marR="0" lvl="6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14300" marR="0" lvl="7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14300" marR="0" lvl="8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5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UCFaXHPqynI?feature=oembed" TargetMode="External"/><Relationship Id="rId4" Type="http://schemas.openxmlformats.org/officeDocument/2006/relationships/hyperlink" Target="https://www.youtube.com/watch?v=UCFaXHPqynI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coca-colacompany.com/about-us/purpose-and-vision#:~:text=Our%20Vision:,lives%2C%20communities%20and%20our%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" descr="Facultad de... - Facultad de Ciencias Empresariales U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7533" y="518615"/>
            <a:ext cx="3357548" cy="142500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"/>
          <p:cNvSpPr txBox="1"/>
          <p:nvPr/>
        </p:nvSpPr>
        <p:spPr>
          <a:xfrm>
            <a:off x="0" y="3691195"/>
            <a:ext cx="5852614" cy="2388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859B"/>
              </a:buClr>
              <a:buSzPts val="2800"/>
              <a:buFont typeface="Calibri"/>
              <a:buNone/>
            </a:pPr>
            <a:r>
              <a:rPr lang="es-PE" sz="2800" b="1" i="0" u="none" strike="noStrike" cap="none">
                <a:solidFill>
                  <a:srgbClr val="31859B"/>
                </a:solidFill>
                <a:latin typeface="Calibri"/>
                <a:ea typeface="Calibri"/>
                <a:cs typeface="Calibri"/>
                <a:sym typeface="Calibri"/>
              </a:rPr>
              <a:t>Curso: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859B"/>
              </a:buClr>
              <a:buSzPts val="2800"/>
              <a:buFont typeface="Calibri"/>
              <a:buNone/>
            </a:pPr>
            <a:r>
              <a:rPr lang="es-PE" sz="2800" b="1" i="0" u="none" strike="noStrike" cap="none">
                <a:solidFill>
                  <a:srgbClr val="31859B"/>
                </a:solidFill>
                <a:latin typeface="Calibri"/>
                <a:ea typeface="Calibri"/>
                <a:cs typeface="Calibri"/>
                <a:sym typeface="Calibri"/>
              </a:rPr>
              <a:t>Fundamentos </a:t>
            </a:r>
            <a:r>
              <a:rPr lang="es-PE" sz="28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de</a:t>
            </a:r>
            <a:r>
              <a:rPr lang="es-PE" sz="2800" b="1" i="0" u="none" strike="noStrike" cap="none">
                <a:solidFill>
                  <a:srgbClr val="31859B"/>
                </a:solidFill>
                <a:latin typeface="Calibri"/>
                <a:ea typeface="Calibri"/>
                <a:cs typeface="Calibri"/>
                <a:sym typeface="Calibri"/>
              </a:rPr>
              <a:t> Ciencias Empresariales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859B"/>
              </a:buClr>
              <a:buSzPts val="2800"/>
              <a:buFont typeface="Calibri"/>
              <a:buNone/>
            </a:pPr>
            <a:r>
              <a:rPr lang="es-PE" sz="2800" b="1" i="0" u="none" strike="noStrike" cap="none">
                <a:solidFill>
                  <a:srgbClr val="31859B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5852614" y="0"/>
            <a:ext cx="6339386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"/>
          <p:cNvSpPr txBox="1"/>
          <p:nvPr/>
        </p:nvSpPr>
        <p:spPr>
          <a:xfrm>
            <a:off x="6219397" y="2151747"/>
            <a:ext cx="5605819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6399"/>
              </a:buClr>
              <a:buSzPts val="3200"/>
              <a:buFont typeface="Arial" panose="020B0604020202020204" pitchFamily="34" charset="0"/>
              <a:buChar char="•"/>
            </a:pPr>
            <a:r>
              <a:rPr lang="es-PE" sz="3200" b="1" i="0" u="none" strike="noStrike" cap="none" dirty="0">
                <a:solidFill>
                  <a:srgbClr val="2867A0"/>
                </a:solidFill>
                <a:latin typeface="Calibri"/>
                <a:ea typeface="Calibri"/>
                <a:cs typeface="Calibri"/>
                <a:sym typeface="Calibri"/>
              </a:rPr>
              <a:t>La Planeación</a:t>
            </a:r>
          </a:p>
          <a:p>
            <a:pPr marL="457200" indent="-457200">
              <a:buClr>
                <a:srgbClr val="276399"/>
              </a:buClr>
              <a:buSzPts val="3200"/>
              <a:buFont typeface="Arial" panose="020B0604020202020204" pitchFamily="34" charset="0"/>
              <a:buChar char="•"/>
            </a:pPr>
            <a:r>
              <a:rPr lang="es-PE" sz="3200" b="1" dirty="0">
                <a:solidFill>
                  <a:srgbClr val="2867A0"/>
                </a:solidFill>
                <a:latin typeface="Calibri"/>
                <a:ea typeface="Calibri"/>
                <a:cs typeface="Calibri"/>
                <a:sym typeface="Calibri"/>
              </a:rPr>
              <a:t>Administración Estratégica</a:t>
            </a:r>
            <a:endParaRPr lang="es-PE" sz="3200" b="1" dirty="0">
              <a:solidFill>
                <a:srgbClr val="2867A0"/>
              </a:solidFill>
              <a:latin typeface="Calibri"/>
              <a:ea typeface="Calibri"/>
              <a:cs typeface="Calibri"/>
            </a:endParaRPr>
          </a:p>
          <a:p>
            <a:pPr marL="457200" marR="0" lvl="0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6399"/>
              </a:buClr>
              <a:buSzPts val="3200"/>
              <a:buFont typeface="Arial" panose="020B0604020202020204" pitchFamily="34" charset="0"/>
              <a:buChar char="•"/>
            </a:pPr>
            <a:r>
              <a:rPr lang="es-PE" sz="3200" b="1" i="0" u="none" strike="noStrike" cap="none" dirty="0">
                <a:solidFill>
                  <a:srgbClr val="2867A0"/>
                </a:solidFill>
                <a:latin typeface="Calibri"/>
                <a:ea typeface="Calibri"/>
                <a:cs typeface="Calibri"/>
                <a:sym typeface="Calibri"/>
              </a:rPr>
              <a:t>Proceso de la administración estratégica: Visión, misión y objetivos</a:t>
            </a:r>
            <a:endParaRPr sz="3200" b="1" i="0" u="none" strike="noStrike" cap="none" dirty="0">
              <a:solidFill>
                <a:srgbClr val="2867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918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4"/>
          <p:cNvSpPr txBox="1">
            <a:spLocks noGrp="1"/>
          </p:cNvSpPr>
          <p:nvPr>
            <p:ph type="body" idx="1"/>
          </p:nvPr>
        </p:nvSpPr>
        <p:spPr>
          <a:xfrm>
            <a:off x="685800" y="2021861"/>
            <a:ext cx="5119772" cy="251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52425" lvl="0" indent="-3524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s-PE" dirty="0">
                <a:solidFill>
                  <a:schemeClr val="lt1"/>
                </a:solidFill>
              </a:rPr>
              <a:t>Entender  el concepto de La Planeación.</a:t>
            </a:r>
            <a:endParaRPr dirty="0"/>
          </a:p>
          <a:p>
            <a:pPr marL="352425" lvl="0" indent="-3524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s-PE" dirty="0">
                <a:solidFill>
                  <a:schemeClr val="lt1"/>
                </a:solidFill>
              </a:rPr>
              <a:t>Entender y comprender los conceptos de la Administración Estratégica </a:t>
            </a:r>
            <a:endParaRPr dirty="0"/>
          </a:p>
          <a:p>
            <a:pPr marL="352425" lvl="0" indent="-3524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s-PE" dirty="0">
                <a:solidFill>
                  <a:schemeClr val="lt1"/>
                </a:solidFill>
              </a:rPr>
              <a:t>Comprender los conceptos de visión, misión y objetivos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126" name="Google Shape;126;p34" descr="Qué es la inversión por objetivos? Ejemplos reales | Blog inbestMe"/>
          <p:cNvPicPr preferRelativeResize="0"/>
          <p:nvPr/>
        </p:nvPicPr>
        <p:blipFill rotWithShape="1">
          <a:blip r:embed="rId3">
            <a:alphaModFix/>
          </a:blip>
          <a:srcRect l="42380"/>
          <a:stretch/>
        </p:blipFill>
        <p:spPr>
          <a:xfrm>
            <a:off x="6261904" y="0"/>
            <a:ext cx="593009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4"/>
          <p:cNvSpPr txBox="1"/>
          <p:nvPr/>
        </p:nvSpPr>
        <p:spPr>
          <a:xfrm>
            <a:off x="685800" y="928680"/>
            <a:ext cx="5119772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s-PE" sz="2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LOGRO DE APRENDIZAJE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Gratis Fotos de stock gratuitas de adentro, administración, administración de tareas Foto de stock">
            <a:extLst>
              <a:ext uri="{FF2B5EF4-FFF2-40B4-BE49-F238E27FC236}">
                <a16:creationId xmlns:a16="http://schemas.microsoft.com/office/drawing/2014/main" id="{70990320-0D9C-9AE5-937D-6C108EB9B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33;p35">
            <a:extLst>
              <a:ext uri="{FF2B5EF4-FFF2-40B4-BE49-F238E27FC236}">
                <a16:creationId xmlns:a16="http://schemas.microsoft.com/office/drawing/2014/main" id="{08D962F0-C0F3-C737-590F-4F37F9A7D754}"/>
              </a:ext>
            </a:extLst>
          </p:cNvPr>
          <p:cNvSpPr txBox="1"/>
          <p:nvPr/>
        </p:nvSpPr>
        <p:spPr>
          <a:xfrm>
            <a:off x="-1" y="0"/>
            <a:ext cx="4487595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endParaRPr lang="es-PE" sz="44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endParaRPr lang="es-PE" sz="44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endParaRPr lang="es-PE" sz="44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s-PE" sz="4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La planeación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endParaRPr lang="es-PE" sz="44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endParaRPr lang="es-PE" sz="44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endParaRPr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16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36" descr="Gratis Persona Sosteniendo Bolígrafo Retráctil Plateado En Libro Con Rayas Blancas Foto de stoc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75223" y="2248525"/>
            <a:ext cx="8316776" cy="4825650"/>
          </a:xfrm>
          <a:prstGeom prst="flowChartAlternateProcess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139" name="Google Shape;139;p36"/>
          <p:cNvSpPr txBox="1">
            <a:spLocks noGrp="1"/>
          </p:cNvSpPr>
          <p:nvPr>
            <p:ph type="title"/>
          </p:nvPr>
        </p:nvSpPr>
        <p:spPr>
          <a:xfrm>
            <a:off x="561739" y="398954"/>
            <a:ext cx="4678180" cy="4089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None/>
            </a:pPr>
            <a:r>
              <a:rPr lang="es-PE" sz="3400" dirty="0">
                <a:latin typeface="Calibri"/>
                <a:ea typeface="Calibri"/>
                <a:cs typeface="Calibri"/>
                <a:sym typeface="Calibri"/>
              </a:rPr>
              <a:t>La planeación </a:t>
            </a:r>
            <a:r>
              <a:rPr lang="es-PE" sz="3400" dirty="0"/>
              <a:t>c</a:t>
            </a:r>
            <a:r>
              <a:rPr lang="es-PE" sz="3400" dirty="0">
                <a:latin typeface="Calibri"/>
                <a:ea typeface="Calibri"/>
                <a:cs typeface="Calibri"/>
                <a:sym typeface="Calibri"/>
              </a:rPr>
              <a:t>onsiste en definir las metas de la organización, establecer estrategias para lograrlas y desarrollar planes para integrar y coordinar las actividades laborales.</a:t>
            </a:r>
            <a:endParaRPr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1542D5A-9F58-3B3D-A437-DDED1FE3868B}"/>
              </a:ext>
            </a:extLst>
          </p:cNvPr>
          <p:cNvSpPr/>
          <p:nvPr/>
        </p:nvSpPr>
        <p:spPr>
          <a:xfrm>
            <a:off x="2196832" y="4349569"/>
            <a:ext cx="234716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200" dirty="0" err="1"/>
              <a:t>Robbins,S</a:t>
            </a:r>
            <a:r>
              <a:rPr lang="es-MX" sz="1200" dirty="0"/>
              <a:t>. &amp; </a:t>
            </a:r>
            <a:r>
              <a:rPr lang="es-MX" sz="1200" dirty="0" err="1"/>
              <a:t>Coulter</a:t>
            </a:r>
            <a:r>
              <a:rPr lang="es-MX" sz="1200" dirty="0"/>
              <a:t>, M. (2018)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37"/>
          <p:cNvGrpSpPr/>
          <p:nvPr/>
        </p:nvGrpSpPr>
        <p:grpSpPr>
          <a:xfrm>
            <a:off x="190737" y="1991975"/>
            <a:ext cx="11810526" cy="4156332"/>
            <a:chOff x="744413" y="1887415"/>
            <a:chExt cx="10703173" cy="3083169"/>
          </a:xfrm>
        </p:grpSpPr>
        <p:grpSp>
          <p:nvGrpSpPr>
            <p:cNvPr id="145" name="Google Shape;145;p37"/>
            <p:cNvGrpSpPr/>
            <p:nvPr/>
          </p:nvGrpSpPr>
          <p:grpSpPr>
            <a:xfrm>
              <a:off x="744413" y="2094162"/>
              <a:ext cx="3448956" cy="1000730"/>
              <a:chOff x="744413" y="2094162"/>
              <a:chExt cx="3448956" cy="1000730"/>
            </a:xfrm>
          </p:grpSpPr>
          <p:sp>
            <p:nvSpPr>
              <p:cNvPr id="146" name="Google Shape;146;p37"/>
              <p:cNvSpPr/>
              <p:nvPr/>
            </p:nvSpPr>
            <p:spPr>
              <a:xfrm flipH="1">
                <a:off x="2602522" y="2110153"/>
                <a:ext cx="1590847" cy="984739"/>
              </a:xfrm>
              <a:prstGeom prst="rect">
                <a:avLst/>
              </a:prstGeom>
              <a:solidFill>
                <a:srgbClr val="2E75B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37"/>
              <p:cNvSpPr/>
              <p:nvPr/>
            </p:nvSpPr>
            <p:spPr>
              <a:xfrm flipH="1">
                <a:off x="744413" y="2110153"/>
                <a:ext cx="2444776" cy="98473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37"/>
              <p:cNvSpPr/>
              <p:nvPr/>
            </p:nvSpPr>
            <p:spPr>
              <a:xfrm>
                <a:off x="799781" y="2094162"/>
                <a:ext cx="2310440" cy="890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PE" sz="2400" b="0" i="0" u="none" strike="noStrike" cap="none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Da dirección a los gerentes y a los empleados</a:t>
                </a:r>
                <a:endParaRPr sz="2400" b="0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9" name="Google Shape;149;p37"/>
            <p:cNvGrpSpPr/>
            <p:nvPr/>
          </p:nvGrpSpPr>
          <p:grpSpPr>
            <a:xfrm>
              <a:off x="744413" y="3704490"/>
              <a:ext cx="3448956" cy="984739"/>
              <a:chOff x="744413" y="3704490"/>
              <a:chExt cx="3448956" cy="984739"/>
            </a:xfrm>
          </p:grpSpPr>
          <p:sp>
            <p:nvSpPr>
              <p:cNvPr id="150" name="Google Shape;150;p37"/>
              <p:cNvSpPr/>
              <p:nvPr/>
            </p:nvSpPr>
            <p:spPr>
              <a:xfrm flipH="1">
                <a:off x="2602522" y="3704490"/>
                <a:ext cx="1590847" cy="984739"/>
              </a:xfrm>
              <a:prstGeom prst="rect">
                <a:avLst/>
              </a:prstGeom>
              <a:solidFill>
                <a:srgbClr val="7B7B7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1" name="Google Shape;151;p37"/>
              <p:cNvGrpSpPr/>
              <p:nvPr/>
            </p:nvGrpSpPr>
            <p:grpSpPr>
              <a:xfrm>
                <a:off x="744413" y="3704490"/>
                <a:ext cx="2576964" cy="984739"/>
                <a:chOff x="744413" y="3704490"/>
                <a:chExt cx="2576964" cy="984739"/>
              </a:xfrm>
            </p:grpSpPr>
            <p:sp>
              <p:nvSpPr>
                <p:cNvPr id="152" name="Google Shape;152;p37"/>
                <p:cNvSpPr/>
                <p:nvPr/>
              </p:nvSpPr>
              <p:spPr>
                <a:xfrm flipH="1">
                  <a:off x="744413" y="3704490"/>
                  <a:ext cx="2444774" cy="984739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3" name="Google Shape;153;p37"/>
                <p:cNvSpPr/>
                <p:nvPr/>
              </p:nvSpPr>
              <p:spPr>
                <a:xfrm>
                  <a:off x="804066" y="3873694"/>
                  <a:ext cx="2517311" cy="616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PE" sz="2400" b="0" i="0" u="none" strike="noStrike" cap="non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Reduce la incertidumbre</a:t>
                  </a:r>
                  <a:endParaRPr sz="24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54" name="Google Shape;154;p37"/>
            <p:cNvGrpSpPr/>
            <p:nvPr/>
          </p:nvGrpSpPr>
          <p:grpSpPr>
            <a:xfrm>
              <a:off x="7994621" y="2110153"/>
              <a:ext cx="3452965" cy="984739"/>
              <a:chOff x="7994621" y="2110153"/>
              <a:chExt cx="3452965" cy="984739"/>
            </a:xfrm>
          </p:grpSpPr>
          <p:sp>
            <p:nvSpPr>
              <p:cNvPr id="155" name="Google Shape;155;p37"/>
              <p:cNvSpPr/>
              <p:nvPr/>
            </p:nvSpPr>
            <p:spPr>
              <a:xfrm>
                <a:off x="7994621" y="2110153"/>
                <a:ext cx="1008186" cy="984739"/>
              </a:xfrm>
              <a:prstGeom prst="rect">
                <a:avLst/>
              </a:prstGeom>
              <a:solidFill>
                <a:srgbClr val="BF9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6" name="Google Shape;156;p37"/>
              <p:cNvGrpSpPr/>
              <p:nvPr/>
            </p:nvGrpSpPr>
            <p:grpSpPr>
              <a:xfrm>
                <a:off x="8998801" y="2110153"/>
                <a:ext cx="2448785" cy="984739"/>
                <a:chOff x="8998801" y="2110153"/>
                <a:chExt cx="2448785" cy="984739"/>
              </a:xfrm>
            </p:grpSpPr>
            <p:sp>
              <p:nvSpPr>
                <p:cNvPr id="157" name="Google Shape;157;p37"/>
                <p:cNvSpPr/>
                <p:nvPr/>
              </p:nvSpPr>
              <p:spPr>
                <a:xfrm>
                  <a:off x="9002807" y="2110153"/>
                  <a:ext cx="2444779" cy="984739"/>
                </a:xfrm>
                <a:prstGeom prst="rect">
                  <a:avLst/>
                </a:prstGeom>
                <a:solidFill>
                  <a:srgbClr val="FFCF37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" name="Google Shape;158;p37"/>
                <p:cNvSpPr/>
                <p:nvPr/>
              </p:nvSpPr>
              <p:spPr>
                <a:xfrm>
                  <a:off x="8998801" y="2110201"/>
                  <a:ext cx="2387893" cy="89040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PE" sz="2400" b="0" i="0" u="none" strike="noStrike" cap="non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Minimiza el desperdicio y la redundancia</a:t>
                  </a:r>
                  <a:endParaRPr sz="24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59" name="Google Shape;159;p37"/>
            <p:cNvGrpSpPr/>
            <p:nvPr/>
          </p:nvGrpSpPr>
          <p:grpSpPr>
            <a:xfrm>
              <a:off x="8092167" y="3704490"/>
              <a:ext cx="3355419" cy="984739"/>
              <a:chOff x="8092167" y="3704490"/>
              <a:chExt cx="3355419" cy="984739"/>
            </a:xfrm>
          </p:grpSpPr>
          <p:sp>
            <p:nvSpPr>
              <p:cNvPr id="160" name="Google Shape;160;p37"/>
              <p:cNvSpPr/>
              <p:nvPr/>
            </p:nvSpPr>
            <p:spPr>
              <a:xfrm>
                <a:off x="8092167" y="3704490"/>
                <a:ext cx="1497311" cy="984739"/>
              </a:xfrm>
              <a:prstGeom prst="rect">
                <a:avLst/>
              </a:prstGeom>
              <a:solidFill>
                <a:srgbClr val="54813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61" name="Google Shape;161;p37"/>
              <p:cNvGrpSpPr/>
              <p:nvPr/>
            </p:nvGrpSpPr>
            <p:grpSpPr>
              <a:xfrm>
                <a:off x="9163950" y="3704490"/>
                <a:ext cx="2283636" cy="984739"/>
                <a:chOff x="9163950" y="3704490"/>
                <a:chExt cx="2283636" cy="984739"/>
              </a:xfrm>
            </p:grpSpPr>
            <p:sp>
              <p:nvSpPr>
                <p:cNvPr id="162" name="Google Shape;162;p37"/>
                <p:cNvSpPr/>
                <p:nvPr/>
              </p:nvSpPr>
              <p:spPr>
                <a:xfrm>
                  <a:off x="9163950" y="3704490"/>
                  <a:ext cx="2283636" cy="984739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3" name="Google Shape;163;p37"/>
                <p:cNvSpPr/>
                <p:nvPr/>
              </p:nvSpPr>
              <p:spPr>
                <a:xfrm>
                  <a:off x="9225364" y="3873693"/>
                  <a:ext cx="1999665" cy="61643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PE" sz="2400" b="0" i="0" u="none" strike="noStrike" cap="non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Establece las metas</a:t>
                  </a:r>
                  <a:endParaRPr sz="24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4" name="Google Shape;164;p37"/>
            <p:cNvGrpSpPr/>
            <p:nvPr/>
          </p:nvGrpSpPr>
          <p:grpSpPr>
            <a:xfrm>
              <a:off x="4329563" y="1887415"/>
              <a:ext cx="3565457" cy="3083169"/>
              <a:chOff x="4329564" y="1887415"/>
              <a:chExt cx="3565457" cy="3083170"/>
            </a:xfrm>
          </p:grpSpPr>
          <p:sp>
            <p:nvSpPr>
              <p:cNvPr id="165" name="Google Shape;165;p37"/>
              <p:cNvSpPr/>
              <p:nvPr/>
            </p:nvSpPr>
            <p:spPr>
              <a:xfrm>
                <a:off x="4329564" y="1887415"/>
                <a:ext cx="3565457" cy="3083170"/>
              </a:xfrm>
              <a:prstGeom prst="ellipse">
                <a:avLst/>
              </a:prstGeom>
              <a:gradFill>
                <a:gsLst>
                  <a:gs pos="0">
                    <a:srgbClr val="F7CAAC"/>
                  </a:gs>
                  <a:gs pos="46000">
                    <a:srgbClr val="ED823A"/>
                  </a:gs>
                  <a:gs pos="100000">
                    <a:srgbClr val="9D480D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37"/>
              <p:cNvSpPr/>
              <p:nvPr/>
            </p:nvSpPr>
            <p:spPr>
              <a:xfrm>
                <a:off x="4616202" y="2839074"/>
                <a:ext cx="2825616" cy="10730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PE" sz="4400" b="0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La planeación</a:t>
                </a:r>
                <a:endParaRPr sz="44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67" name="Google Shape;167;p37"/>
          <p:cNvGrpSpPr/>
          <p:nvPr/>
        </p:nvGrpSpPr>
        <p:grpSpPr>
          <a:xfrm>
            <a:off x="8373630" y="2637100"/>
            <a:ext cx="664095" cy="637779"/>
            <a:chOff x="890588" y="2374900"/>
            <a:chExt cx="681038" cy="654050"/>
          </a:xfrm>
        </p:grpSpPr>
        <p:sp>
          <p:nvSpPr>
            <p:cNvPr id="168" name="Google Shape;168;p37"/>
            <p:cNvSpPr/>
            <p:nvPr/>
          </p:nvSpPr>
          <p:spPr>
            <a:xfrm>
              <a:off x="989013" y="2462213"/>
              <a:ext cx="157163" cy="152400"/>
            </a:xfrm>
            <a:custGeom>
              <a:avLst/>
              <a:gdLst/>
              <a:ahLst/>
              <a:cxnLst/>
              <a:rect l="l" t="t" r="r" b="b"/>
              <a:pathLst>
                <a:path w="791" h="769" extrusionOk="0">
                  <a:moveTo>
                    <a:pt x="311" y="0"/>
                  </a:moveTo>
                  <a:lnTo>
                    <a:pt x="353" y="3"/>
                  </a:lnTo>
                  <a:lnTo>
                    <a:pt x="393" y="11"/>
                  </a:lnTo>
                  <a:lnTo>
                    <a:pt x="431" y="24"/>
                  </a:lnTo>
                  <a:lnTo>
                    <a:pt x="467" y="42"/>
                  </a:lnTo>
                  <a:lnTo>
                    <a:pt x="500" y="64"/>
                  </a:lnTo>
                  <a:lnTo>
                    <a:pt x="530" y="90"/>
                  </a:lnTo>
                  <a:lnTo>
                    <a:pt x="556" y="121"/>
                  </a:lnTo>
                  <a:lnTo>
                    <a:pt x="578" y="153"/>
                  </a:lnTo>
                  <a:lnTo>
                    <a:pt x="596" y="189"/>
                  </a:lnTo>
                  <a:lnTo>
                    <a:pt x="610" y="227"/>
                  </a:lnTo>
                  <a:lnTo>
                    <a:pt x="618" y="268"/>
                  </a:lnTo>
                  <a:lnTo>
                    <a:pt x="620" y="310"/>
                  </a:lnTo>
                  <a:lnTo>
                    <a:pt x="618" y="350"/>
                  </a:lnTo>
                  <a:lnTo>
                    <a:pt x="610" y="388"/>
                  </a:lnTo>
                  <a:lnTo>
                    <a:pt x="597" y="424"/>
                  </a:lnTo>
                  <a:lnTo>
                    <a:pt x="581" y="458"/>
                  </a:lnTo>
                  <a:lnTo>
                    <a:pt x="791" y="656"/>
                  </a:lnTo>
                  <a:lnTo>
                    <a:pt x="752" y="691"/>
                  </a:lnTo>
                  <a:lnTo>
                    <a:pt x="716" y="729"/>
                  </a:lnTo>
                  <a:lnTo>
                    <a:pt x="683" y="769"/>
                  </a:lnTo>
                  <a:lnTo>
                    <a:pt x="474" y="572"/>
                  </a:lnTo>
                  <a:lnTo>
                    <a:pt x="437" y="592"/>
                  </a:lnTo>
                  <a:lnTo>
                    <a:pt x="397" y="607"/>
                  </a:lnTo>
                  <a:lnTo>
                    <a:pt x="355" y="616"/>
                  </a:lnTo>
                  <a:lnTo>
                    <a:pt x="311" y="619"/>
                  </a:lnTo>
                  <a:lnTo>
                    <a:pt x="269" y="617"/>
                  </a:lnTo>
                  <a:lnTo>
                    <a:pt x="228" y="609"/>
                  </a:lnTo>
                  <a:lnTo>
                    <a:pt x="190" y="595"/>
                  </a:lnTo>
                  <a:lnTo>
                    <a:pt x="154" y="577"/>
                  </a:lnTo>
                  <a:lnTo>
                    <a:pt x="120" y="555"/>
                  </a:lnTo>
                  <a:lnTo>
                    <a:pt x="91" y="529"/>
                  </a:lnTo>
                  <a:lnTo>
                    <a:pt x="65" y="500"/>
                  </a:lnTo>
                  <a:lnTo>
                    <a:pt x="43" y="466"/>
                  </a:lnTo>
                  <a:lnTo>
                    <a:pt x="25" y="430"/>
                  </a:lnTo>
                  <a:lnTo>
                    <a:pt x="11" y="392"/>
                  </a:lnTo>
                  <a:lnTo>
                    <a:pt x="4" y="352"/>
                  </a:lnTo>
                  <a:lnTo>
                    <a:pt x="0" y="310"/>
                  </a:lnTo>
                  <a:lnTo>
                    <a:pt x="4" y="268"/>
                  </a:lnTo>
                  <a:lnTo>
                    <a:pt x="11" y="227"/>
                  </a:lnTo>
                  <a:lnTo>
                    <a:pt x="25" y="189"/>
                  </a:lnTo>
                  <a:lnTo>
                    <a:pt x="43" y="153"/>
                  </a:lnTo>
                  <a:lnTo>
                    <a:pt x="65" y="121"/>
                  </a:lnTo>
                  <a:lnTo>
                    <a:pt x="91" y="90"/>
                  </a:lnTo>
                  <a:lnTo>
                    <a:pt x="120" y="64"/>
                  </a:lnTo>
                  <a:lnTo>
                    <a:pt x="154" y="42"/>
                  </a:lnTo>
                  <a:lnTo>
                    <a:pt x="190" y="24"/>
                  </a:lnTo>
                  <a:lnTo>
                    <a:pt x="228" y="11"/>
                  </a:lnTo>
                  <a:lnTo>
                    <a:pt x="269" y="3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37"/>
            <p:cNvSpPr/>
            <p:nvPr/>
          </p:nvSpPr>
          <p:spPr>
            <a:xfrm>
              <a:off x="1293813" y="2374900"/>
              <a:ext cx="160338" cy="212725"/>
            </a:xfrm>
            <a:custGeom>
              <a:avLst/>
              <a:gdLst/>
              <a:ahLst/>
              <a:cxnLst/>
              <a:rect l="l" t="t" r="r" b="b"/>
              <a:pathLst>
                <a:path w="808" h="1074" extrusionOk="0">
                  <a:moveTo>
                    <a:pt x="497" y="0"/>
                  </a:moveTo>
                  <a:lnTo>
                    <a:pt x="497" y="0"/>
                  </a:lnTo>
                  <a:lnTo>
                    <a:pt x="539" y="3"/>
                  </a:lnTo>
                  <a:lnTo>
                    <a:pt x="579" y="11"/>
                  </a:lnTo>
                  <a:lnTo>
                    <a:pt x="618" y="25"/>
                  </a:lnTo>
                  <a:lnTo>
                    <a:pt x="654" y="43"/>
                  </a:lnTo>
                  <a:lnTo>
                    <a:pt x="687" y="65"/>
                  </a:lnTo>
                  <a:lnTo>
                    <a:pt x="716" y="91"/>
                  </a:lnTo>
                  <a:lnTo>
                    <a:pt x="743" y="121"/>
                  </a:lnTo>
                  <a:lnTo>
                    <a:pt x="765" y="153"/>
                  </a:lnTo>
                  <a:lnTo>
                    <a:pt x="783" y="189"/>
                  </a:lnTo>
                  <a:lnTo>
                    <a:pt x="796" y="228"/>
                  </a:lnTo>
                  <a:lnTo>
                    <a:pt x="805" y="268"/>
                  </a:lnTo>
                  <a:lnTo>
                    <a:pt x="808" y="310"/>
                  </a:lnTo>
                  <a:lnTo>
                    <a:pt x="805" y="352"/>
                  </a:lnTo>
                  <a:lnTo>
                    <a:pt x="796" y="392"/>
                  </a:lnTo>
                  <a:lnTo>
                    <a:pt x="783" y="431"/>
                  </a:lnTo>
                  <a:lnTo>
                    <a:pt x="765" y="467"/>
                  </a:lnTo>
                  <a:lnTo>
                    <a:pt x="743" y="500"/>
                  </a:lnTo>
                  <a:lnTo>
                    <a:pt x="716" y="529"/>
                  </a:lnTo>
                  <a:lnTo>
                    <a:pt x="687" y="555"/>
                  </a:lnTo>
                  <a:lnTo>
                    <a:pt x="654" y="577"/>
                  </a:lnTo>
                  <a:lnTo>
                    <a:pt x="618" y="595"/>
                  </a:lnTo>
                  <a:lnTo>
                    <a:pt x="579" y="609"/>
                  </a:lnTo>
                  <a:lnTo>
                    <a:pt x="539" y="617"/>
                  </a:lnTo>
                  <a:lnTo>
                    <a:pt x="497" y="621"/>
                  </a:lnTo>
                  <a:lnTo>
                    <a:pt x="468" y="618"/>
                  </a:lnTo>
                  <a:lnTo>
                    <a:pt x="440" y="613"/>
                  </a:lnTo>
                  <a:lnTo>
                    <a:pt x="411" y="607"/>
                  </a:lnTo>
                  <a:lnTo>
                    <a:pt x="134" y="1074"/>
                  </a:lnTo>
                  <a:lnTo>
                    <a:pt x="91" y="1044"/>
                  </a:lnTo>
                  <a:lnTo>
                    <a:pt x="47" y="1017"/>
                  </a:lnTo>
                  <a:lnTo>
                    <a:pt x="0" y="994"/>
                  </a:lnTo>
                  <a:lnTo>
                    <a:pt x="276" y="528"/>
                  </a:lnTo>
                  <a:lnTo>
                    <a:pt x="251" y="499"/>
                  </a:lnTo>
                  <a:lnTo>
                    <a:pt x="229" y="466"/>
                  </a:lnTo>
                  <a:lnTo>
                    <a:pt x="211" y="430"/>
                  </a:lnTo>
                  <a:lnTo>
                    <a:pt x="199" y="392"/>
                  </a:lnTo>
                  <a:lnTo>
                    <a:pt x="190" y="352"/>
                  </a:lnTo>
                  <a:lnTo>
                    <a:pt x="187" y="310"/>
                  </a:lnTo>
                  <a:lnTo>
                    <a:pt x="190" y="268"/>
                  </a:lnTo>
                  <a:lnTo>
                    <a:pt x="199" y="227"/>
                  </a:lnTo>
                  <a:lnTo>
                    <a:pt x="211" y="189"/>
                  </a:lnTo>
                  <a:lnTo>
                    <a:pt x="229" y="153"/>
                  </a:lnTo>
                  <a:lnTo>
                    <a:pt x="252" y="121"/>
                  </a:lnTo>
                  <a:lnTo>
                    <a:pt x="278" y="91"/>
                  </a:lnTo>
                  <a:lnTo>
                    <a:pt x="308" y="65"/>
                  </a:lnTo>
                  <a:lnTo>
                    <a:pt x="341" y="43"/>
                  </a:lnTo>
                  <a:lnTo>
                    <a:pt x="376" y="25"/>
                  </a:lnTo>
                  <a:lnTo>
                    <a:pt x="414" y="11"/>
                  </a:lnTo>
                  <a:lnTo>
                    <a:pt x="455" y="3"/>
                  </a:lnTo>
                  <a:lnTo>
                    <a:pt x="4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37"/>
            <p:cNvSpPr/>
            <p:nvPr/>
          </p:nvSpPr>
          <p:spPr>
            <a:xfrm>
              <a:off x="1373188" y="2665413"/>
              <a:ext cx="198438" cy="122238"/>
            </a:xfrm>
            <a:custGeom>
              <a:avLst/>
              <a:gdLst/>
              <a:ahLst/>
              <a:cxnLst/>
              <a:rect l="l" t="t" r="r" b="b"/>
              <a:pathLst>
                <a:path w="1000" h="620" extrusionOk="0">
                  <a:moveTo>
                    <a:pt x="691" y="0"/>
                  </a:moveTo>
                  <a:lnTo>
                    <a:pt x="733" y="3"/>
                  </a:lnTo>
                  <a:lnTo>
                    <a:pt x="773" y="11"/>
                  </a:lnTo>
                  <a:lnTo>
                    <a:pt x="811" y="25"/>
                  </a:lnTo>
                  <a:lnTo>
                    <a:pt x="847" y="42"/>
                  </a:lnTo>
                  <a:lnTo>
                    <a:pt x="880" y="65"/>
                  </a:lnTo>
                  <a:lnTo>
                    <a:pt x="910" y="91"/>
                  </a:lnTo>
                  <a:lnTo>
                    <a:pt x="936" y="120"/>
                  </a:lnTo>
                  <a:lnTo>
                    <a:pt x="958" y="154"/>
                  </a:lnTo>
                  <a:lnTo>
                    <a:pt x="976" y="190"/>
                  </a:lnTo>
                  <a:lnTo>
                    <a:pt x="990" y="228"/>
                  </a:lnTo>
                  <a:lnTo>
                    <a:pt x="998" y="268"/>
                  </a:lnTo>
                  <a:lnTo>
                    <a:pt x="1000" y="310"/>
                  </a:lnTo>
                  <a:lnTo>
                    <a:pt x="998" y="352"/>
                  </a:lnTo>
                  <a:lnTo>
                    <a:pt x="990" y="393"/>
                  </a:lnTo>
                  <a:lnTo>
                    <a:pt x="976" y="431"/>
                  </a:lnTo>
                  <a:lnTo>
                    <a:pt x="958" y="466"/>
                  </a:lnTo>
                  <a:lnTo>
                    <a:pt x="936" y="499"/>
                  </a:lnTo>
                  <a:lnTo>
                    <a:pt x="910" y="530"/>
                  </a:lnTo>
                  <a:lnTo>
                    <a:pt x="880" y="555"/>
                  </a:lnTo>
                  <a:lnTo>
                    <a:pt x="847" y="578"/>
                  </a:lnTo>
                  <a:lnTo>
                    <a:pt x="811" y="596"/>
                  </a:lnTo>
                  <a:lnTo>
                    <a:pt x="773" y="609"/>
                  </a:lnTo>
                  <a:lnTo>
                    <a:pt x="733" y="617"/>
                  </a:lnTo>
                  <a:lnTo>
                    <a:pt x="691" y="620"/>
                  </a:lnTo>
                  <a:lnTo>
                    <a:pt x="649" y="617"/>
                  </a:lnTo>
                  <a:lnTo>
                    <a:pt x="610" y="610"/>
                  </a:lnTo>
                  <a:lnTo>
                    <a:pt x="572" y="596"/>
                  </a:lnTo>
                  <a:lnTo>
                    <a:pt x="536" y="579"/>
                  </a:lnTo>
                  <a:lnTo>
                    <a:pt x="504" y="557"/>
                  </a:lnTo>
                  <a:lnTo>
                    <a:pt x="474" y="532"/>
                  </a:lnTo>
                  <a:lnTo>
                    <a:pt x="449" y="502"/>
                  </a:lnTo>
                  <a:lnTo>
                    <a:pt x="426" y="470"/>
                  </a:lnTo>
                  <a:lnTo>
                    <a:pt x="408" y="435"/>
                  </a:lnTo>
                  <a:lnTo>
                    <a:pt x="394" y="398"/>
                  </a:lnTo>
                  <a:lnTo>
                    <a:pt x="386" y="358"/>
                  </a:lnTo>
                  <a:lnTo>
                    <a:pt x="0" y="320"/>
                  </a:lnTo>
                  <a:lnTo>
                    <a:pt x="8" y="273"/>
                  </a:lnTo>
                  <a:lnTo>
                    <a:pt x="13" y="223"/>
                  </a:lnTo>
                  <a:lnTo>
                    <a:pt x="15" y="173"/>
                  </a:lnTo>
                  <a:lnTo>
                    <a:pt x="14" y="165"/>
                  </a:lnTo>
                  <a:lnTo>
                    <a:pt x="400" y="203"/>
                  </a:lnTo>
                  <a:lnTo>
                    <a:pt x="417" y="165"/>
                  </a:lnTo>
                  <a:lnTo>
                    <a:pt x="439" y="130"/>
                  </a:lnTo>
                  <a:lnTo>
                    <a:pt x="466" y="98"/>
                  </a:lnTo>
                  <a:lnTo>
                    <a:pt x="496" y="70"/>
                  </a:lnTo>
                  <a:lnTo>
                    <a:pt x="529" y="46"/>
                  </a:lnTo>
                  <a:lnTo>
                    <a:pt x="566" y="27"/>
                  </a:lnTo>
                  <a:lnTo>
                    <a:pt x="606" y="12"/>
                  </a:lnTo>
                  <a:lnTo>
                    <a:pt x="647" y="4"/>
                  </a:lnTo>
                  <a:lnTo>
                    <a:pt x="6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37"/>
            <p:cNvSpPr/>
            <p:nvPr/>
          </p:nvSpPr>
          <p:spPr>
            <a:xfrm>
              <a:off x="1236663" y="2832100"/>
              <a:ext cx="122238" cy="196850"/>
            </a:xfrm>
            <a:custGeom>
              <a:avLst/>
              <a:gdLst/>
              <a:ahLst/>
              <a:cxnLst/>
              <a:rect l="l" t="t" r="r" b="b"/>
              <a:pathLst>
                <a:path w="621" h="995" extrusionOk="0">
                  <a:moveTo>
                    <a:pt x="234" y="0"/>
                  </a:moveTo>
                  <a:lnTo>
                    <a:pt x="320" y="377"/>
                  </a:lnTo>
                  <a:lnTo>
                    <a:pt x="364" y="381"/>
                  </a:lnTo>
                  <a:lnTo>
                    <a:pt x="407" y="391"/>
                  </a:lnTo>
                  <a:lnTo>
                    <a:pt x="447" y="408"/>
                  </a:lnTo>
                  <a:lnTo>
                    <a:pt x="484" y="429"/>
                  </a:lnTo>
                  <a:lnTo>
                    <a:pt x="518" y="456"/>
                  </a:lnTo>
                  <a:lnTo>
                    <a:pt x="547" y="486"/>
                  </a:lnTo>
                  <a:lnTo>
                    <a:pt x="573" y="520"/>
                  </a:lnTo>
                  <a:lnTo>
                    <a:pt x="593" y="558"/>
                  </a:lnTo>
                  <a:lnTo>
                    <a:pt x="608" y="598"/>
                  </a:lnTo>
                  <a:lnTo>
                    <a:pt x="618" y="641"/>
                  </a:lnTo>
                  <a:lnTo>
                    <a:pt x="621" y="686"/>
                  </a:lnTo>
                  <a:lnTo>
                    <a:pt x="618" y="728"/>
                  </a:lnTo>
                  <a:lnTo>
                    <a:pt x="609" y="768"/>
                  </a:lnTo>
                  <a:lnTo>
                    <a:pt x="597" y="806"/>
                  </a:lnTo>
                  <a:lnTo>
                    <a:pt x="578" y="842"/>
                  </a:lnTo>
                  <a:lnTo>
                    <a:pt x="556" y="875"/>
                  </a:lnTo>
                  <a:lnTo>
                    <a:pt x="529" y="905"/>
                  </a:lnTo>
                  <a:lnTo>
                    <a:pt x="500" y="931"/>
                  </a:lnTo>
                  <a:lnTo>
                    <a:pt x="467" y="953"/>
                  </a:lnTo>
                  <a:lnTo>
                    <a:pt x="432" y="971"/>
                  </a:lnTo>
                  <a:lnTo>
                    <a:pt x="393" y="985"/>
                  </a:lnTo>
                  <a:lnTo>
                    <a:pt x="353" y="993"/>
                  </a:lnTo>
                  <a:lnTo>
                    <a:pt x="311" y="995"/>
                  </a:lnTo>
                  <a:lnTo>
                    <a:pt x="269" y="993"/>
                  </a:lnTo>
                  <a:lnTo>
                    <a:pt x="229" y="985"/>
                  </a:lnTo>
                  <a:lnTo>
                    <a:pt x="190" y="971"/>
                  </a:lnTo>
                  <a:lnTo>
                    <a:pt x="154" y="953"/>
                  </a:lnTo>
                  <a:lnTo>
                    <a:pt x="121" y="931"/>
                  </a:lnTo>
                  <a:lnTo>
                    <a:pt x="92" y="905"/>
                  </a:lnTo>
                  <a:lnTo>
                    <a:pt x="65" y="875"/>
                  </a:lnTo>
                  <a:lnTo>
                    <a:pt x="43" y="842"/>
                  </a:lnTo>
                  <a:lnTo>
                    <a:pt x="26" y="806"/>
                  </a:lnTo>
                  <a:lnTo>
                    <a:pt x="12" y="768"/>
                  </a:lnTo>
                  <a:lnTo>
                    <a:pt x="3" y="728"/>
                  </a:lnTo>
                  <a:lnTo>
                    <a:pt x="0" y="686"/>
                  </a:lnTo>
                  <a:lnTo>
                    <a:pt x="3" y="642"/>
                  </a:lnTo>
                  <a:lnTo>
                    <a:pt x="13" y="600"/>
                  </a:lnTo>
                  <a:lnTo>
                    <a:pt x="28" y="561"/>
                  </a:lnTo>
                  <a:lnTo>
                    <a:pt x="48" y="524"/>
                  </a:lnTo>
                  <a:lnTo>
                    <a:pt x="72" y="490"/>
                  </a:lnTo>
                  <a:lnTo>
                    <a:pt x="100" y="460"/>
                  </a:lnTo>
                  <a:lnTo>
                    <a:pt x="133" y="434"/>
                  </a:lnTo>
                  <a:lnTo>
                    <a:pt x="169" y="413"/>
                  </a:lnTo>
                  <a:lnTo>
                    <a:pt x="81" y="35"/>
                  </a:lnTo>
                  <a:lnTo>
                    <a:pt x="134" y="26"/>
                  </a:lnTo>
                  <a:lnTo>
                    <a:pt x="184" y="15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37"/>
            <p:cNvSpPr/>
            <p:nvPr/>
          </p:nvSpPr>
          <p:spPr>
            <a:xfrm>
              <a:off x="890588" y="2728913"/>
              <a:ext cx="217488" cy="127000"/>
            </a:xfrm>
            <a:custGeom>
              <a:avLst/>
              <a:gdLst/>
              <a:ahLst/>
              <a:cxnLst/>
              <a:rect l="l" t="t" r="r" b="b"/>
              <a:pathLst>
                <a:path w="1099" h="640" extrusionOk="0">
                  <a:moveTo>
                    <a:pt x="1049" y="0"/>
                  </a:moveTo>
                  <a:lnTo>
                    <a:pt x="1063" y="51"/>
                  </a:lnTo>
                  <a:lnTo>
                    <a:pt x="1079" y="100"/>
                  </a:lnTo>
                  <a:lnTo>
                    <a:pt x="1099" y="148"/>
                  </a:lnTo>
                  <a:lnTo>
                    <a:pt x="618" y="310"/>
                  </a:lnTo>
                  <a:lnTo>
                    <a:pt x="619" y="319"/>
                  </a:lnTo>
                  <a:lnTo>
                    <a:pt x="620" y="330"/>
                  </a:lnTo>
                  <a:lnTo>
                    <a:pt x="618" y="372"/>
                  </a:lnTo>
                  <a:lnTo>
                    <a:pt x="609" y="413"/>
                  </a:lnTo>
                  <a:lnTo>
                    <a:pt x="596" y="451"/>
                  </a:lnTo>
                  <a:lnTo>
                    <a:pt x="578" y="486"/>
                  </a:lnTo>
                  <a:lnTo>
                    <a:pt x="556" y="519"/>
                  </a:lnTo>
                  <a:lnTo>
                    <a:pt x="529" y="550"/>
                  </a:lnTo>
                  <a:lnTo>
                    <a:pt x="500" y="576"/>
                  </a:lnTo>
                  <a:lnTo>
                    <a:pt x="466" y="598"/>
                  </a:lnTo>
                  <a:lnTo>
                    <a:pt x="430" y="616"/>
                  </a:lnTo>
                  <a:lnTo>
                    <a:pt x="392" y="630"/>
                  </a:lnTo>
                  <a:lnTo>
                    <a:pt x="351" y="637"/>
                  </a:lnTo>
                  <a:lnTo>
                    <a:pt x="309" y="640"/>
                  </a:lnTo>
                  <a:lnTo>
                    <a:pt x="267" y="637"/>
                  </a:lnTo>
                  <a:lnTo>
                    <a:pt x="227" y="630"/>
                  </a:lnTo>
                  <a:lnTo>
                    <a:pt x="189" y="616"/>
                  </a:lnTo>
                  <a:lnTo>
                    <a:pt x="154" y="598"/>
                  </a:lnTo>
                  <a:lnTo>
                    <a:pt x="120" y="576"/>
                  </a:lnTo>
                  <a:lnTo>
                    <a:pt x="90" y="550"/>
                  </a:lnTo>
                  <a:lnTo>
                    <a:pt x="64" y="519"/>
                  </a:lnTo>
                  <a:lnTo>
                    <a:pt x="42" y="486"/>
                  </a:lnTo>
                  <a:lnTo>
                    <a:pt x="24" y="451"/>
                  </a:lnTo>
                  <a:lnTo>
                    <a:pt x="12" y="413"/>
                  </a:lnTo>
                  <a:lnTo>
                    <a:pt x="3" y="372"/>
                  </a:lnTo>
                  <a:lnTo>
                    <a:pt x="0" y="330"/>
                  </a:lnTo>
                  <a:lnTo>
                    <a:pt x="3" y="288"/>
                  </a:lnTo>
                  <a:lnTo>
                    <a:pt x="12" y="248"/>
                  </a:lnTo>
                  <a:lnTo>
                    <a:pt x="24" y="210"/>
                  </a:lnTo>
                  <a:lnTo>
                    <a:pt x="42" y="174"/>
                  </a:lnTo>
                  <a:lnTo>
                    <a:pt x="64" y="140"/>
                  </a:lnTo>
                  <a:lnTo>
                    <a:pt x="90" y="111"/>
                  </a:lnTo>
                  <a:lnTo>
                    <a:pt x="120" y="85"/>
                  </a:lnTo>
                  <a:lnTo>
                    <a:pt x="154" y="62"/>
                  </a:lnTo>
                  <a:lnTo>
                    <a:pt x="189" y="45"/>
                  </a:lnTo>
                  <a:lnTo>
                    <a:pt x="227" y="31"/>
                  </a:lnTo>
                  <a:lnTo>
                    <a:pt x="267" y="24"/>
                  </a:lnTo>
                  <a:lnTo>
                    <a:pt x="309" y="20"/>
                  </a:lnTo>
                  <a:lnTo>
                    <a:pt x="350" y="23"/>
                  </a:lnTo>
                  <a:lnTo>
                    <a:pt x="388" y="31"/>
                  </a:lnTo>
                  <a:lnTo>
                    <a:pt x="425" y="42"/>
                  </a:lnTo>
                  <a:lnTo>
                    <a:pt x="460" y="59"/>
                  </a:lnTo>
                  <a:lnTo>
                    <a:pt x="491" y="79"/>
                  </a:lnTo>
                  <a:lnTo>
                    <a:pt x="521" y="104"/>
                  </a:lnTo>
                  <a:lnTo>
                    <a:pt x="547" y="131"/>
                  </a:lnTo>
                  <a:lnTo>
                    <a:pt x="569" y="161"/>
                  </a:lnTo>
                  <a:lnTo>
                    <a:pt x="10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37"/>
            <p:cNvSpPr/>
            <p:nvPr/>
          </p:nvSpPr>
          <p:spPr>
            <a:xfrm>
              <a:off x="1130301" y="2593975"/>
              <a:ext cx="211138" cy="211138"/>
            </a:xfrm>
            <a:custGeom>
              <a:avLst/>
              <a:gdLst/>
              <a:ahLst/>
              <a:cxnLst/>
              <a:rect l="l" t="t" r="r" b="b"/>
              <a:pathLst>
                <a:path w="1064" h="1063" extrusionOk="0">
                  <a:moveTo>
                    <a:pt x="531" y="0"/>
                  </a:moveTo>
                  <a:lnTo>
                    <a:pt x="589" y="3"/>
                  </a:lnTo>
                  <a:lnTo>
                    <a:pt x="646" y="12"/>
                  </a:lnTo>
                  <a:lnTo>
                    <a:pt x="700" y="27"/>
                  </a:lnTo>
                  <a:lnTo>
                    <a:pt x="751" y="47"/>
                  </a:lnTo>
                  <a:lnTo>
                    <a:pt x="800" y="72"/>
                  </a:lnTo>
                  <a:lnTo>
                    <a:pt x="846" y="103"/>
                  </a:lnTo>
                  <a:lnTo>
                    <a:pt x="888" y="137"/>
                  </a:lnTo>
                  <a:lnTo>
                    <a:pt x="926" y="175"/>
                  </a:lnTo>
                  <a:lnTo>
                    <a:pt x="961" y="217"/>
                  </a:lnTo>
                  <a:lnTo>
                    <a:pt x="991" y="264"/>
                  </a:lnTo>
                  <a:lnTo>
                    <a:pt x="1016" y="312"/>
                  </a:lnTo>
                  <a:lnTo>
                    <a:pt x="1036" y="364"/>
                  </a:lnTo>
                  <a:lnTo>
                    <a:pt x="1051" y="417"/>
                  </a:lnTo>
                  <a:lnTo>
                    <a:pt x="1060" y="473"/>
                  </a:lnTo>
                  <a:lnTo>
                    <a:pt x="1064" y="531"/>
                  </a:lnTo>
                  <a:lnTo>
                    <a:pt x="1060" y="589"/>
                  </a:lnTo>
                  <a:lnTo>
                    <a:pt x="1051" y="646"/>
                  </a:lnTo>
                  <a:lnTo>
                    <a:pt x="1036" y="699"/>
                  </a:lnTo>
                  <a:lnTo>
                    <a:pt x="1016" y="751"/>
                  </a:lnTo>
                  <a:lnTo>
                    <a:pt x="991" y="799"/>
                  </a:lnTo>
                  <a:lnTo>
                    <a:pt x="961" y="846"/>
                  </a:lnTo>
                  <a:lnTo>
                    <a:pt x="926" y="888"/>
                  </a:lnTo>
                  <a:lnTo>
                    <a:pt x="888" y="927"/>
                  </a:lnTo>
                  <a:lnTo>
                    <a:pt x="846" y="960"/>
                  </a:lnTo>
                  <a:lnTo>
                    <a:pt x="800" y="991"/>
                  </a:lnTo>
                  <a:lnTo>
                    <a:pt x="751" y="1016"/>
                  </a:lnTo>
                  <a:lnTo>
                    <a:pt x="700" y="1036"/>
                  </a:lnTo>
                  <a:lnTo>
                    <a:pt x="646" y="1051"/>
                  </a:lnTo>
                  <a:lnTo>
                    <a:pt x="589" y="1060"/>
                  </a:lnTo>
                  <a:lnTo>
                    <a:pt x="531" y="1063"/>
                  </a:lnTo>
                  <a:lnTo>
                    <a:pt x="473" y="1060"/>
                  </a:lnTo>
                  <a:lnTo>
                    <a:pt x="418" y="1051"/>
                  </a:lnTo>
                  <a:lnTo>
                    <a:pt x="364" y="1036"/>
                  </a:lnTo>
                  <a:lnTo>
                    <a:pt x="312" y="1016"/>
                  </a:lnTo>
                  <a:lnTo>
                    <a:pt x="264" y="991"/>
                  </a:lnTo>
                  <a:lnTo>
                    <a:pt x="218" y="960"/>
                  </a:lnTo>
                  <a:lnTo>
                    <a:pt x="176" y="927"/>
                  </a:lnTo>
                  <a:lnTo>
                    <a:pt x="137" y="888"/>
                  </a:lnTo>
                  <a:lnTo>
                    <a:pt x="103" y="846"/>
                  </a:lnTo>
                  <a:lnTo>
                    <a:pt x="73" y="799"/>
                  </a:lnTo>
                  <a:lnTo>
                    <a:pt x="47" y="751"/>
                  </a:lnTo>
                  <a:lnTo>
                    <a:pt x="27" y="699"/>
                  </a:lnTo>
                  <a:lnTo>
                    <a:pt x="13" y="646"/>
                  </a:lnTo>
                  <a:lnTo>
                    <a:pt x="3" y="589"/>
                  </a:lnTo>
                  <a:lnTo>
                    <a:pt x="0" y="531"/>
                  </a:lnTo>
                  <a:lnTo>
                    <a:pt x="3" y="473"/>
                  </a:lnTo>
                  <a:lnTo>
                    <a:pt x="13" y="417"/>
                  </a:lnTo>
                  <a:lnTo>
                    <a:pt x="27" y="364"/>
                  </a:lnTo>
                  <a:lnTo>
                    <a:pt x="47" y="312"/>
                  </a:lnTo>
                  <a:lnTo>
                    <a:pt x="73" y="264"/>
                  </a:lnTo>
                  <a:lnTo>
                    <a:pt x="103" y="217"/>
                  </a:lnTo>
                  <a:lnTo>
                    <a:pt x="137" y="175"/>
                  </a:lnTo>
                  <a:lnTo>
                    <a:pt x="176" y="137"/>
                  </a:lnTo>
                  <a:lnTo>
                    <a:pt x="218" y="103"/>
                  </a:lnTo>
                  <a:lnTo>
                    <a:pt x="264" y="72"/>
                  </a:lnTo>
                  <a:lnTo>
                    <a:pt x="312" y="47"/>
                  </a:lnTo>
                  <a:lnTo>
                    <a:pt x="364" y="27"/>
                  </a:lnTo>
                  <a:lnTo>
                    <a:pt x="418" y="12"/>
                  </a:lnTo>
                  <a:lnTo>
                    <a:pt x="473" y="3"/>
                  </a:lnTo>
                  <a:lnTo>
                    <a:pt x="5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37"/>
          <p:cNvSpPr/>
          <p:nvPr/>
        </p:nvSpPr>
        <p:spPr>
          <a:xfrm>
            <a:off x="8373630" y="4514253"/>
            <a:ext cx="1087650" cy="1087651"/>
          </a:xfrm>
          <a:prstGeom prst="ellipse">
            <a:avLst/>
          </a:prstGeom>
          <a:solidFill>
            <a:srgbClr val="548135"/>
          </a:solidFill>
          <a:ln>
            <a:noFill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37"/>
          <p:cNvGrpSpPr/>
          <p:nvPr/>
        </p:nvGrpSpPr>
        <p:grpSpPr>
          <a:xfrm>
            <a:off x="8577669" y="4761836"/>
            <a:ext cx="679572" cy="592480"/>
            <a:chOff x="977900" y="3124200"/>
            <a:chExt cx="879476" cy="766763"/>
          </a:xfrm>
        </p:grpSpPr>
        <p:sp>
          <p:nvSpPr>
            <p:cNvPr id="176" name="Google Shape;176;p37"/>
            <p:cNvSpPr/>
            <p:nvPr/>
          </p:nvSpPr>
          <p:spPr>
            <a:xfrm>
              <a:off x="1563688" y="3233738"/>
              <a:ext cx="120650" cy="246063"/>
            </a:xfrm>
            <a:custGeom>
              <a:avLst/>
              <a:gdLst/>
              <a:ahLst/>
              <a:cxnLst/>
              <a:rect l="l" t="t" r="r" b="b"/>
              <a:pathLst>
                <a:path w="455" h="931" extrusionOk="0">
                  <a:moveTo>
                    <a:pt x="215" y="0"/>
                  </a:moveTo>
                  <a:lnTo>
                    <a:pt x="247" y="0"/>
                  </a:lnTo>
                  <a:lnTo>
                    <a:pt x="262" y="3"/>
                  </a:lnTo>
                  <a:lnTo>
                    <a:pt x="274" y="10"/>
                  </a:lnTo>
                  <a:lnTo>
                    <a:pt x="282" y="23"/>
                  </a:lnTo>
                  <a:lnTo>
                    <a:pt x="284" y="37"/>
                  </a:lnTo>
                  <a:lnTo>
                    <a:pt x="285" y="103"/>
                  </a:lnTo>
                  <a:lnTo>
                    <a:pt x="285" y="106"/>
                  </a:lnTo>
                  <a:lnTo>
                    <a:pt x="286" y="107"/>
                  </a:lnTo>
                  <a:lnTo>
                    <a:pt x="287" y="108"/>
                  </a:lnTo>
                  <a:lnTo>
                    <a:pt x="288" y="109"/>
                  </a:lnTo>
                  <a:lnTo>
                    <a:pt x="289" y="110"/>
                  </a:lnTo>
                  <a:lnTo>
                    <a:pt x="290" y="110"/>
                  </a:lnTo>
                  <a:lnTo>
                    <a:pt x="293" y="110"/>
                  </a:lnTo>
                  <a:lnTo>
                    <a:pt x="301" y="112"/>
                  </a:lnTo>
                  <a:lnTo>
                    <a:pt x="313" y="114"/>
                  </a:lnTo>
                  <a:lnTo>
                    <a:pt x="327" y="117"/>
                  </a:lnTo>
                  <a:lnTo>
                    <a:pt x="344" y="121"/>
                  </a:lnTo>
                  <a:lnTo>
                    <a:pt x="362" y="125"/>
                  </a:lnTo>
                  <a:lnTo>
                    <a:pt x="380" y="130"/>
                  </a:lnTo>
                  <a:lnTo>
                    <a:pt x="396" y="135"/>
                  </a:lnTo>
                  <a:lnTo>
                    <a:pt x="411" y="141"/>
                  </a:lnTo>
                  <a:lnTo>
                    <a:pt x="419" y="146"/>
                  </a:lnTo>
                  <a:lnTo>
                    <a:pt x="425" y="155"/>
                  </a:lnTo>
                  <a:lnTo>
                    <a:pt x="428" y="165"/>
                  </a:lnTo>
                  <a:lnTo>
                    <a:pt x="426" y="177"/>
                  </a:lnTo>
                  <a:lnTo>
                    <a:pt x="408" y="224"/>
                  </a:lnTo>
                  <a:lnTo>
                    <a:pt x="403" y="233"/>
                  </a:lnTo>
                  <a:lnTo>
                    <a:pt x="395" y="240"/>
                  </a:lnTo>
                  <a:lnTo>
                    <a:pt x="386" y="245"/>
                  </a:lnTo>
                  <a:lnTo>
                    <a:pt x="376" y="246"/>
                  </a:lnTo>
                  <a:lnTo>
                    <a:pt x="367" y="245"/>
                  </a:lnTo>
                  <a:lnTo>
                    <a:pt x="359" y="242"/>
                  </a:lnTo>
                  <a:lnTo>
                    <a:pt x="357" y="241"/>
                  </a:lnTo>
                  <a:lnTo>
                    <a:pt x="350" y="238"/>
                  </a:lnTo>
                  <a:lnTo>
                    <a:pt x="338" y="233"/>
                  </a:lnTo>
                  <a:lnTo>
                    <a:pt x="324" y="229"/>
                  </a:lnTo>
                  <a:lnTo>
                    <a:pt x="307" y="224"/>
                  </a:lnTo>
                  <a:lnTo>
                    <a:pt x="288" y="220"/>
                  </a:lnTo>
                  <a:lnTo>
                    <a:pt x="266" y="217"/>
                  </a:lnTo>
                  <a:lnTo>
                    <a:pt x="242" y="216"/>
                  </a:lnTo>
                  <a:lnTo>
                    <a:pt x="219" y="217"/>
                  </a:lnTo>
                  <a:lnTo>
                    <a:pt x="199" y="221"/>
                  </a:lnTo>
                  <a:lnTo>
                    <a:pt x="183" y="228"/>
                  </a:lnTo>
                  <a:lnTo>
                    <a:pt x="169" y="236"/>
                  </a:lnTo>
                  <a:lnTo>
                    <a:pt x="159" y="245"/>
                  </a:lnTo>
                  <a:lnTo>
                    <a:pt x="151" y="256"/>
                  </a:lnTo>
                  <a:lnTo>
                    <a:pt x="146" y="267"/>
                  </a:lnTo>
                  <a:lnTo>
                    <a:pt x="142" y="279"/>
                  </a:lnTo>
                  <a:lnTo>
                    <a:pt x="141" y="291"/>
                  </a:lnTo>
                  <a:lnTo>
                    <a:pt x="143" y="304"/>
                  </a:lnTo>
                  <a:lnTo>
                    <a:pt x="146" y="317"/>
                  </a:lnTo>
                  <a:lnTo>
                    <a:pt x="152" y="329"/>
                  </a:lnTo>
                  <a:lnTo>
                    <a:pt x="162" y="340"/>
                  </a:lnTo>
                  <a:lnTo>
                    <a:pt x="175" y="351"/>
                  </a:lnTo>
                  <a:lnTo>
                    <a:pt x="192" y="363"/>
                  </a:lnTo>
                  <a:lnTo>
                    <a:pt x="214" y="374"/>
                  </a:lnTo>
                  <a:lnTo>
                    <a:pt x="239" y="386"/>
                  </a:lnTo>
                  <a:lnTo>
                    <a:pt x="270" y="398"/>
                  </a:lnTo>
                  <a:lnTo>
                    <a:pt x="310" y="416"/>
                  </a:lnTo>
                  <a:lnTo>
                    <a:pt x="345" y="435"/>
                  </a:lnTo>
                  <a:lnTo>
                    <a:pt x="376" y="455"/>
                  </a:lnTo>
                  <a:lnTo>
                    <a:pt x="401" y="476"/>
                  </a:lnTo>
                  <a:lnTo>
                    <a:pt x="421" y="500"/>
                  </a:lnTo>
                  <a:lnTo>
                    <a:pt x="436" y="525"/>
                  </a:lnTo>
                  <a:lnTo>
                    <a:pt x="447" y="553"/>
                  </a:lnTo>
                  <a:lnTo>
                    <a:pt x="453" y="582"/>
                  </a:lnTo>
                  <a:lnTo>
                    <a:pt x="455" y="614"/>
                  </a:lnTo>
                  <a:lnTo>
                    <a:pt x="453" y="646"/>
                  </a:lnTo>
                  <a:lnTo>
                    <a:pt x="446" y="676"/>
                  </a:lnTo>
                  <a:lnTo>
                    <a:pt x="435" y="704"/>
                  </a:lnTo>
                  <a:lnTo>
                    <a:pt x="419" y="730"/>
                  </a:lnTo>
                  <a:lnTo>
                    <a:pt x="399" y="753"/>
                  </a:lnTo>
                  <a:lnTo>
                    <a:pt x="376" y="773"/>
                  </a:lnTo>
                  <a:lnTo>
                    <a:pt x="349" y="790"/>
                  </a:lnTo>
                  <a:lnTo>
                    <a:pt x="317" y="803"/>
                  </a:lnTo>
                  <a:lnTo>
                    <a:pt x="284" y="813"/>
                  </a:lnTo>
                  <a:lnTo>
                    <a:pt x="283" y="813"/>
                  </a:lnTo>
                  <a:lnTo>
                    <a:pt x="282" y="814"/>
                  </a:lnTo>
                  <a:lnTo>
                    <a:pt x="280" y="815"/>
                  </a:lnTo>
                  <a:lnTo>
                    <a:pt x="279" y="816"/>
                  </a:lnTo>
                  <a:lnTo>
                    <a:pt x="278" y="818"/>
                  </a:lnTo>
                  <a:lnTo>
                    <a:pt x="278" y="821"/>
                  </a:lnTo>
                  <a:lnTo>
                    <a:pt x="278" y="895"/>
                  </a:lnTo>
                  <a:lnTo>
                    <a:pt x="275" y="909"/>
                  </a:lnTo>
                  <a:lnTo>
                    <a:pt x="267" y="921"/>
                  </a:lnTo>
                  <a:lnTo>
                    <a:pt x="255" y="929"/>
                  </a:lnTo>
                  <a:lnTo>
                    <a:pt x="241" y="931"/>
                  </a:lnTo>
                  <a:lnTo>
                    <a:pt x="206" y="931"/>
                  </a:lnTo>
                  <a:lnTo>
                    <a:pt x="192" y="929"/>
                  </a:lnTo>
                  <a:lnTo>
                    <a:pt x="180" y="921"/>
                  </a:lnTo>
                  <a:lnTo>
                    <a:pt x="172" y="909"/>
                  </a:lnTo>
                  <a:lnTo>
                    <a:pt x="169" y="895"/>
                  </a:lnTo>
                  <a:lnTo>
                    <a:pt x="169" y="825"/>
                  </a:lnTo>
                  <a:lnTo>
                    <a:pt x="169" y="822"/>
                  </a:lnTo>
                  <a:lnTo>
                    <a:pt x="168" y="820"/>
                  </a:lnTo>
                  <a:lnTo>
                    <a:pt x="166" y="819"/>
                  </a:lnTo>
                  <a:lnTo>
                    <a:pt x="165" y="818"/>
                  </a:lnTo>
                  <a:lnTo>
                    <a:pt x="163" y="817"/>
                  </a:lnTo>
                  <a:lnTo>
                    <a:pt x="162" y="817"/>
                  </a:lnTo>
                  <a:lnTo>
                    <a:pt x="158" y="817"/>
                  </a:lnTo>
                  <a:lnTo>
                    <a:pt x="148" y="815"/>
                  </a:lnTo>
                  <a:lnTo>
                    <a:pt x="134" y="812"/>
                  </a:lnTo>
                  <a:lnTo>
                    <a:pt x="116" y="808"/>
                  </a:lnTo>
                  <a:lnTo>
                    <a:pt x="96" y="804"/>
                  </a:lnTo>
                  <a:lnTo>
                    <a:pt x="76" y="798"/>
                  </a:lnTo>
                  <a:lnTo>
                    <a:pt x="54" y="792"/>
                  </a:lnTo>
                  <a:lnTo>
                    <a:pt x="34" y="785"/>
                  </a:lnTo>
                  <a:lnTo>
                    <a:pt x="17" y="777"/>
                  </a:lnTo>
                  <a:lnTo>
                    <a:pt x="9" y="771"/>
                  </a:lnTo>
                  <a:lnTo>
                    <a:pt x="2" y="762"/>
                  </a:lnTo>
                  <a:lnTo>
                    <a:pt x="0" y="752"/>
                  </a:lnTo>
                  <a:lnTo>
                    <a:pt x="2" y="740"/>
                  </a:lnTo>
                  <a:lnTo>
                    <a:pt x="19" y="692"/>
                  </a:lnTo>
                  <a:lnTo>
                    <a:pt x="24" y="683"/>
                  </a:lnTo>
                  <a:lnTo>
                    <a:pt x="32" y="676"/>
                  </a:lnTo>
                  <a:lnTo>
                    <a:pt x="41" y="671"/>
                  </a:lnTo>
                  <a:lnTo>
                    <a:pt x="52" y="669"/>
                  </a:lnTo>
                  <a:lnTo>
                    <a:pt x="57" y="670"/>
                  </a:lnTo>
                  <a:lnTo>
                    <a:pt x="62" y="671"/>
                  </a:lnTo>
                  <a:lnTo>
                    <a:pt x="67" y="673"/>
                  </a:lnTo>
                  <a:lnTo>
                    <a:pt x="71" y="674"/>
                  </a:lnTo>
                  <a:lnTo>
                    <a:pt x="77" y="677"/>
                  </a:lnTo>
                  <a:lnTo>
                    <a:pt x="87" y="681"/>
                  </a:lnTo>
                  <a:lnTo>
                    <a:pt x="100" y="686"/>
                  </a:lnTo>
                  <a:lnTo>
                    <a:pt x="115" y="691"/>
                  </a:lnTo>
                  <a:lnTo>
                    <a:pt x="132" y="697"/>
                  </a:lnTo>
                  <a:lnTo>
                    <a:pt x="150" y="703"/>
                  </a:lnTo>
                  <a:lnTo>
                    <a:pt x="168" y="707"/>
                  </a:lnTo>
                  <a:lnTo>
                    <a:pt x="187" y="710"/>
                  </a:lnTo>
                  <a:lnTo>
                    <a:pt x="204" y="711"/>
                  </a:lnTo>
                  <a:lnTo>
                    <a:pt x="233" y="709"/>
                  </a:lnTo>
                  <a:lnTo>
                    <a:pt x="258" y="702"/>
                  </a:lnTo>
                  <a:lnTo>
                    <a:pt x="279" y="691"/>
                  </a:lnTo>
                  <a:lnTo>
                    <a:pt x="296" y="678"/>
                  </a:lnTo>
                  <a:lnTo>
                    <a:pt x="309" y="662"/>
                  </a:lnTo>
                  <a:lnTo>
                    <a:pt x="317" y="643"/>
                  </a:lnTo>
                  <a:lnTo>
                    <a:pt x="320" y="622"/>
                  </a:lnTo>
                  <a:lnTo>
                    <a:pt x="318" y="602"/>
                  </a:lnTo>
                  <a:lnTo>
                    <a:pt x="311" y="585"/>
                  </a:lnTo>
                  <a:lnTo>
                    <a:pt x="300" y="568"/>
                  </a:lnTo>
                  <a:lnTo>
                    <a:pt x="285" y="553"/>
                  </a:lnTo>
                  <a:lnTo>
                    <a:pt x="264" y="538"/>
                  </a:lnTo>
                  <a:lnTo>
                    <a:pt x="237" y="523"/>
                  </a:lnTo>
                  <a:lnTo>
                    <a:pt x="204" y="509"/>
                  </a:lnTo>
                  <a:lnTo>
                    <a:pt x="177" y="498"/>
                  </a:lnTo>
                  <a:lnTo>
                    <a:pt x="150" y="486"/>
                  </a:lnTo>
                  <a:lnTo>
                    <a:pt x="124" y="473"/>
                  </a:lnTo>
                  <a:lnTo>
                    <a:pt x="100" y="459"/>
                  </a:lnTo>
                  <a:lnTo>
                    <a:pt x="78" y="444"/>
                  </a:lnTo>
                  <a:lnTo>
                    <a:pt x="57" y="426"/>
                  </a:lnTo>
                  <a:lnTo>
                    <a:pt x="40" y="407"/>
                  </a:lnTo>
                  <a:lnTo>
                    <a:pt x="26" y="385"/>
                  </a:lnTo>
                  <a:lnTo>
                    <a:pt x="16" y="361"/>
                  </a:lnTo>
                  <a:lnTo>
                    <a:pt x="9" y="333"/>
                  </a:lnTo>
                  <a:lnTo>
                    <a:pt x="7" y="304"/>
                  </a:lnTo>
                  <a:lnTo>
                    <a:pt x="9" y="274"/>
                  </a:lnTo>
                  <a:lnTo>
                    <a:pt x="16" y="246"/>
                  </a:lnTo>
                  <a:lnTo>
                    <a:pt x="27" y="220"/>
                  </a:lnTo>
                  <a:lnTo>
                    <a:pt x="42" y="196"/>
                  </a:lnTo>
                  <a:lnTo>
                    <a:pt x="60" y="173"/>
                  </a:lnTo>
                  <a:lnTo>
                    <a:pt x="83" y="154"/>
                  </a:lnTo>
                  <a:lnTo>
                    <a:pt x="109" y="138"/>
                  </a:lnTo>
                  <a:lnTo>
                    <a:pt x="137" y="125"/>
                  </a:lnTo>
                  <a:lnTo>
                    <a:pt x="169" y="115"/>
                  </a:lnTo>
                  <a:lnTo>
                    <a:pt x="170" y="115"/>
                  </a:lnTo>
                  <a:lnTo>
                    <a:pt x="172" y="114"/>
                  </a:lnTo>
                  <a:lnTo>
                    <a:pt x="174" y="113"/>
                  </a:lnTo>
                  <a:lnTo>
                    <a:pt x="175" y="111"/>
                  </a:lnTo>
                  <a:lnTo>
                    <a:pt x="177" y="109"/>
                  </a:lnTo>
                  <a:lnTo>
                    <a:pt x="177" y="107"/>
                  </a:lnTo>
                  <a:lnTo>
                    <a:pt x="177" y="37"/>
                  </a:lnTo>
                  <a:lnTo>
                    <a:pt x="180" y="23"/>
                  </a:lnTo>
                  <a:lnTo>
                    <a:pt x="188" y="10"/>
                  </a:lnTo>
                  <a:lnTo>
                    <a:pt x="200" y="3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37"/>
            <p:cNvSpPr/>
            <p:nvPr/>
          </p:nvSpPr>
          <p:spPr>
            <a:xfrm>
              <a:off x="1392238" y="3124200"/>
              <a:ext cx="465138" cy="465138"/>
            </a:xfrm>
            <a:custGeom>
              <a:avLst/>
              <a:gdLst/>
              <a:ahLst/>
              <a:cxnLst/>
              <a:rect l="l" t="t" r="r" b="b"/>
              <a:pathLst>
                <a:path w="1757" h="1755" extrusionOk="0">
                  <a:moveTo>
                    <a:pt x="879" y="204"/>
                  </a:moveTo>
                  <a:lnTo>
                    <a:pt x="813" y="207"/>
                  </a:lnTo>
                  <a:lnTo>
                    <a:pt x="751" y="216"/>
                  </a:lnTo>
                  <a:lnTo>
                    <a:pt x="689" y="230"/>
                  </a:lnTo>
                  <a:lnTo>
                    <a:pt x="630" y="250"/>
                  </a:lnTo>
                  <a:lnTo>
                    <a:pt x="574" y="277"/>
                  </a:lnTo>
                  <a:lnTo>
                    <a:pt x="520" y="307"/>
                  </a:lnTo>
                  <a:lnTo>
                    <a:pt x="471" y="341"/>
                  </a:lnTo>
                  <a:lnTo>
                    <a:pt x="423" y="380"/>
                  </a:lnTo>
                  <a:lnTo>
                    <a:pt x="380" y="423"/>
                  </a:lnTo>
                  <a:lnTo>
                    <a:pt x="342" y="470"/>
                  </a:lnTo>
                  <a:lnTo>
                    <a:pt x="307" y="520"/>
                  </a:lnTo>
                  <a:lnTo>
                    <a:pt x="276" y="573"/>
                  </a:lnTo>
                  <a:lnTo>
                    <a:pt x="251" y="630"/>
                  </a:lnTo>
                  <a:lnTo>
                    <a:pt x="231" y="688"/>
                  </a:lnTo>
                  <a:lnTo>
                    <a:pt x="216" y="749"/>
                  </a:lnTo>
                  <a:lnTo>
                    <a:pt x="207" y="813"/>
                  </a:lnTo>
                  <a:lnTo>
                    <a:pt x="204" y="878"/>
                  </a:lnTo>
                  <a:lnTo>
                    <a:pt x="207" y="943"/>
                  </a:lnTo>
                  <a:lnTo>
                    <a:pt x="216" y="1006"/>
                  </a:lnTo>
                  <a:lnTo>
                    <a:pt x="231" y="1067"/>
                  </a:lnTo>
                  <a:lnTo>
                    <a:pt x="251" y="1126"/>
                  </a:lnTo>
                  <a:lnTo>
                    <a:pt x="276" y="1182"/>
                  </a:lnTo>
                  <a:lnTo>
                    <a:pt x="307" y="1235"/>
                  </a:lnTo>
                  <a:lnTo>
                    <a:pt x="342" y="1286"/>
                  </a:lnTo>
                  <a:lnTo>
                    <a:pt x="380" y="1332"/>
                  </a:lnTo>
                  <a:lnTo>
                    <a:pt x="423" y="1375"/>
                  </a:lnTo>
                  <a:lnTo>
                    <a:pt x="471" y="1414"/>
                  </a:lnTo>
                  <a:lnTo>
                    <a:pt x="520" y="1449"/>
                  </a:lnTo>
                  <a:lnTo>
                    <a:pt x="574" y="1480"/>
                  </a:lnTo>
                  <a:lnTo>
                    <a:pt x="630" y="1505"/>
                  </a:lnTo>
                  <a:lnTo>
                    <a:pt x="689" y="1525"/>
                  </a:lnTo>
                  <a:lnTo>
                    <a:pt x="751" y="1539"/>
                  </a:lnTo>
                  <a:lnTo>
                    <a:pt x="813" y="1548"/>
                  </a:lnTo>
                  <a:lnTo>
                    <a:pt x="879" y="1552"/>
                  </a:lnTo>
                  <a:lnTo>
                    <a:pt x="944" y="1548"/>
                  </a:lnTo>
                  <a:lnTo>
                    <a:pt x="1007" y="1539"/>
                  </a:lnTo>
                  <a:lnTo>
                    <a:pt x="1068" y="1525"/>
                  </a:lnTo>
                  <a:lnTo>
                    <a:pt x="1127" y="1505"/>
                  </a:lnTo>
                  <a:lnTo>
                    <a:pt x="1183" y="1480"/>
                  </a:lnTo>
                  <a:lnTo>
                    <a:pt x="1237" y="1449"/>
                  </a:lnTo>
                  <a:lnTo>
                    <a:pt x="1287" y="1414"/>
                  </a:lnTo>
                  <a:lnTo>
                    <a:pt x="1334" y="1375"/>
                  </a:lnTo>
                  <a:lnTo>
                    <a:pt x="1377" y="1332"/>
                  </a:lnTo>
                  <a:lnTo>
                    <a:pt x="1416" y="1286"/>
                  </a:lnTo>
                  <a:lnTo>
                    <a:pt x="1451" y="1235"/>
                  </a:lnTo>
                  <a:lnTo>
                    <a:pt x="1481" y="1182"/>
                  </a:lnTo>
                  <a:lnTo>
                    <a:pt x="1506" y="1126"/>
                  </a:lnTo>
                  <a:lnTo>
                    <a:pt x="1526" y="1067"/>
                  </a:lnTo>
                  <a:lnTo>
                    <a:pt x="1541" y="1006"/>
                  </a:lnTo>
                  <a:lnTo>
                    <a:pt x="1550" y="943"/>
                  </a:lnTo>
                  <a:lnTo>
                    <a:pt x="1554" y="878"/>
                  </a:lnTo>
                  <a:lnTo>
                    <a:pt x="1550" y="813"/>
                  </a:lnTo>
                  <a:lnTo>
                    <a:pt x="1541" y="749"/>
                  </a:lnTo>
                  <a:lnTo>
                    <a:pt x="1526" y="688"/>
                  </a:lnTo>
                  <a:lnTo>
                    <a:pt x="1506" y="630"/>
                  </a:lnTo>
                  <a:lnTo>
                    <a:pt x="1481" y="573"/>
                  </a:lnTo>
                  <a:lnTo>
                    <a:pt x="1451" y="520"/>
                  </a:lnTo>
                  <a:lnTo>
                    <a:pt x="1416" y="470"/>
                  </a:lnTo>
                  <a:lnTo>
                    <a:pt x="1377" y="423"/>
                  </a:lnTo>
                  <a:lnTo>
                    <a:pt x="1334" y="380"/>
                  </a:lnTo>
                  <a:lnTo>
                    <a:pt x="1287" y="341"/>
                  </a:lnTo>
                  <a:lnTo>
                    <a:pt x="1237" y="307"/>
                  </a:lnTo>
                  <a:lnTo>
                    <a:pt x="1183" y="277"/>
                  </a:lnTo>
                  <a:lnTo>
                    <a:pt x="1127" y="250"/>
                  </a:lnTo>
                  <a:lnTo>
                    <a:pt x="1068" y="230"/>
                  </a:lnTo>
                  <a:lnTo>
                    <a:pt x="1007" y="216"/>
                  </a:lnTo>
                  <a:lnTo>
                    <a:pt x="944" y="207"/>
                  </a:lnTo>
                  <a:lnTo>
                    <a:pt x="879" y="204"/>
                  </a:lnTo>
                  <a:close/>
                  <a:moveTo>
                    <a:pt x="879" y="0"/>
                  </a:moveTo>
                  <a:lnTo>
                    <a:pt x="951" y="3"/>
                  </a:lnTo>
                  <a:lnTo>
                    <a:pt x="1021" y="12"/>
                  </a:lnTo>
                  <a:lnTo>
                    <a:pt x="1090" y="26"/>
                  </a:lnTo>
                  <a:lnTo>
                    <a:pt x="1157" y="45"/>
                  </a:lnTo>
                  <a:lnTo>
                    <a:pt x="1220" y="69"/>
                  </a:lnTo>
                  <a:lnTo>
                    <a:pt x="1283" y="99"/>
                  </a:lnTo>
                  <a:lnTo>
                    <a:pt x="1341" y="132"/>
                  </a:lnTo>
                  <a:lnTo>
                    <a:pt x="1397" y="170"/>
                  </a:lnTo>
                  <a:lnTo>
                    <a:pt x="1451" y="211"/>
                  </a:lnTo>
                  <a:lnTo>
                    <a:pt x="1500" y="258"/>
                  </a:lnTo>
                  <a:lnTo>
                    <a:pt x="1545" y="307"/>
                  </a:lnTo>
                  <a:lnTo>
                    <a:pt x="1588" y="359"/>
                  </a:lnTo>
                  <a:lnTo>
                    <a:pt x="1625" y="415"/>
                  </a:lnTo>
                  <a:lnTo>
                    <a:pt x="1659" y="475"/>
                  </a:lnTo>
                  <a:lnTo>
                    <a:pt x="1688" y="536"/>
                  </a:lnTo>
                  <a:lnTo>
                    <a:pt x="1713" y="601"/>
                  </a:lnTo>
                  <a:lnTo>
                    <a:pt x="1732" y="667"/>
                  </a:lnTo>
                  <a:lnTo>
                    <a:pt x="1746" y="735"/>
                  </a:lnTo>
                  <a:lnTo>
                    <a:pt x="1754" y="806"/>
                  </a:lnTo>
                  <a:lnTo>
                    <a:pt x="1757" y="878"/>
                  </a:lnTo>
                  <a:lnTo>
                    <a:pt x="1754" y="950"/>
                  </a:lnTo>
                  <a:lnTo>
                    <a:pt x="1746" y="1020"/>
                  </a:lnTo>
                  <a:lnTo>
                    <a:pt x="1732" y="1088"/>
                  </a:lnTo>
                  <a:lnTo>
                    <a:pt x="1713" y="1155"/>
                  </a:lnTo>
                  <a:lnTo>
                    <a:pt x="1688" y="1219"/>
                  </a:lnTo>
                  <a:lnTo>
                    <a:pt x="1659" y="1280"/>
                  </a:lnTo>
                  <a:lnTo>
                    <a:pt x="1625" y="1340"/>
                  </a:lnTo>
                  <a:lnTo>
                    <a:pt x="1588" y="1396"/>
                  </a:lnTo>
                  <a:lnTo>
                    <a:pt x="1545" y="1448"/>
                  </a:lnTo>
                  <a:lnTo>
                    <a:pt x="1500" y="1498"/>
                  </a:lnTo>
                  <a:lnTo>
                    <a:pt x="1451" y="1544"/>
                  </a:lnTo>
                  <a:lnTo>
                    <a:pt x="1397" y="1585"/>
                  </a:lnTo>
                  <a:lnTo>
                    <a:pt x="1341" y="1623"/>
                  </a:lnTo>
                  <a:lnTo>
                    <a:pt x="1283" y="1657"/>
                  </a:lnTo>
                  <a:lnTo>
                    <a:pt x="1220" y="1686"/>
                  </a:lnTo>
                  <a:lnTo>
                    <a:pt x="1157" y="1710"/>
                  </a:lnTo>
                  <a:lnTo>
                    <a:pt x="1090" y="1729"/>
                  </a:lnTo>
                  <a:lnTo>
                    <a:pt x="1021" y="1743"/>
                  </a:lnTo>
                  <a:lnTo>
                    <a:pt x="951" y="1752"/>
                  </a:lnTo>
                  <a:lnTo>
                    <a:pt x="879" y="1755"/>
                  </a:lnTo>
                  <a:lnTo>
                    <a:pt x="806" y="1752"/>
                  </a:lnTo>
                  <a:lnTo>
                    <a:pt x="737" y="1743"/>
                  </a:lnTo>
                  <a:lnTo>
                    <a:pt x="667" y="1729"/>
                  </a:lnTo>
                  <a:lnTo>
                    <a:pt x="601" y="1710"/>
                  </a:lnTo>
                  <a:lnTo>
                    <a:pt x="537" y="1686"/>
                  </a:lnTo>
                  <a:lnTo>
                    <a:pt x="475" y="1657"/>
                  </a:lnTo>
                  <a:lnTo>
                    <a:pt x="416" y="1623"/>
                  </a:lnTo>
                  <a:lnTo>
                    <a:pt x="360" y="1585"/>
                  </a:lnTo>
                  <a:lnTo>
                    <a:pt x="307" y="1544"/>
                  </a:lnTo>
                  <a:lnTo>
                    <a:pt x="257" y="1498"/>
                  </a:lnTo>
                  <a:lnTo>
                    <a:pt x="212" y="1448"/>
                  </a:lnTo>
                  <a:lnTo>
                    <a:pt x="170" y="1396"/>
                  </a:lnTo>
                  <a:lnTo>
                    <a:pt x="132" y="1340"/>
                  </a:lnTo>
                  <a:lnTo>
                    <a:pt x="98" y="1280"/>
                  </a:lnTo>
                  <a:lnTo>
                    <a:pt x="69" y="1219"/>
                  </a:lnTo>
                  <a:lnTo>
                    <a:pt x="45" y="1155"/>
                  </a:lnTo>
                  <a:lnTo>
                    <a:pt x="25" y="1088"/>
                  </a:lnTo>
                  <a:lnTo>
                    <a:pt x="11" y="1020"/>
                  </a:lnTo>
                  <a:lnTo>
                    <a:pt x="3" y="950"/>
                  </a:lnTo>
                  <a:lnTo>
                    <a:pt x="0" y="878"/>
                  </a:lnTo>
                  <a:lnTo>
                    <a:pt x="3" y="806"/>
                  </a:lnTo>
                  <a:lnTo>
                    <a:pt x="11" y="735"/>
                  </a:lnTo>
                  <a:lnTo>
                    <a:pt x="25" y="667"/>
                  </a:lnTo>
                  <a:lnTo>
                    <a:pt x="45" y="601"/>
                  </a:lnTo>
                  <a:lnTo>
                    <a:pt x="69" y="536"/>
                  </a:lnTo>
                  <a:lnTo>
                    <a:pt x="98" y="475"/>
                  </a:lnTo>
                  <a:lnTo>
                    <a:pt x="132" y="415"/>
                  </a:lnTo>
                  <a:lnTo>
                    <a:pt x="170" y="359"/>
                  </a:lnTo>
                  <a:lnTo>
                    <a:pt x="212" y="307"/>
                  </a:lnTo>
                  <a:lnTo>
                    <a:pt x="257" y="258"/>
                  </a:lnTo>
                  <a:lnTo>
                    <a:pt x="307" y="211"/>
                  </a:lnTo>
                  <a:lnTo>
                    <a:pt x="360" y="170"/>
                  </a:lnTo>
                  <a:lnTo>
                    <a:pt x="416" y="132"/>
                  </a:lnTo>
                  <a:lnTo>
                    <a:pt x="475" y="99"/>
                  </a:lnTo>
                  <a:lnTo>
                    <a:pt x="537" y="69"/>
                  </a:lnTo>
                  <a:lnTo>
                    <a:pt x="601" y="45"/>
                  </a:lnTo>
                  <a:lnTo>
                    <a:pt x="667" y="26"/>
                  </a:lnTo>
                  <a:lnTo>
                    <a:pt x="737" y="12"/>
                  </a:lnTo>
                  <a:lnTo>
                    <a:pt x="806" y="3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37"/>
            <p:cNvSpPr/>
            <p:nvPr/>
          </p:nvSpPr>
          <p:spPr>
            <a:xfrm>
              <a:off x="1219200" y="3611563"/>
              <a:ext cx="636588" cy="279400"/>
            </a:xfrm>
            <a:custGeom>
              <a:avLst/>
              <a:gdLst/>
              <a:ahLst/>
              <a:cxnLst/>
              <a:rect l="l" t="t" r="r" b="b"/>
              <a:pathLst>
                <a:path w="2407" h="1058" extrusionOk="0">
                  <a:moveTo>
                    <a:pt x="649" y="0"/>
                  </a:moveTo>
                  <a:lnTo>
                    <a:pt x="684" y="2"/>
                  </a:lnTo>
                  <a:lnTo>
                    <a:pt x="721" y="7"/>
                  </a:lnTo>
                  <a:lnTo>
                    <a:pt x="761" y="13"/>
                  </a:lnTo>
                  <a:lnTo>
                    <a:pt x="804" y="21"/>
                  </a:lnTo>
                  <a:lnTo>
                    <a:pt x="850" y="31"/>
                  </a:lnTo>
                  <a:lnTo>
                    <a:pt x="897" y="42"/>
                  </a:lnTo>
                  <a:lnTo>
                    <a:pt x="945" y="54"/>
                  </a:lnTo>
                  <a:lnTo>
                    <a:pt x="995" y="67"/>
                  </a:lnTo>
                  <a:lnTo>
                    <a:pt x="1045" y="81"/>
                  </a:lnTo>
                  <a:lnTo>
                    <a:pt x="1094" y="95"/>
                  </a:lnTo>
                  <a:lnTo>
                    <a:pt x="1144" y="109"/>
                  </a:lnTo>
                  <a:lnTo>
                    <a:pt x="1192" y="124"/>
                  </a:lnTo>
                  <a:lnTo>
                    <a:pt x="1240" y="140"/>
                  </a:lnTo>
                  <a:lnTo>
                    <a:pt x="1285" y="154"/>
                  </a:lnTo>
                  <a:lnTo>
                    <a:pt x="1328" y="168"/>
                  </a:lnTo>
                  <a:lnTo>
                    <a:pt x="1368" y="181"/>
                  </a:lnTo>
                  <a:lnTo>
                    <a:pt x="1406" y="193"/>
                  </a:lnTo>
                  <a:lnTo>
                    <a:pt x="1440" y="203"/>
                  </a:lnTo>
                  <a:lnTo>
                    <a:pt x="1470" y="213"/>
                  </a:lnTo>
                  <a:lnTo>
                    <a:pt x="1495" y="220"/>
                  </a:lnTo>
                  <a:lnTo>
                    <a:pt x="1517" y="226"/>
                  </a:lnTo>
                  <a:lnTo>
                    <a:pt x="1533" y="230"/>
                  </a:lnTo>
                  <a:lnTo>
                    <a:pt x="1549" y="236"/>
                  </a:lnTo>
                  <a:lnTo>
                    <a:pt x="1564" y="245"/>
                  </a:lnTo>
                  <a:lnTo>
                    <a:pt x="1577" y="256"/>
                  </a:lnTo>
                  <a:lnTo>
                    <a:pt x="1588" y="269"/>
                  </a:lnTo>
                  <a:lnTo>
                    <a:pt x="1597" y="284"/>
                  </a:lnTo>
                  <a:lnTo>
                    <a:pt x="1602" y="301"/>
                  </a:lnTo>
                  <a:lnTo>
                    <a:pt x="1606" y="319"/>
                  </a:lnTo>
                  <a:lnTo>
                    <a:pt x="1606" y="337"/>
                  </a:lnTo>
                  <a:lnTo>
                    <a:pt x="1603" y="355"/>
                  </a:lnTo>
                  <a:lnTo>
                    <a:pt x="1596" y="374"/>
                  </a:lnTo>
                  <a:lnTo>
                    <a:pt x="1587" y="392"/>
                  </a:lnTo>
                  <a:lnTo>
                    <a:pt x="1573" y="409"/>
                  </a:lnTo>
                  <a:lnTo>
                    <a:pt x="1556" y="425"/>
                  </a:lnTo>
                  <a:lnTo>
                    <a:pt x="1534" y="439"/>
                  </a:lnTo>
                  <a:lnTo>
                    <a:pt x="1507" y="451"/>
                  </a:lnTo>
                  <a:lnTo>
                    <a:pt x="1477" y="461"/>
                  </a:lnTo>
                  <a:lnTo>
                    <a:pt x="1444" y="468"/>
                  </a:lnTo>
                  <a:lnTo>
                    <a:pt x="1409" y="474"/>
                  </a:lnTo>
                  <a:lnTo>
                    <a:pt x="1373" y="477"/>
                  </a:lnTo>
                  <a:lnTo>
                    <a:pt x="1335" y="478"/>
                  </a:lnTo>
                  <a:lnTo>
                    <a:pt x="1297" y="477"/>
                  </a:lnTo>
                  <a:lnTo>
                    <a:pt x="1259" y="475"/>
                  </a:lnTo>
                  <a:lnTo>
                    <a:pt x="1219" y="472"/>
                  </a:lnTo>
                  <a:lnTo>
                    <a:pt x="1182" y="466"/>
                  </a:lnTo>
                  <a:lnTo>
                    <a:pt x="1145" y="461"/>
                  </a:lnTo>
                  <a:lnTo>
                    <a:pt x="1108" y="455"/>
                  </a:lnTo>
                  <a:lnTo>
                    <a:pt x="1073" y="449"/>
                  </a:lnTo>
                  <a:lnTo>
                    <a:pt x="1040" y="443"/>
                  </a:lnTo>
                  <a:lnTo>
                    <a:pt x="1009" y="438"/>
                  </a:lnTo>
                  <a:lnTo>
                    <a:pt x="980" y="432"/>
                  </a:lnTo>
                  <a:lnTo>
                    <a:pt x="953" y="428"/>
                  </a:lnTo>
                  <a:lnTo>
                    <a:pt x="930" y="424"/>
                  </a:lnTo>
                  <a:lnTo>
                    <a:pt x="911" y="421"/>
                  </a:lnTo>
                  <a:lnTo>
                    <a:pt x="895" y="420"/>
                  </a:lnTo>
                  <a:lnTo>
                    <a:pt x="884" y="420"/>
                  </a:lnTo>
                  <a:lnTo>
                    <a:pt x="876" y="423"/>
                  </a:lnTo>
                  <a:lnTo>
                    <a:pt x="874" y="427"/>
                  </a:lnTo>
                  <a:lnTo>
                    <a:pt x="877" y="443"/>
                  </a:lnTo>
                  <a:lnTo>
                    <a:pt x="887" y="458"/>
                  </a:lnTo>
                  <a:lnTo>
                    <a:pt x="903" y="474"/>
                  </a:lnTo>
                  <a:lnTo>
                    <a:pt x="925" y="489"/>
                  </a:lnTo>
                  <a:lnTo>
                    <a:pt x="951" y="503"/>
                  </a:lnTo>
                  <a:lnTo>
                    <a:pt x="983" y="516"/>
                  </a:lnTo>
                  <a:lnTo>
                    <a:pt x="1017" y="528"/>
                  </a:lnTo>
                  <a:lnTo>
                    <a:pt x="1055" y="540"/>
                  </a:lnTo>
                  <a:lnTo>
                    <a:pt x="1096" y="550"/>
                  </a:lnTo>
                  <a:lnTo>
                    <a:pt x="1139" y="559"/>
                  </a:lnTo>
                  <a:lnTo>
                    <a:pt x="1183" y="567"/>
                  </a:lnTo>
                  <a:lnTo>
                    <a:pt x="1228" y="574"/>
                  </a:lnTo>
                  <a:lnTo>
                    <a:pt x="1275" y="580"/>
                  </a:lnTo>
                  <a:lnTo>
                    <a:pt x="1320" y="584"/>
                  </a:lnTo>
                  <a:lnTo>
                    <a:pt x="1365" y="586"/>
                  </a:lnTo>
                  <a:lnTo>
                    <a:pt x="1410" y="587"/>
                  </a:lnTo>
                  <a:lnTo>
                    <a:pt x="1453" y="586"/>
                  </a:lnTo>
                  <a:lnTo>
                    <a:pt x="1493" y="584"/>
                  </a:lnTo>
                  <a:lnTo>
                    <a:pt x="1531" y="579"/>
                  </a:lnTo>
                  <a:lnTo>
                    <a:pt x="1626" y="562"/>
                  </a:lnTo>
                  <a:lnTo>
                    <a:pt x="1722" y="540"/>
                  </a:lnTo>
                  <a:lnTo>
                    <a:pt x="1816" y="514"/>
                  </a:lnTo>
                  <a:lnTo>
                    <a:pt x="1906" y="484"/>
                  </a:lnTo>
                  <a:lnTo>
                    <a:pt x="1995" y="451"/>
                  </a:lnTo>
                  <a:lnTo>
                    <a:pt x="2079" y="416"/>
                  </a:lnTo>
                  <a:lnTo>
                    <a:pt x="2157" y="379"/>
                  </a:lnTo>
                  <a:lnTo>
                    <a:pt x="2231" y="341"/>
                  </a:lnTo>
                  <a:lnTo>
                    <a:pt x="2258" y="329"/>
                  </a:lnTo>
                  <a:lnTo>
                    <a:pt x="2284" y="324"/>
                  </a:lnTo>
                  <a:lnTo>
                    <a:pt x="2308" y="323"/>
                  </a:lnTo>
                  <a:lnTo>
                    <a:pt x="2331" y="328"/>
                  </a:lnTo>
                  <a:lnTo>
                    <a:pt x="2353" y="337"/>
                  </a:lnTo>
                  <a:lnTo>
                    <a:pt x="2371" y="350"/>
                  </a:lnTo>
                  <a:lnTo>
                    <a:pt x="2386" y="367"/>
                  </a:lnTo>
                  <a:lnTo>
                    <a:pt x="2397" y="388"/>
                  </a:lnTo>
                  <a:lnTo>
                    <a:pt x="2404" y="411"/>
                  </a:lnTo>
                  <a:lnTo>
                    <a:pt x="2407" y="436"/>
                  </a:lnTo>
                  <a:lnTo>
                    <a:pt x="2404" y="464"/>
                  </a:lnTo>
                  <a:lnTo>
                    <a:pt x="2395" y="494"/>
                  </a:lnTo>
                  <a:lnTo>
                    <a:pt x="2381" y="524"/>
                  </a:lnTo>
                  <a:lnTo>
                    <a:pt x="2359" y="555"/>
                  </a:lnTo>
                  <a:lnTo>
                    <a:pt x="2330" y="586"/>
                  </a:lnTo>
                  <a:lnTo>
                    <a:pt x="2314" y="600"/>
                  </a:lnTo>
                  <a:lnTo>
                    <a:pt x="2293" y="617"/>
                  </a:lnTo>
                  <a:lnTo>
                    <a:pt x="2269" y="635"/>
                  </a:lnTo>
                  <a:lnTo>
                    <a:pt x="2240" y="656"/>
                  </a:lnTo>
                  <a:lnTo>
                    <a:pt x="2208" y="678"/>
                  </a:lnTo>
                  <a:lnTo>
                    <a:pt x="2172" y="701"/>
                  </a:lnTo>
                  <a:lnTo>
                    <a:pt x="2135" y="726"/>
                  </a:lnTo>
                  <a:lnTo>
                    <a:pt x="2095" y="750"/>
                  </a:lnTo>
                  <a:lnTo>
                    <a:pt x="2052" y="776"/>
                  </a:lnTo>
                  <a:lnTo>
                    <a:pt x="2009" y="802"/>
                  </a:lnTo>
                  <a:lnTo>
                    <a:pt x="1965" y="829"/>
                  </a:lnTo>
                  <a:lnTo>
                    <a:pt x="1919" y="854"/>
                  </a:lnTo>
                  <a:lnTo>
                    <a:pt x="1873" y="879"/>
                  </a:lnTo>
                  <a:lnTo>
                    <a:pt x="1828" y="904"/>
                  </a:lnTo>
                  <a:lnTo>
                    <a:pt x="1782" y="928"/>
                  </a:lnTo>
                  <a:lnTo>
                    <a:pt x="1739" y="950"/>
                  </a:lnTo>
                  <a:lnTo>
                    <a:pt x="1696" y="971"/>
                  </a:lnTo>
                  <a:lnTo>
                    <a:pt x="1655" y="991"/>
                  </a:lnTo>
                  <a:lnTo>
                    <a:pt x="1615" y="1009"/>
                  </a:lnTo>
                  <a:lnTo>
                    <a:pt x="1579" y="1024"/>
                  </a:lnTo>
                  <a:lnTo>
                    <a:pt x="1545" y="1037"/>
                  </a:lnTo>
                  <a:lnTo>
                    <a:pt x="1515" y="1047"/>
                  </a:lnTo>
                  <a:lnTo>
                    <a:pt x="1487" y="1054"/>
                  </a:lnTo>
                  <a:lnTo>
                    <a:pt x="1469" y="1057"/>
                  </a:lnTo>
                  <a:lnTo>
                    <a:pt x="1446" y="1058"/>
                  </a:lnTo>
                  <a:lnTo>
                    <a:pt x="1417" y="1058"/>
                  </a:lnTo>
                  <a:lnTo>
                    <a:pt x="1383" y="1056"/>
                  </a:lnTo>
                  <a:lnTo>
                    <a:pt x="1344" y="1053"/>
                  </a:lnTo>
                  <a:lnTo>
                    <a:pt x="1301" y="1049"/>
                  </a:lnTo>
                  <a:lnTo>
                    <a:pt x="1255" y="1044"/>
                  </a:lnTo>
                  <a:lnTo>
                    <a:pt x="1205" y="1038"/>
                  </a:lnTo>
                  <a:lnTo>
                    <a:pt x="1153" y="1032"/>
                  </a:lnTo>
                  <a:lnTo>
                    <a:pt x="1099" y="1024"/>
                  </a:lnTo>
                  <a:lnTo>
                    <a:pt x="1042" y="1016"/>
                  </a:lnTo>
                  <a:lnTo>
                    <a:pt x="984" y="1008"/>
                  </a:lnTo>
                  <a:lnTo>
                    <a:pt x="925" y="999"/>
                  </a:lnTo>
                  <a:lnTo>
                    <a:pt x="867" y="990"/>
                  </a:lnTo>
                  <a:lnTo>
                    <a:pt x="807" y="979"/>
                  </a:lnTo>
                  <a:lnTo>
                    <a:pt x="749" y="970"/>
                  </a:lnTo>
                  <a:lnTo>
                    <a:pt x="692" y="960"/>
                  </a:lnTo>
                  <a:lnTo>
                    <a:pt x="636" y="950"/>
                  </a:lnTo>
                  <a:lnTo>
                    <a:pt x="582" y="941"/>
                  </a:lnTo>
                  <a:lnTo>
                    <a:pt x="530" y="932"/>
                  </a:lnTo>
                  <a:lnTo>
                    <a:pt x="482" y="923"/>
                  </a:lnTo>
                  <a:lnTo>
                    <a:pt x="437" y="915"/>
                  </a:lnTo>
                  <a:lnTo>
                    <a:pt x="395" y="907"/>
                  </a:lnTo>
                  <a:lnTo>
                    <a:pt x="358" y="900"/>
                  </a:lnTo>
                  <a:lnTo>
                    <a:pt x="326" y="894"/>
                  </a:lnTo>
                  <a:lnTo>
                    <a:pt x="299" y="889"/>
                  </a:lnTo>
                  <a:lnTo>
                    <a:pt x="278" y="885"/>
                  </a:lnTo>
                  <a:lnTo>
                    <a:pt x="262" y="881"/>
                  </a:lnTo>
                  <a:lnTo>
                    <a:pt x="235" y="878"/>
                  </a:lnTo>
                  <a:lnTo>
                    <a:pt x="207" y="881"/>
                  </a:lnTo>
                  <a:lnTo>
                    <a:pt x="180" y="888"/>
                  </a:lnTo>
                  <a:lnTo>
                    <a:pt x="154" y="899"/>
                  </a:lnTo>
                  <a:lnTo>
                    <a:pt x="128" y="913"/>
                  </a:lnTo>
                  <a:lnTo>
                    <a:pt x="102" y="929"/>
                  </a:lnTo>
                  <a:lnTo>
                    <a:pt x="78" y="946"/>
                  </a:lnTo>
                  <a:lnTo>
                    <a:pt x="57" y="964"/>
                  </a:lnTo>
                  <a:lnTo>
                    <a:pt x="44" y="973"/>
                  </a:lnTo>
                  <a:lnTo>
                    <a:pt x="33" y="978"/>
                  </a:lnTo>
                  <a:lnTo>
                    <a:pt x="25" y="979"/>
                  </a:lnTo>
                  <a:lnTo>
                    <a:pt x="18" y="977"/>
                  </a:lnTo>
                  <a:lnTo>
                    <a:pt x="12" y="973"/>
                  </a:lnTo>
                  <a:lnTo>
                    <a:pt x="8" y="968"/>
                  </a:lnTo>
                  <a:lnTo>
                    <a:pt x="5" y="961"/>
                  </a:lnTo>
                  <a:lnTo>
                    <a:pt x="2" y="955"/>
                  </a:lnTo>
                  <a:lnTo>
                    <a:pt x="1" y="949"/>
                  </a:lnTo>
                  <a:lnTo>
                    <a:pt x="1" y="944"/>
                  </a:lnTo>
                  <a:lnTo>
                    <a:pt x="0" y="942"/>
                  </a:lnTo>
                  <a:lnTo>
                    <a:pt x="4" y="889"/>
                  </a:lnTo>
                  <a:lnTo>
                    <a:pt x="8" y="830"/>
                  </a:lnTo>
                  <a:lnTo>
                    <a:pt x="12" y="766"/>
                  </a:lnTo>
                  <a:lnTo>
                    <a:pt x="16" y="698"/>
                  </a:lnTo>
                  <a:lnTo>
                    <a:pt x="21" y="628"/>
                  </a:lnTo>
                  <a:lnTo>
                    <a:pt x="25" y="557"/>
                  </a:lnTo>
                  <a:lnTo>
                    <a:pt x="30" y="485"/>
                  </a:lnTo>
                  <a:lnTo>
                    <a:pt x="34" y="414"/>
                  </a:lnTo>
                  <a:lnTo>
                    <a:pt x="39" y="345"/>
                  </a:lnTo>
                  <a:lnTo>
                    <a:pt x="43" y="279"/>
                  </a:lnTo>
                  <a:lnTo>
                    <a:pt x="47" y="217"/>
                  </a:lnTo>
                  <a:lnTo>
                    <a:pt x="50" y="161"/>
                  </a:lnTo>
                  <a:lnTo>
                    <a:pt x="54" y="110"/>
                  </a:lnTo>
                  <a:lnTo>
                    <a:pt x="56" y="96"/>
                  </a:lnTo>
                  <a:lnTo>
                    <a:pt x="60" y="85"/>
                  </a:lnTo>
                  <a:lnTo>
                    <a:pt x="67" y="77"/>
                  </a:lnTo>
                  <a:lnTo>
                    <a:pt x="76" y="72"/>
                  </a:lnTo>
                  <a:lnTo>
                    <a:pt x="87" y="68"/>
                  </a:lnTo>
                  <a:lnTo>
                    <a:pt x="99" y="65"/>
                  </a:lnTo>
                  <a:lnTo>
                    <a:pt x="114" y="63"/>
                  </a:lnTo>
                  <a:lnTo>
                    <a:pt x="131" y="60"/>
                  </a:lnTo>
                  <a:lnTo>
                    <a:pt x="164" y="55"/>
                  </a:lnTo>
                  <a:lnTo>
                    <a:pt x="201" y="49"/>
                  </a:lnTo>
                  <a:lnTo>
                    <a:pt x="241" y="43"/>
                  </a:lnTo>
                  <a:lnTo>
                    <a:pt x="285" y="36"/>
                  </a:lnTo>
                  <a:lnTo>
                    <a:pt x="329" y="30"/>
                  </a:lnTo>
                  <a:lnTo>
                    <a:pt x="375" y="24"/>
                  </a:lnTo>
                  <a:lnTo>
                    <a:pt x="421" y="18"/>
                  </a:lnTo>
                  <a:lnTo>
                    <a:pt x="466" y="13"/>
                  </a:lnTo>
                  <a:lnTo>
                    <a:pt x="509" y="8"/>
                  </a:lnTo>
                  <a:lnTo>
                    <a:pt x="550" y="4"/>
                  </a:lnTo>
                  <a:lnTo>
                    <a:pt x="587" y="2"/>
                  </a:lnTo>
                  <a:lnTo>
                    <a:pt x="621" y="0"/>
                  </a:lnTo>
                  <a:lnTo>
                    <a:pt x="6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37"/>
            <p:cNvSpPr/>
            <p:nvPr/>
          </p:nvSpPr>
          <p:spPr>
            <a:xfrm>
              <a:off x="977900" y="3617913"/>
              <a:ext cx="201613" cy="260350"/>
            </a:xfrm>
            <a:custGeom>
              <a:avLst/>
              <a:gdLst/>
              <a:ahLst/>
              <a:cxnLst/>
              <a:rect l="l" t="t" r="r" b="b"/>
              <a:pathLst>
                <a:path w="764" h="983" extrusionOk="0">
                  <a:moveTo>
                    <a:pt x="396" y="588"/>
                  </a:moveTo>
                  <a:lnTo>
                    <a:pt x="367" y="591"/>
                  </a:lnTo>
                  <a:lnTo>
                    <a:pt x="340" y="599"/>
                  </a:lnTo>
                  <a:lnTo>
                    <a:pt x="316" y="612"/>
                  </a:lnTo>
                  <a:lnTo>
                    <a:pt x="295" y="630"/>
                  </a:lnTo>
                  <a:lnTo>
                    <a:pt x="278" y="651"/>
                  </a:lnTo>
                  <a:lnTo>
                    <a:pt x="265" y="674"/>
                  </a:lnTo>
                  <a:lnTo>
                    <a:pt x="257" y="701"/>
                  </a:lnTo>
                  <a:lnTo>
                    <a:pt x="254" y="729"/>
                  </a:lnTo>
                  <a:lnTo>
                    <a:pt x="257" y="757"/>
                  </a:lnTo>
                  <a:lnTo>
                    <a:pt x="265" y="784"/>
                  </a:lnTo>
                  <a:lnTo>
                    <a:pt x="278" y="809"/>
                  </a:lnTo>
                  <a:lnTo>
                    <a:pt x="295" y="830"/>
                  </a:lnTo>
                  <a:lnTo>
                    <a:pt x="316" y="847"/>
                  </a:lnTo>
                  <a:lnTo>
                    <a:pt x="340" y="860"/>
                  </a:lnTo>
                  <a:lnTo>
                    <a:pt x="367" y="868"/>
                  </a:lnTo>
                  <a:lnTo>
                    <a:pt x="396" y="871"/>
                  </a:lnTo>
                  <a:lnTo>
                    <a:pt x="424" y="868"/>
                  </a:lnTo>
                  <a:lnTo>
                    <a:pt x="450" y="860"/>
                  </a:lnTo>
                  <a:lnTo>
                    <a:pt x="474" y="847"/>
                  </a:lnTo>
                  <a:lnTo>
                    <a:pt x="496" y="830"/>
                  </a:lnTo>
                  <a:lnTo>
                    <a:pt x="513" y="809"/>
                  </a:lnTo>
                  <a:lnTo>
                    <a:pt x="526" y="784"/>
                  </a:lnTo>
                  <a:lnTo>
                    <a:pt x="534" y="757"/>
                  </a:lnTo>
                  <a:lnTo>
                    <a:pt x="537" y="729"/>
                  </a:lnTo>
                  <a:lnTo>
                    <a:pt x="534" y="701"/>
                  </a:lnTo>
                  <a:lnTo>
                    <a:pt x="526" y="674"/>
                  </a:lnTo>
                  <a:lnTo>
                    <a:pt x="513" y="651"/>
                  </a:lnTo>
                  <a:lnTo>
                    <a:pt x="496" y="630"/>
                  </a:lnTo>
                  <a:lnTo>
                    <a:pt x="474" y="612"/>
                  </a:lnTo>
                  <a:lnTo>
                    <a:pt x="450" y="599"/>
                  </a:lnTo>
                  <a:lnTo>
                    <a:pt x="424" y="591"/>
                  </a:lnTo>
                  <a:lnTo>
                    <a:pt x="396" y="588"/>
                  </a:lnTo>
                  <a:close/>
                  <a:moveTo>
                    <a:pt x="185" y="0"/>
                  </a:moveTo>
                  <a:lnTo>
                    <a:pt x="697" y="25"/>
                  </a:lnTo>
                  <a:lnTo>
                    <a:pt x="716" y="29"/>
                  </a:lnTo>
                  <a:lnTo>
                    <a:pt x="732" y="37"/>
                  </a:lnTo>
                  <a:lnTo>
                    <a:pt x="746" y="49"/>
                  </a:lnTo>
                  <a:lnTo>
                    <a:pt x="756" y="64"/>
                  </a:lnTo>
                  <a:lnTo>
                    <a:pt x="763" y="81"/>
                  </a:lnTo>
                  <a:lnTo>
                    <a:pt x="764" y="100"/>
                  </a:lnTo>
                  <a:lnTo>
                    <a:pt x="701" y="913"/>
                  </a:lnTo>
                  <a:lnTo>
                    <a:pt x="697" y="932"/>
                  </a:lnTo>
                  <a:lnTo>
                    <a:pt x="688" y="949"/>
                  </a:lnTo>
                  <a:lnTo>
                    <a:pt x="676" y="964"/>
                  </a:lnTo>
                  <a:lnTo>
                    <a:pt x="661" y="974"/>
                  </a:lnTo>
                  <a:lnTo>
                    <a:pt x="643" y="981"/>
                  </a:lnTo>
                  <a:lnTo>
                    <a:pt x="624" y="983"/>
                  </a:lnTo>
                  <a:lnTo>
                    <a:pt x="56" y="983"/>
                  </a:lnTo>
                  <a:lnTo>
                    <a:pt x="38" y="980"/>
                  </a:lnTo>
                  <a:lnTo>
                    <a:pt x="22" y="972"/>
                  </a:lnTo>
                  <a:lnTo>
                    <a:pt x="11" y="961"/>
                  </a:lnTo>
                  <a:lnTo>
                    <a:pt x="3" y="945"/>
                  </a:lnTo>
                  <a:lnTo>
                    <a:pt x="0" y="928"/>
                  </a:lnTo>
                  <a:lnTo>
                    <a:pt x="2" y="910"/>
                  </a:lnTo>
                  <a:lnTo>
                    <a:pt x="96" y="66"/>
                  </a:lnTo>
                  <a:lnTo>
                    <a:pt x="103" y="48"/>
                  </a:lnTo>
                  <a:lnTo>
                    <a:pt x="114" y="32"/>
                  </a:lnTo>
                  <a:lnTo>
                    <a:pt x="129" y="18"/>
                  </a:lnTo>
                  <a:lnTo>
                    <a:pt x="146" y="8"/>
                  </a:lnTo>
                  <a:lnTo>
                    <a:pt x="165" y="2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" name="Google Shape;180;p37"/>
          <p:cNvSpPr/>
          <p:nvPr/>
        </p:nvSpPr>
        <p:spPr>
          <a:xfrm>
            <a:off x="2916258" y="2327024"/>
            <a:ext cx="1087650" cy="1087651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1" name="Google Shape;181;p37"/>
          <p:cNvGrpSpPr/>
          <p:nvPr/>
        </p:nvGrpSpPr>
        <p:grpSpPr>
          <a:xfrm>
            <a:off x="3138468" y="2449831"/>
            <a:ext cx="664094" cy="729071"/>
            <a:chOff x="688975" y="2427288"/>
            <a:chExt cx="957263" cy="1050925"/>
          </a:xfrm>
        </p:grpSpPr>
        <p:sp>
          <p:nvSpPr>
            <p:cNvPr id="182" name="Google Shape;182;p37"/>
            <p:cNvSpPr/>
            <p:nvPr/>
          </p:nvSpPr>
          <p:spPr>
            <a:xfrm>
              <a:off x="846138" y="2589213"/>
              <a:ext cx="644525" cy="889000"/>
            </a:xfrm>
            <a:custGeom>
              <a:avLst/>
              <a:gdLst/>
              <a:ahLst/>
              <a:cxnLst/>
              <a:rect l="l" t="t" r="r" b="b"/>
              <a:pathLst>
                <a:path w="2030" h="2803" extrusionOk="0">
                  <a:moveTo>
                    <a:pt x="1015" y="255"/>
                  </a:moveTo>
                  <a:lnTo>
                    <a:pt x="946" y="259"/>
                  </a:lnTo>
                  <a:lnTo>
                    <a:pt x="879" y="267"/>
                  </a:lnTo>
                  <a:lnTo>
                    <a:pt x="814" y="281"/>
                  </a:lnTo>
                  <a:lnTo>
                    <a:pt x="751" y="300"/>
                  </a:lnTo>
                  <a:lnTo>
                    <a:pt x="690" y="325"/>
                  </a:lnTo>
                  <a:lnTo>
                    <a:pt x="632" y="354"/>
                  </a:lnTo>
                  <a:lnTo>
                    <a:pt x="578" y="388"/>
                  </a:lnTo>
                  <a:lnTo>
                    <a:pt x="527" y="425"/>
                  </a:lnTo>
                  <a:lnTo>
                    <a:pt x="479" y="467"/>
                  </a:lnTo>
                  <a:lnTo>
                    <a:pt x="435" y="511"/>
                  </a:lnTo>
                  <a:lnTo>
                    <a:pt x="396" y="560"/>
                  </a:lnTo>
                  <a:lnTo>
                    <a:pt x="361" y="612"/>
                  </a:lnTo>
                  <a:lnTo>
                    <a:pt x="330" y="667"/>
                  </a:lnTo>
                  <a:lnTo>
                    <a:pt x="304" y="724"/>
                  </a:lnTo>
                  <a:lnTo>
                    <a:pt x="284" y="784"/>
                  </a:lnTo>
                  <a:lnTo>
                    <a:pt x="269" y="846"/>
                  </a:lnTo>
                  <a:lnTo>
                    <a:pt x="260" y="909"/>
                  </a:lnTo>
                  <a:lnTo>
                    <a:pt x="257" y="975"/>
                  </a:lnTo>
                  <a:lnTo>
                    <a:pt x="259" y="1035"/>
                  </a:lnTo>
                  <a:lnTo>
                    <a:pt x="264" y="1091"/>
                  </a:lnTo>
                  <a:lnTo>
                    <a:pt x="273" y="1144"/>
                  </a:lnTo>
                  <a:lnTo>
                    <a:pt x="284" y="1194"/>
                  </a:lnTo>
                  <a:lnTo>
                    <a:pt x="298" y="1241"/>
                  </a:lnTo>
                  <a:lnTo>
                    <a:pt x="313" y="1285"/>
                  </a:lnTo>
                  <a:lnTo>
                    <a:pt x="331" y="1327"/>
                  </a:lnTo>
                  <a:lnTo>
                    <a:pt x="351" y="1366"/>
                  </a:lnTo>
                  <a:lnTo>
                    <a:pt x="371" y="1404"/>
                  </a:lnTo>
                  <a:lnTo>
                    <a:pt x="393" y="1439"/>
                  </a:lnTo>
                  <a:lnTo>
                    <a:pt x="414" y="1473"/>
                  </a:lnTo>
                  <a:lnTo>
                    <a:pt x="437" y="1507"/>
                  </a:lnTo>
                  <a:lnTo>
                    <a:pt x="458" y="1539"/>
                  </a:lnTo>
                  <a:lnTo>
                    <a:pt x="483" y="1575"/>
                  </a:lnTo>
                  <a:lnTo>
                    <a:pt x="507" y="1612"/>
                  </a:lnTo>
                  <a:lnTo>
                    <a:pt x="530" y="1648"/>
                  </a:lnTo>
                  <a:lnTo>
                    <a:pt x="551" y="1685"/>
                  </a:lnTo>
                  <a:lnTo>
                    <a:pt x="569" y="1723"/>
                  </a:lnTo>
                  <a:lnTo>
                    <a:pt x="584" y="1762"/>
                  </a:lnTo>
                  <a:lnTo>
                    <a:pt x="595" y="1802"/>
                  </a:lnTo>
                  <a:lnTo>
                    <a:pt x="603" y="1845"/>
                  </a:lnTo>
                  <a:lnTo>
                    <a:pt x="605" y="1890"/>
                  </a:lnTo>
                  <a:lnTo>
                    <a:pt x="608" y="1915"/>
                  </a:lnTo>
                  <a:lnTo>
                    <a:pt x="618" y="1939"/>
                  </a:lnTo>
                  <a:lnTo>
                    <a:pt x="630" y="1960"/>
                  </a:lnTo>
                  <a:lnTo>
                    <a:pt x="647" y="1980"/>
                  </a:lnTo>
                  <a:lnTo>
                    <a:pt x="665" y="1998"/>
                  </a:lnTo>
                  <a:lnTo>
                    <a:pt x="684" y="2014"/>
                  </a:lnTo>
                  <a:lnTo>
                    <a:pt x="701" y="2027"/>
                  </a:lnTo>
                  <a:lnTo>
                    <a:pt x="1328" y="2027"/>
                  </a:lnTo>
                  <a:lnTo>
                    <a:pt x="1346" y="2014"/>
                  </a:lnTo>
                  <a:lnTo>
                    <a:pt x="1365" y="1998"/>
                  </a:lnTo>
                  <a:lnTo>
                    <a:pt x="1384" y="1980"/>
                  </a:lnTo>
                  <a:lnTo>
                    <a:pt x="1400" y="1960"/>
                  </a:lnTo>
                  <a:lnTo>
                    <a:pt x="1412" y="1939"/>
                  </a:lnTo>
                  <a:lnTo>
                    <a:pt x="1422" y="1915"/>
                  </a:lnTo>
                  <a:lnTo>
                    <a:pt x="1425" y="1890"/>
                  </a:lnTo>
                  <a:lnTo>
                    <a:pt x="1427" y="1845"/>
                  </a:lnTo>
                  <a:lnTo>
                    <a:pt x="1434" y="1802"/>
                  </a:lnTo>
                  <a:lnTo>
                    <a:pt x="1446" y="1762"/>
                  </a:lnTo>
                  <a:lnTo>
                    <a:pt x="1461" y="1723"/>
                  </a:lnTo>
                  <a:lnTo>
                    <a:pt x="1478" y="1686"/>
                  </a:lnTo>
                  <a:lnTo>
                    <a:pt x="1499" y="1648"/>
                  </a:lnTo>
                  <a:lnTo>
                    <a:pt x="1521" y="1612"/>
                  </a:lnTo>
                  <a:lnTo>
                    <a:pt x="1546" y="1576"/>
                  </a:lnTo>
                  <a:lnTo>
                    <a:pt x="1571" y="1540"/>
                  </a:lnTo>
                  <a:lnTo>
                    <a:pt x="1593" y="1508"/>
                  </a:lnTo>
                  <a:lnTo>
                    <a:pt x="1615" y="1474"/>
                  </a:lnTo>
                  <a:lnTo>
                    <a:pt x="1637" y="1440"/>
                  </a:lnTo>
                  <a:lnTo>
                    <a:pt x="1659" y="1404"/>
                  </a:lnTo>
                  <a:lnTo>
                    <a:pt x="1679" y="1366"/>
                  </a:lnTo>
                  <a:lnTo>
                    <a:pt x="1699" y="1327"/>
                  </a:lnTo>
                  <a:lnTo>
                    <a:pt x="1716" y="1285"/>
                  </a:lnTo>
                  <a:lnTo>
                    <a:pt x="1732" y="1241"/>
                  </a:lnTo>
                  <a:lnTo>
                    <a:pt x="1746" y="1194"/>
                  </a:lnTo>
                  <a:lnTo>
                    <a:pt x="1757" y="1144"/>
                  </a:lnTo>
                  <a:lnTo>
                    <a:pt x="1766" y="1091"/>
                  </a:lnTo>
                  <a:lnTo>
                    <a:pt x="1771" y="1035"/>
                  </a:lnTo>
                  <a:lnTo>
                    <a:pt x="1773" y="975"/>
                  </a:lnTo>
                  <a:lnTo>
                    <a:pt x="1770" y="909"/>
                  </a:lnTo>
                  <a:lnTo>
                    <a:pt x="1762" y="846"/>
                  </a:lnTo>
                  <a:lnTo>
                    <a:pt x="1746" y="783"/>
                  </a:lnTo>
                  <a:lnTo>
                    <a:pt x="1726" y="724"/>
                  </a:lnTo>
                  <a:lnTo>
                    <a:pt x="1701" y="667"/>
                  </a:lnTo>
                  <a:lnTo>
                    <a:pt x="1669" y="611"/>
                  </a:lnTo>
                  <a:lnTo>
                    <a:pt x="1635" y="560"/>
                  </a:lnTo>
                  <a:lnTo>
                    <a:pt x="1595" y="511"/>
                  </a:lnTo>
                  <a:lnTo>
                    <a:pt x="1551" y="467"/>
                  </a:lnTo>
                  <a:lnTo>
                    <a:pt x="1504" y="425"/>
                  </a:lnTo>
                  <a:lnTo>
                    <a:pt x="1452" y="387"/>
                  </a:lnTo>
                  <a:lnTo>
                    <a:pt x="1398" y="353"/>
                  </a:lnTo>
                  <a:lnTo>
                    <a:pt x="1340" y="325"/>
                  </a:lnTo>
                  <a:lnTo>
                    <a:pt x="1279" y="300"/>
                  </a:lnTo>
                  <a:lnTo>
                    <a:pt x="1216" y="281"/>
                  </a:lnTo>
                  <a:lnTo>
                    <a:pt x="1151" y="267"/>
                  </a:lnTo>
                  <a:lnTo>
                    <a:pt x="1084" y="259"/>
                  </a:lnTo>
                  <a:lnTo>
                    <a:pt x="1015" y="255"/>
                  </a:lnTo>
                  <a:close/>
                  <a:moveTo>
                    <a:pt x="1015" y="0"/>
                  </a:moveTo>
                  <a:lnTo>
                    <a:pt x="1098" y="4"/>
                  </a:lnTo>
                  <a:lnTo>
                    <a:pt x="1180" y="14"/>
                  </a:lnTo>
                  <a:lnTo>
                    <a:pt x="1258" y="30"/>
                  </a:lnTo>
                  <a:lnTo>
                    <a:pt x="1336" y="50"/>
                  </a:lnTo>
                  <a:lnTo>
                    <a:pt x="1409" y="77"/>
                  </a:lnTo>
                  <a:lnTo>
                    <a:pt x="1481" y="110"/>
                  </a:lnTo>
                  <a:lnTo>
                    <a:pt x="1549" y="147"/>
                  </a:lnTo>
                  <a:lnTo>
                    <a:pt x="1614" y="189"/>
                  </a:lnTo>
                  <a:lnTo>
                    <a:pt x="1675" y="236"/>
                  </a:lnTo>
                  <a:lnTo>
                    <a:pt x="1732" y="287"/>
                  </a:lnTo>
                  <a:lnTo>
                    <a:pt x="1785" y="341"/>
                  </a:lnTo>
                  <a:lnTo>
                    <a:pt x="1834" y="400"/>
                  </a:lnTo>
                  <a:lnTo>
                    <a:pt x="1878" y="462"/>
                  </a:lnTo>
                  <a:lnTo>
                    <a:pt x="1917" y="527"/>
                  </a:lnTo>
                  <a:lnTo>
                    <a:pt x="1950" y="596"/>
                  </a:lnTo>
                  <a:lnTo>
                    <a:pt x="1978" y="668"/>
                  </a:lnTo>
                  <a:lnTo>
                    <a:pt x="2001" y="740"/>
                  </a:lnTo>
                  <a:lnTo>
                    <a:pt x="2016" y="816"/>
                  </a:lnTo>
                  <a:lnTo>
                    <a:pt x="2027" y="895"/>
                  </a:lnTo>
                  <a:lnTo>
                    <a:pt x="2030" y="975"/>
                  </a:lnTo>
                  <a:lnTo>
                    <a:pt x="2028" y="1042"/>
                  </a:lnTo>
                  <a:lnTo>
                    <a:pt x="2023" y="1107"/>
                  </a:lnTo>
                  <a:lnTo>
                    <a:pt x="2014" y="1167"/>
                  </a:lnTo>
                  <a:lnTo>
                    <a:pt x="2003" y="1226"/>
                  </a:lnTo>
                  <a:lnTo>
                    <a:pt x="1989" y="1280"/>
                  </a:lnTo>
                  <a:lnTo>
                    <a:pt x="1973" y="1331"/>
                  </a:lnTo>
                  <a:lnTo>
                    <a:pt x="1955" y="1380"/>
                  </a:lnTo>
                  <a:lnTo>
                    <a:pt x="1936" y="1425"/>
                  </a:lnTo>
                  <a:lnTo>
                    <a:pt x="1915" y="1468"/>
                  </a:lnTo>
                  <a:lnTo>
                    <a:pt x="1894" y="1509"/>
                  </a:lnTo>
                  <a:lnTo>
                    <a:pt x="1871" y="1548"/>
                  </a:lnTo>
                  <a:lnTo>
                    <a:pt x="1849" y="1585"/>
                  </a:lnTo>
                  <a:lnTo>
                    <a:pt x="1827" y="1619"/>
                  </a:lnTo>
                  <a:lnTo>
                    <a:pt x="1805" y="1651"/>
                  </a:lnTo>
                  <a:lnTo>
                    <a:pt x="1783" y="1683"/>
                  </a:lnTo>
                  <a:lnTo>
                    <a:pt x="1757" y="1721"/>
                  </a:lnTo>
                  <a:lnTo>
                    <a:pt x="1734" y="1755"/>
                  </a:lnTo>
                  <a:lnTo>
                    <a:pt x="1715" y="1787"/>
                  </a:lnTo>
                  <a:lnTo>
                    <a:pt x="1701" y="1815"/>
                  </a:lnTo>
                  <a:lnTo>
                    <a:pt x="1690" y="1841"/>
                  </a:lnTo>
                  <a:lnTo>
                    <a:pt x="1683" y="1866"/>
                  </a:lnTo>
                  <a:lnTo>
                    <a:pt x="1681" y="1890"/>
                  </a:lnTo>
                  <a:lnTo>
                    <a:pt x="1678" y="1936"/>
                  </a:lnTo>
                  <a:lnTo>
                    <a:pt x="1668" y="1982"/>
                  </a:lnTo>
                  <a:lnTo>
                    <a:pt x="1654" y="2027"/>
                  </a:lnTo>
                  <a:lnTo>
                    <a:pt x="1632" y="2071"/>
                  </a:lnTo>
                  <a:lnTo>
                    <a:pt x="1605" y="2112"/>
                  </a:lnTo>
                  <a:lnTo>
                    <a:pt x="1573" y="2152"/>
                  </a:lnTo>
                  <a:lnTo>
                    <a:pt x="1535" y="2189"/>
                  </a:lnTo>
                  <a:lnTo>
                    <a:pt x="1492" y="2224"/>
                  </a:lnTo>
                  <a:lnTo>
                    <a:pt x="1491" y="2245"/>
                  </a:lnTo>
                  <a:lnTo>
                    <a:pt x="1490" y="2270"/>
                  </a:lnTo>
                  <a:lnTo>
                    <a:pt x="1488" y="2297"/>
                  </a:lnTo>
                  <a:lnTo>
                    <a:pt x="1487" y="2325"/>
                  </a:lnTo>
                  <a:lnTo>
                    <a:pt x="1485" y="2353"/>
                  </a:lnTo>
                  <a:lnTo>
                    <a:pt x="1484" y="2381"/>
                  </a:lnTo>
                  <a:lnTo>
                    <a:pt x="1482" y="2408"/>
                  </a:lnTo>
                  <a:lnTo>
                    <a:pt x="1481" y="2432"/>
                  </a:lnTo>
                  <a:lnTo>
                    <a:pt x="1479" y="2452"/>
                  </a:lnTo>
                  <a:lnTo>
                    <a:pt x="1478" y="2468"/>
                  </a:lnTo>
                  <a:lnTo>
                    <a:pt x="1478" y="2479"/>
                  </a:lnTo>
                  <a:lnTo>
                    <a:pt x="1477" y="2482"/>
                  </a:lnTo>
                  <a:lnTo>
                    <a:pt x="1477" y="2494"/>
                  </a:lnTo>
                  <a:lnTo>
                    <a:pt x="1475" y="2509"/>
                  </a:lnTo>
                  <a:lnTo>
                    <a:pt x="1471" y="2525"/>
                  </a:lnTo>
                  <a:lnTo>
                    <a:pt x="1466" y="2541"/>
                  </a:lnTo>
                  <a:lnTo>
                    <a:pt x="1457" y="2560"/>
                  </a:lnTo>
                  <a:lnTo>
                    <a:pt x="1447" y="2578"/>
                  </a:lnTo>
                  <a:lnTo>
                    <a:pt x="1433" y="2596"/>
                  </a:lnTo>
                  <a:lnTo>
                    <a:pt x="1417" y="2616"/>
                  </a:lnTo>
                  <a:lnTo>
                    <a:pt x="1396" y="2634"/>
                  </a:lnTo>
                  <a:lnTo>
                    <a:pt x="1370" y="2653"/>
                  </a:lnTo>
                  <a:lnTo>
                    <a:pt x="1341" y="2669"/>
                  </a:lnTo>
                  <a:lnTo>
                    <a:pt x="1308" y="2686"/>
                  </a:lnTo>
                  <a:lnTo>
                    <a:pt x="1268" y="2701"/>
                  </a:lnTo>
                  <a:lnTo>
                    <a:pt x="1245" y="2730"/>
                  </a:lnTo>
                  <a:lnTo>
                    <a:pt x="1216" y="2757"/>
                  </a:lnTo>
                  <a:lnTo>
                    <a:pt x="1185" y="2782"/>
                  </a:lnTo>
                  <a:lnTo>
                    <a:pt x="1163" y="2793"/>
                  </a:lnTo>
                  <a:lnTo>
                    <a:pt x="1139" y="2800"/>
                  </a:lnTo>
                  <a:lnTo>
                    <a:pt x="1114" y="2803"/>
                  </a:lnTo>
                  <a:lnTo>
                    <a:pt x="916" y="2803"/>
                  </a:lnTo>
                  <a:lnTo>
                    <a:pt x="891" y="2800"/>
                  </a:lnTo>
                  <a:lnTo>
                    <a:pt x="867" y="2793"/>
                  </a:lnTo>
                  <a:lnTo>
                    <a:pt x="845" y="2782"/>
                  </a:lnTo>
                  <a:lnTo>
                    <a:pt x="814" y="2757"/>
                  </a:lnTo>
                  <a:lnTo>
                    <a:pt x="785" y="2730"/>
                  </a:lnTo>
                  <a:lnTo>
                    <a:pt x="762" y="2701"/>
                  </a:lnTo>
                  <a:lnTo>
                    <a:pt x="720" y="2684"/>
                  </a:lnTo>
                  <a:lnTo>
                    <a:pt x="685" y="2667"/>
                  </a:lnTo>
                  <a:lnTo>
                    <a:pt x="653" y="2648"/>
                  </a:lnTo>
                  <a:lnTo>
                    <a:pt x="628" y="2629"/>
                  </a:lnTo>
                  <a:lnTo>
                    <a:pt x="607" y="2609"/>
                  </a:lnTo>
                  <a:lnTo>
                    <a:pt x="590" y="2588"/>
                  </a:lnTo>
                  <a:lnTo>
                    <a:pt x="578" y="2568"/>
                  </a:lnTo>
                  <a:lnTo>
                    <a:pt x="567" y="2549"/>
                  </a:lnTo>
                  <a:lnTo>
                    <a:pt x="561" y="2530"/>
                  </a:lnTo>
                  <a:lnTo>
                    <a:pt x="556" y="2512"/>
                  </a:lnTo>
                  <a:lnTo>
                    <a:pt x="554" y="2496"/>
                  </a:lnTo>
                  <a:lnTo>
                    <a:pt x="552" y="2482"/>
                  </a:lnTo>
                  <a:lnTo>
                    <a:pt x="552" y="2482"/>
                  </a:lnTo>
                  <a:lnTo>
                    <a:pt x="552" y="2479"/>
                  </a:lnTo>
                  <a:lnTo>
                    <a:pt x="551" y="2468"/>
                  </a:lnTo>
                  <a:lnTo>
                    <a:pt x="550" y="2452"/>
                  </a:lnTo>
                  <a:lnTo>
                    <a:pt x="549" y="2432"/>
                  </a:lnTo>
                  <a:lnTo>
                    <a:pt x="548" y="2408"/>
                  </a:lnTo>
                  <a:lnTo>
                    <a:pt x="546" y="2381"/>
                  </a:lnTo>
                  <a:lnTo>
                    <a:pt x="545" y="2353"/>
                  </a:lnTo>
                  <a:lnTo>
                    <a:pt x="543" y="2325"/>
                  </a:lnTo>
                  <a:lnTo>
                    <a:pt x="542" y="2297"/>
                  </a:lnTo>
                  <a:lnTo>
                    <a:pt x="540" y="2270"/>
                  </a:lnTo>
                  <a:lnTo>
                    <a:pt x="539" y="2245"/>
                  </a:lnTo>
                  <a:lnTo>
                    <a:pt x="538" y="2224"/>
                  </a:lnTo>
                  <a:lnTo>
                    <a:pt x="495" y="2189"/>
                  </a:lnTo>
                  <a:lnTo>
                    <a:pt x="457" y="2152"/>
                  </a:lnTo>
                  <a:lnTo>
                    <a:pt x="425" y="2112"/>
                  </a:lnTo>
                  <a:lnTo>
                    <a:pt x="398" y="2071"/>
                  </a:lnTo>
                  <a:lnTo>
                    <a:pt x="376" y="2027"/>
                  </a:lnTo>
                  <a:lnTo>
                    <a:pt x="362" y="1982"/>
                  </a:lnTo>
                  <a:lnTo>
                    <a:pt x="352" y="1936"/>
                  </a:lnTo>
                  <a:lnTo>
                    <a:pt x="349" y="1890"/>
                  </a:lnTo>
                  <a:lnTo>
                    <a:pt x="347" y="1866"/>
                  </a:lnTo>
                  <a:lnTo>
                    <a:pt x="340" y="1841"/>
                  </a:lnTo>
                  <a:lnTo>
                    <a:pt x="329" y="1815"/>
                  </a:lnTo>
                  <a:lnTo>
                    <a:pt x="314" y="1787"/>
                  </a:lnTo>
                  <a:lnTo>
                    <a:pt x="296" y="1755"/>
                  </a:lnTo>
                  <a:lnTo>
                    <a:pt x="274" y="1721"/>
                  </a:lnTo>
                  <a:lnTo>
                    <a:pt x="247" y="1684"/>
                  </a:lnTo>
                  <a:lnTo>
                    <a:pt x="226" y="1652"/>
                  </a:lnTo>
                  <a:lnTo>
                    <a:pt x="204" y="1619"/>
                  </a:lnTo>
                  <a:lnTo>
                    <a:pt x="181" y="1585"/>
                  </a:lnTo>
                  <a:lnTo>
                    <a:pt x="159" y="1548"/>
                  </a:lnTo>
                  <a:lnTo>
                    <a:pt x="137" y="1510"/>
                  </a:lnTo>
                  <a:lnTo>
                    <a:pt x="115" y="1468"/>
                  </a:lnTo>
                  <a:lnTo>
                    <a:pt x="94" y="1425"/>
                  </a:lnTo>
                  <a:lnTo>
                    <a:pt x="75" y="1380"/>
                  </a:lnTo>
                  <a:lnTo>
                    <a:pt x="56" y="1331"/>
                  </a:lnTo>
                  <a:lnTo>
                    <a:pt x="41" y="1280"/>
                  </a:lnTo>
                  <a:lnTo>
                    <a:pt x="27" y="1226"/>
                  </a:lnTo>
                  <a:lnTo>
                    <a:pt x="16" y="1167"/>
                  </a:lnTo>
                  <a:lnTo>
                    <a:pt x="7" y="1107"/>
                  </a:lnTo>
                  <a:lnTo>
                    <a:pt x="2" y="1042"/>
                  </a:lnTo>
                  <a:lnTo>
                    <a:pt x="0" y="975"/>
                  </a:lnTo>
                  <a:lnTo>
                    <a:pt x="3" y="895"/>
                  </a:lnTo>
                  <a:lnTo>
                    <a:pt x="13" y="816"/>
                  </a:lnTo>
                  <a:lnTo>
                    <a:pt x="29" y="740"/>
                  </a:lnTo>
                  <a:lnTo>
                    <a:pt x="52" y="668"/>
                  </a:lnTo>
                  <a:lnTo>
                    <a:pt x="80" y="596"/>
                  </a:lnTo>
                  <a:lnTo>
                    <a:pt x="113" y="527"/>
                  </a:lnTo>
                  <a:lnTo>
                    <a:pt x="152" y="462"/>
                  </a:lnTo>
                  <a:lnTo>
                    <a:pt x="196" y="400"/>
                  </a:lnTo>
                  <a:lnTo>
                    <a:pt x="245" y="341"/>
                  </a:lnTo>
                  <a:lnTo>
                    <a:pt x="298" y="287"/>
                  </a:lnTo>
                  <a:lnTo>
                    <a:pt x="355" y="236"/>
                  </a:lnTo>
                  <a:lnTo>
                    <a:pt x="416" y="189"/>
                  </a:lnTo>
                  <a:lnTo>
                    <a:pt x="481" y="147"/>
                  </a:lnTo>
                  <a:lnTo>
                    <a:pt x="549" y="110"/>
                  </a:lnTo>
                  <a:lnTo>
                    <a:pt x="621" y="77"/>
                  </a:lnTo>
                  <a:lnTo>
                    <a:pt x="695" y="50"/>
                  </a:lnTo>
                  <a:lnTo>
                    <a:pt x="772" y="30"/>
                  </a:lnTo>
                  <a:lnTo>
                    <a:pt x="850" y="14"/>
                  </a:lnTo>
                  <a:lnTo>
                    <a:pt x="932" y="4"/>
                  </a:lnTo>
                  <a:lnTo>
                    <a:pt x="10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37"/>
            <p:cNvSpPr/>
            <p:nvPr/>
          </p:nvSpPr>
          <p:spPr>
            <a:xfrm>
              <a:off x="1147763" y="2427288"/>
              <a:ext cx="39688" cy="101600"/>
            </a:xfrm>
            <a:custGeom>
              <a:avLst/>
              <a:gdLst/>
              <a:ahLst/>
              <a:cxnLst/>
              <a:rect l="l" t="t" r="r" b="b"/>
              <a:pathLst>
                <a:path w="128" h="318" extrusionOk="0">
                  <a:moveTo>
                    <a:pt x="64" y="0"/>
                  </a:moveTo>
                  <a:lnTo>
                    <a:pt x="64" y="0"/>
                  </a:lnTo>
                  <a:lnTo>
                    <a:pt x="81" y="2"/>
                  </a:lnTo>
                  <a:lnTo>
                    <a:pt x="96" y="9"/>
                  </a:lnTo>
                  <a:lnTo>
                    <a:pt x="109" y="19"/>
                  </a:lnTo>
                  <a:lnTo>
                    <a:pt x="120" y="32"/>
                  </a:lnTo>
                  <a:lnTo>
                    <a:pt x="126" y="47"/>
                  </a:lnTo>
                  <a:lnTo>
                    <a:pt x="128" y="64"/>
                  </a:lnTo>
                  <a:lnTo>
                    <a:pt x="128" y="254"/>
                  </a:lnTo>
                  <a:lnTo>
                    <a:pt x="126" y="272"/>
                  </a:lnTo>
                  <a:lnTo>
                    <a:pt x="120" y="287"/>
                  </a:lnTo>
                  <a:lnTo>
                    <a:pt x="109" y="300"/>
                  </a:lnTo>
                  <a:lnTo>
                    <a:pt x="96" y="310"/>
                  </a:lnTo>
                  <a:lnTo>
                    <a:pt x="81" y="316"/>
                  </a:lnTo>
                  <a:lnTo>
                    <a:pt x="64" y="318"/>
                  </a:lnTo>
                  <a:lnTo>
                    <a:pt x="47" y="316"/>
                  </a:lnTo>
                  <a:lnTo>
                    <a:pt x="31" y="310"/>
                  </a:lnTo>
                  <a:lnTo>
                    <a:pt x="19" y="300"/>
                  </a:lnTo>
                  <a:lnTo>
                    <a:pt x="8" y="287"/>
                  </a:lnTo>
                  <a:lnTo>
                    <a:pt x="2" y="272"/>
                  </a:lnTo>
                  <a:lnTo>
                    <a:pt x="0" y="254"/>
                  </a:lnTo>
                  <a:lnTo>
                    <a:pt x="0" y="64"/>
                  </a:lnTo>
                  <a:lnTo>
                    <a:pt x="2" y="47"/>
                  </a:lnTo>
                  <a:lnTo>
                    <a:pt x="8" y="32"/>
                  </a:lnTo>
                  <a:lnTo>
                    <a:pt x="19" y="19"/>
                  </a:lnTo>
                  <a:lnTo>
                    <a:pt x="31" y="9"/>
                  </a:lnTo>
                  <a:lnTo>
                    <a:pt x="47" y="2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37"/>
            <p:cNvSpPr/>
            <p:nvPr/>
          </p:nvSpPr>
          <p:spPr>
            <a:xfrm>
              <a:off x="917575" y="2487613"/>
              <a:ext cx="71438" cy="93663"/>
            </a:xfrm>
            <a:custGeom>
              <a:avLst/>
              <a:gdLst/>
              <a:ahLst/>
              <a:cxnLst/>
              <a:rect l="l" t="t" r="r" b="b"/>
              <a:pathLst>
                <a:path w="225" h="293" extrusionOk="0">
                  <a:moveTo>
                    <a:pt x="64" y="0"/>
                  </a:moveTo>
                  <a:lnTo>
                    <a:pt x="81" y="2"/>
                  </a:lnTo>
                  <a:lnTo>
                    <a:pt x="96" y="8"/>
                  </a:lnTo>
                  <a:lnTo>
                    <a:pt x="110" y="19"/>
                  </a:lnTo>
                  <a:lnTo>
                    <a:pt x="120" y="32"/>
                  </a:lnTo>
                  <a:lnTo>
                    <a:pt x="216" y="198"/>
                  </a:lnTo>
                  <a:lnTo>
                    <a:pt x="223" y="213"/>
                  </a:lnTo>
                  <a:lnTo>
                    <a:pt x="225" y="230"/>
                  </a:lnTo>
                  <a:lnTo>
                    <a:pt x="223" y="246"/>
                  </a:lnTo>
                  <a:lnTo>
                    <a:pt x="216" y="261"/>
                  </a:lnTo>
                  <a:lnTo>
                    <a:pt x="207" y="275"/>
                  </a:lnTo>
                  <a:lnTo>
                    <a:pt x="193" y="285"/>
                  </a:lnTo>
                  <a:lnTo>
                    <a:pt x="178" y="291"/>
                  </a:lnTo>
                  <a:lnTo>
                    <a:pt x="161" y="293"/>
                  </a:lnTo>
                  <a:lnTo>
                    <a:pt x="144" y="291"/>
                  </a:lnTo>
                  <a:lnTo>
                    <a:pt x="129" y="285"/>
                  </a:lnTo>
                  <a:lnTo>
                    <a:pt x="116" y="275"/>
                  </a:lnTo>
                  <a:lnTo>
                    <a:pt x="105" y="261"/>
                  </a:lnTo>
                  <a:lnTo>
                    <a:pt x="9" y="96"/>
                  </a:lnTo>
                  <a:lnTo>
                    <a:pt x="3" y="80"/>
                  </a:lnTo>
                  <a:lnTo>
                    <a:pt x="0" y="63"/>
                  </a:lnTo>
                  <a:lnTo>
                    <a:pt x="3" y="48"/>
                  </a:lnTo>
                  <a:lnTo>
                    <a:pt x="9" y="32"/>
                  </a:lnTo>
                  <a:lnTo>
                    <a:pt x="19" y="20"/>
                  </a:lnTo>
                  <a:lnTo>
                    <a:pt x="32" y="9"/>
                  </a:lnTo>
                  <a:lnTo>
                    <a:pt x="49" y="2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37"/>
            <p:cNvSpPr/>
            <p:nvPr/>
          </p:nvSpPr>
          <p:spPr>
            <a:xfrm>
              <a:off x="750888" y="2655888"/>
              <a:ext cx="93663" cy="69850"/>
            </a:xfrm>
            <a:custGeom>
              <a:avLst/>
              <a:gdLst/>
              <a:ahLst/>
              <a:cxnLst/>
              <a:rect l="l" t="t" r="r" b="b"/>
              <a:pathLst>
                <a:path w="295" h="222" extrusionOk="0">
                  <a:moveTo>
                    <a:pt x="64" y="0"/>
                  </a:moveTo>
                  <a:lnTo>
                    <a:pt x="80" y="2"/>
                  </a:lnTo>
                  <a:lnTo>
                    <a:pt x="96" y="8"/>
                  </a:lnTo>
                  <a:lnTo>
                    <a:pt x="263" y="103"/>
                  </a:lnTo>
                  <a:lnTo>
                    <a:pt x="277" y="114"/>
                  </a:lnTo>
                  <a:lnTo>
                    <a:pt x="286" y="127"/>
                  </a:lnTo>
                  <a:lnTo>
                    <a:pt x="293" y="142"/>
                  </a:lnTo>
                  <a:lnTo>
                    <a:pt x="295" y="158"/>
                  </a:lnTo>
                  <a:lnTo>
                    <a:pt x="293" y="174"/>
                  </a:lnTo>
                  <a:lnTo>
                    <a:pt x="286" y="190"/>
                  </a:lnTo>
                  <a:lnTo>
                    <a:pt x="276" y="204"/>
                  </a:lnTo>
                  <a:lnTo>
                    <a:pt x="262" y="214"/>
                  </a:lnTo>
                  <a:lnTo>
                    <a:pt x="246" y="220"/>
                  </a:lnTo>
                  <a:lnTo>
                    <a:pt x="231" y="222"/>
                  </a:lnTo>
                  <a:lnTo>
                    <a:pt x="214" y="220"/>
                  </a:lnTo>
                  <a:lnTo>
                    <a:pt x="198" y="213"/>
                  </a:lnTo>
                  <a:lnTo>
                    <a:pt x="31" y="118"/>
                  </a:lnTo>
                  <a:lnTo>
                    <a:pt x="18" y="108"/>
                  </a:lnTo>
                  <a:lnTo>
                    <a:pt x="8" y="94"/>
                  </a:lnTo>
                  <a:lnTo>
                    <a:pt x="2" y="80"/>
                  </a:lnTo>
                  <a:lnTo>
                    <a:pt x="0" y="63"/>
                  </a:lnTo>
                  <a:lnTo>
                    <a:pt x="2" y="46"/>
                  </a:lnTo>
                  <a:lnTo>
                    <a:pt x="8" y="31"/>
                  </a:lnTo>
                  <a:lnTo>
                    <a:pt x="19" y="17"/>
                  </a:lnTo>
                  <a:lnTo>
                    <a:pt x="32" y="8"/>
                  </a:lnTo>
                  <a:lnTo>
                    <a:pt x="47" y="2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37"/>
            <p:cNvSpPr/>
            <p:nvPr/>
          </p:nvSpPr>
          <p:spPr>
            <a:xfrm>
              <a:off x="688975" y="2882900"/>
              <a:ext cx="101600" cy="39688"/>
            </a:xfrm>
            <a:custGeom>
              <a:avLst/>
              <a:gdLst/>
              <a:ahLst/>
              <a:cxnLst/>
              <a:rect l="l" t="t" r="r" b="b"/>
              <a:pathLst>
                <a:path w="321" h="128" extrusionOk="0">
                  <a:moveTo>
                    <a:pt x="64" y="0"/>
                  </a:moveTo>
                  <a:lnTo>
                    <a:pt x="257" y="0"/>
                  </a:lnTo>
                  <a:lnTo>
                    <a:pt x="274" y="3"/>
                  </a:lnTo>
                  <a:lnTo>
                    <a:pt x="289" y="9"/>
                  </a:lnTo>
                  <a:lnTo>
                    <a:pt x="302" y="18"/>
                  </a:lnTo>
                  <a:lnTo>
                    <a:pt x="312" y="32"/>
                  </a:lnTo>
                  <a:lnTo>
                    <a:pt x="319" y="47"/>
                  </a:lnTo>
                  <a:lnTo>
                    <a:pt x="321" y="64"/>
                  </a:lnTo>
                  <a:lnTo>
                    <a:pt x="319" y="81"/>
                  </a:lnTo>
                  <a:lnTo>
                    <a:pt x="312" y="95"/>
                  </a:lnTo>
                  <a:lnTo>
                    <a:pt x="302" y="109"/>
                  </a:lnTo>
                  <a:lnTo>
                    <a:pt x="289" y="118"/>
                  </a:lnTo>
                  <a:lnTo>
                    <a:pt x="274" y="126"/>
                  </a:lnTo>
                  <a:lnTo>
                    <a:pt x="257" y="128"/>
                  </a:lnTo>
                  <a:lnTo>
                    <a:pt x="64" y="128"/>
                  </a:lnTo>
                  <a:lnTo>
                    <a:pt x="47" y="126"/>
                  </a:lnTo>
                  <a:lnTo>
                    <a:pt x="32" y="118"/>
                  </a:lnTo>
                  <a:lnTo>
                    <a:pt x="19" y="109"/>
                  </a:lnTo>
                  <a:lnTo>
                    <a:pt x="9" y="95"/>
                  </a:lnTo>
                  <a:lnTo>
                    <a:pt x="2" y="81"/>
                  </a:lnTo>
                  <a:lnTo>
                    <a:pt x="0" y="64"/>
                  </a:lnTo>
                  <a:lnTo>
                    <a:pt x="2" y="47"/>
                  </a:lnTo>
                  <a:lnTo>
                    <a:pt x="9" y="32"/>
                  </a:lnTo>
                  <a:lnTo>
                    <a:pt x="19" y="18"/>
                  </a:lnTo>
                  <a:lnTo>
                    <a:pt x="32" y="9"/>
                  </a:lnTo>
                  <a:lnTo>
                    <a:pt x="47" y="3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37"/>
            <p:cNvSpPr/>
            <p:nvPr/>
          </p:nvSpPr>
          <p:spPr>
            <a:xfrm>
              <a:off x="750888" y="3079750"/>
              <a:ext cx="93663" cy="71438"/>
            </a:xfrm>
            <a:custGeom>
              <a:avLst/>
              <a:gdLst/>
              <a:ahLst/>
              <a:cxnLst/>
              <a:rect l="l" t="t" r="r" b="b"/>
              <a:pathLst>
                <a:path w="295" h="224" extrusionOk="0">
                  <a:moveTo>
                    <a:pt x="231" y="0"/>
                  </a:moveTo>
                  <a:lnTo>
                    <a:pt x="247" y="3"/>
                  </a:lnTo>
                  <a:lnTo>
                    <a:pt x="262" y="8"/>
                  </a:lnTo>
                  <a:lnTo>
                    <a:pt x="276" y="19"/>
                  </a:lnTo>
                  <a:lnTo>
                    <a:pt x="286" y="32"/>
                  </a:lnTo>
                  <a:lnTo>
                    <a:pt x="293" y="48"/>
                  </a:lnTo>
                  <a:lnTo>
                    <a:pt x="295" y="65"/>
                  </a:lnTo>
                  <a:lnTo>
                    <a:pt x="293" y="80"/>
                  </a:lnTo>
                  <a:lnTo>
                    <a:pt x="286" y="96"/>
                  </a:lnTo>
                  <a:lnTo>
                    <a:pt x="276" y="109"/>
                  </a:lnTo>
                  <a:lnTo>
                    <a:pt x="263" y="120"/>
                  </a:lnTo>
                  <a:lnTo>
                    <a:pt x="96" y="215"/>
                  </a:lnTo>
                  <a:lnTo>
                    <a:pt x="81" y="221"/>
                  </a:lnTo>
                  <a:lnTo>
                    <a:pt x="64" y="224"/>
                  </a:lnTo>
                  <a:lnTo>
                    <a:pt x="47" y="221"/>
                  </a:lnTo>
                  <a:lnTo>
                    <a:pt x="32" y="216"/>
                  </a:lnTo>
                  <a:lnTo>
                    <a:pt x="19" y="205"/>
                  </a:lnTo>
                  <a:lnTo>
                    <a:pt x="8" y="192"/>
                  </a:lnTo>
                  <a:lnTo>
                    <a:pt x="2" y="176"/>
                  </a:lnTo>
                  <a:lnTo>
                    <a:pt x="0" y="159"/>
                  </a:lnTo>
                  <a:lnTo>
                    <a:pt x="2" y="144"/>
                  </a:lnTo>
                  <a:lnTo>
                    <a:pt x="8" y="128"/>
                  </a:lnTo>
                  <a:lnTo>
                    <a:pt x="18" y="116"/>
                  </a:lnTo>
                  <a:lnTo>
                    <a:pt x="31" y="105"/>
                  </a:lnTo>
                  <a:lnTo>
                    <a:pt x="198" y="10"/>
                  </a:lnTo>
                  <a:lnTo>
                    <a:pt x="215" y="2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37"/>
            <p:cNvSpPr/>
            <p:nvPr/>
          </p:nvSpPr>
          <p:spPr>
            <a:xfrm>
              <a:off x="1492250" y="3079750"/>
              <a:ext cx="93663" cy="71438"/>
            </a:xfrm>
            <a:custGeom>
              <a:avLst/>
              <a:gdLst/>
              <a:ahLst/>
              <a:cxnLst/>
              <a:rect l="l" t="t" r="r" b="b"/>
              <a:pathLst>
                <a:path w="295" h="224" extrusionOk="0">
                  <a:moveTo>
                    <a:pt x="64" y="0"/>
                  </a:moveTo>
                  <a:lnTo>
                    <a:pt x="81" y="2"/>
                  </a:lnTo>
                  <a:lnTo>
                    <a:pt x="97" y="10"/>
                  </a:lnTo>
                  <a:lnTo>
                    <a:pt x="263" y="105"/>
                  </a:lnTo>
                  <a:lnTo>
                    <a:pt x="277" y="116"/>
                  </a:lnTo>
                  <a:lnTo>
                    <a:pt x="287" y="128"/>
                  </a:lnTo>
                  <a:lnTo>
                    <a:pt x="293" y="144"/>
                  </a:lnTo>
                  <a:lnTo>
                    <a:pt x="295" y="159"/>
                  </a:lnTo>
                  <a:lnTo>
                    <a:pt x="293" y="176"/>
                  </a:lnTo>
                  <a:lnTo>
                    <a:pt x="287" y="192"/>
                  </a:lnTo>
                  <a:lnTo>
                    <a:pt x="276" y="205"/>
                  </a:lnTo>
                  <a:lnTo>
                    <a:pt x="262" y="216"/>
                  </a:lnTo>
                  <a:lnTo>
                    <a:pt x="248" y="221"/>
                  </a:lnTo>
                  <a:lnTo>
                    <a:pt x="231" y="224"/>
                  </a:lnTo>
                  <a:lnTo>
                    <a:pt x="214" y="221"/>
                  </a:lnTo>
                  <a:lnTo>
                    <a:pt x="198" y="215"/>
                  </a:lnTo>
                  <a:lnTo>
                    <a:pt x="32" y="120"/>
                  </a:lnTo>
                  <a:lnTo>
                    <a:pt x="19" y="109"/>
                  </a:lnTo>
                  <a:lnTo>
                    <a:pt x="9" y="96"/>
                  </a:lnTo>
                  <a:lnTo>
                    <a:pt x="2" y="80"/>
                  </a:lnTo>
                  <a:lnTo>
                    <a:pt x="0" y="65"/>
                  </a:lnTo>
                  <a:lnTo>
                    <a:pt x="2" y="48"/>
                  </a:lnTo>
                  <a:lnTo>
                    <a:pt x="9" y="32"/>
                  </a:lnTo>
                  <a:lnTo>
                    <a:pt x="19" y="19"/>
                  </a:lnTo>
                  <a:lnTo>
                    <a:pt x="33" y="8"/>
                  </a:lnTo>
                  <a:lnTo>
                    <a:pt x="47" y="3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37"/>
            <p:cNvSpPr/>
            <p:nvPr/>
          </p:nvSpPr>
          <p:spPr>
            <a:xfrm>
              <a:off x="1544638" y="2882900"/>
              <a:ext cx="101600" cy="39688"/>
            </a:xfrm>
            <a:custGeom>
              <a:avLst/>
              <a:gdLst/>
              <a:ahLst/>
              <a:cxnLst/>
              <a:rect l="l" t="t" r="r" b="b"/>
              <a:pathLst>
                <a:path w="321" h="128" extrusionOk="0">
                  <a:moveTo>
                    <a:pt x="64" y="0"/>
                  </a:moveTo>
                  <a:lnTo>
                    <a:pt x="257" y="0"/>
                  </a:lnTo>
                  <a:lnTo>
                    <a:pt x="274" y="3"/>
                  </a:lnTo>
                  <a:lnTo>
                    <a:pt x="289" y="9"/>
                  </a:lnTo>
                  <a:lnTo>
                    <a:pt x="302" y="18"/>
                  </a:lnTo>
                  <a:lnTo>
                    <a:pt x="311" y="32"/>
                  </a:lnTo>
                  <a:lnTo>
                    <a:pt x="319" y="47"/>
                  </a:lnTo>
                  <a:lnTo>
                    <a:pt x="321" y="64"/>
                  </a:lnTo>
                  <a:lnTo>
                    <a:pt x="319" y="81"/>
                  </a:lnTo>
                  <a:lnTo>
                    <a:pt x="311" y="95"/>
                  </a:lnTo>
                  <a:lnTo>
                    <a:pt x="302" y="109"/>
                  </a:lnTo>
                  <a:lnTo>
                    <a:pt x="289" y="118"/>
                  </a:lnTo>
                  <a:lnTo>
                    <a:pt x="274" y="126"/>
                  </a:lnTo>
                  <a:lnTo>
                    <a:pt x="257" y="128"/>
                  </a:lnTo>
                  <a:lnTo>
                    <a:pt x="64" y="128"/>
                  </a:lnTo>
                  <a:lnTo>
                    <a:pt x="47" y="126"/>
                  </a:lnTo>
                  <a:lnTo>
                    <a:pt x="31" y="118"/>
                  </a:lnTo>
                  <a:lnTo>
                    <a:pt x="19" y="109"/>
                  </a:lnTo>
                  <a:lnTo>
                    <a:pt x="8" y="95"/>
                  </a:lnTo>
                  <a:lnTo>
                    <a:pt x="2" y="81"/>
                  </a:lnTo>
                  <a:lnTo>
                    <a:pt x="0" y="64"/>
                  </a:lnTo>
                  <a:lnTo>
                    <a:pt x="2" y="47"/>
                  </a:lnTo>
                  <a:lnTo>
                    <a:pt x="8" y="32"/>
                  </a:lnTo>
                  <a:lnTo>
                    <a:pt x="19" y="18"/>
                  </a:lnTo>
                  <a:lnTo>
                    <a:pt x="31" y="9"/>
                  </a:lnTo>
                  <a:lnTo>
                    <a:pt x="47" y="3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37"/>
            <p:cNvSpPr/>
            <p:nvPr/>
          </p:nvSpPr>
          <p:spPr>
            <a:xfrm>
              <a:off x="1492250" y="2655888"/>
              <a:ext cx="93663" cy="69850"/>
            </a:xfrm>
            <a:custGeom>
              <a:avLst/>
              <a:gdLst/>
              <a:ahLst/>
              <a:cxnLst/>
              <a:rect l="l" t="t" r="r" b="b"/>
              <a:pathLst>
                <a:path w="295" h="222" extrusionOk="0">
                  <a:moveTo>
                    <a:pt x="231" y="0"/>
                  </a:moveTo>
                  <a:lnTo>
                    <a:pt x="248" y="2"/>
                  </a:lnTo>
                  <a:lnTo>
                    <a:pt x="262" y="8"/>
                  </a:lnTo>
                  <a:lnTo>
                    <a:pt x="276" y="17"/>
                  </a:lnTo>
                  <a:lnTo>
                    <a:pt x="287" y="31"/>
                  </a:lnTo>
                  <a:lnTo>
                    <a:pt x="293" y="46"/>
                  </a:lnTo>
                  <a:lnTo>
                    <a:pt x="295" y="63"/>
                  </a:lnTo>
                  <a:lnTo>
                    <a:pt x="293" y="80"/>
                  </a:lnTo>
                  <a:lnTo>
                    <a:pt x="287" y="94"/>
                  </a:lnTo>
                  <a:lnTo>
                    <a:pt x="277" y="108"/>
                  </a:lnTo>
                  <a:lnTo>
                    <a:pt x="263" y="118"/>
                  </a:lnTo>
                  <a:lnTo>
                    <a:pt x="97" y="213"/>
                  </a:lnTo>
                  <a:lnTo>
                    <a:pt x="81" y="220"/>
                  </a:lnTo>
                  <a:lnTo>
                    <a:pt x="64" y="222"/>
                  </a:lnTo>
                  <a:lnTo>
                    <a:pt x="48" y="220"/>
                  </a:lnTo>
                  <a:lnTo>
                    <a:pt x="33" y="214"/>
                  </a:lnTo>
                  <a:lnTo>
                    <a:pt x="19" y="204"/>
                  </a:lnTo>
                  <a:lnTo>
                    <a:pt x="9" y="190"/>
                  </a:lnTo>
                  <a:lnTo>
                    <a:pt x="2" y="174"/>
                  </a:lnTo>
                  <a:lnTo>
                    <a:pt x="0" y="158"/>
                  </a:lnTo>
                  <a:lnTo>
                    <a:pt x="2" y="142"/>
                  </a:lnTo>
                  <a:lnTo>
                    <a:pt x="9" y="127"/>
                  </a:lnTo>
                  <a:lnTo>
                    <a:pt x="19" y="114"/>
                  </a:lnTo>
                  <a:lnTo>
                    <a:pt x="32" y="103"/>
                  </a:lnTo>
                  <a:lnTo>
                    <a:pt x="198" y="8"/>
                  </a:lnTo>
                  <a:lnTo>
                    <a:pt x="215" y="2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37"/>
            <p:cNvSpPr/>
            <p:nvPr/>
          </p:nvSpPr>
          <p:spPr>
            <a:xfrm>
              <a:off x="1346200" y="2487613"/>
              <a:ext cx="71438" cy="93663"/>
            </a:xfrm>
            <a:custGeom>
              <a:avLst/>
              <a:gdLst/>
              <a:ahLst/>
              <a:cxnLst/>
              <a:rect l="l" t="t" r="r" b="b"/>
              <a:pathLst>
                <a:path w="224" h="292" extrusionOk="0">
                  <a:moveTo>
                    <a:pt x="159" y="0"/>
                  </a:moveTo>
                  <a:lnTo>
                    <a:pt x="176" y="2"/>
                  </a:lnTo>
                  <a:lnTo>
                    <a:pt x="192" y="9"/>
                  </a:lnTo>
                  <a:lnTo>
                    <a:pt x="206" y="20"/>
                  </a:lnTo>
                  <a:lnTo>
                    <a:pt x="216" y="32"/>
                  </a:lnTo>
                  <a:lnTo>
                    <a:pt x="222" y="48"/>
                  </a:lnTo>
                  <a:lnTo>
                    <a:pt x="224" y="63"/>
                  </a:lnTo>
                  <a:lnTo>
                    <a:pt x="222" y="80"/>
                  </a:lnTo>
                  <a:lnTo>
                    <a:pt x="216" y="96"/>
                  </a:lnTo>
                  <a:lnTo>
                    <a:pt x="120" y="261"/>
                  </a:lnTo>
                  <a:lnTo>
                    <a:pt x="109" y="275"/>
                  </a:lnTo>
                  <a:lnTo>
                    <a:pt x="95" y="285"/>
                  </a:lnTo>
                  <a:lnTo>
                    <a:pt x="81" y="290"/>
                  </a:lnTo>
                  <a:lnTo>
                    <a:pt x="64" y="292"/>
                  </a:lnTo>
                  <a:lnTo>
                    <a:pt x="48" y="290"/>
                  </a:lnTo>
                  <a:lnTo>
                    <a:pt x="33" y="284"/>
                  </a:lnTo>
                  <a:lnTo>
                    <a:pt x="18" y="274"/>
                  </a:lnTo>
                  <a:lnTo>
                    <a:pt x="8" y="261"/>
                  </a:lnTo>
                  <a:lnTo>
                    <a:pt x="2" y="246"/>
                  </a:lnTo>
                  <a:lnTo>
                    <a:pt x="0" y="230"/>
                  </a:lnTo>
                  <a:lnTo>
                    <a:pt x="2" y="213"/>
                  </a:lnTo>
                  <a:lnTo>
                    <a:pt x="8" y="198"/>
                  </a:lnTo>
                  <a:lnTo>
                    <a:pt x="105" y="32"/>
                  </a:lnTo>
                  <a:lnTo>
                    <a:pt x="115" y="19"/>
                  </a:lnTo>
                  <a:lnTo>
                    <a:pt x="129" y="8"/>
                  </a:lnTo>
                  <a:lnTo>
                    <a:pt x="144" y="2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37"/>
            <p:cNvSpPr/>
            <p:nvPr/>
          </p:nvSpPr>
          <p:spPr>
            <a:xfrm>
              <a:off x="1119188" y="2732088"/>
              <a:ext cx="96838" cy="315913"/>
            </a:xfrm>
            <a:custGeom>
              <a:avLst/>
              <a:gdLst/>
              <a:ahLst/>
              <a:cxnLst/>
              <a:rect l="l" t="t" r="r" b="b"/>
              <a:pathLst>
                <a:path w="308" h="992" extrusionOk="0">
                  <a:moveTo>
                    <a:pt x="154" y="0"/>
                  </a:moveTo>
                  <a:lnTo>
                    <a:pt x="185" y="2"/>
                  </a:lnTo>
                  <a:lnTo>
                    <a:pt x="213" y="7"/>
                  </a:lnTo>
                  <a:lnTo>
                    <a:pt x="238" y="17"/>
                  </a:lnTo>
                  <a:lnTo>
                    <a:pt x="259" y="30"/>
                  </a:lnTo>
                  <a:lnTo>
                    <a:pt x="277" y="47"/>
                  </a:lnTo>
                  <a:lnTo>
                    <a:pt x="290" y="67"/>
                  </a:lnTo>
                  <a:lnTo>
                    <a:pt x="301" y="91"/>
                  </a:lnTo>
                  <a:lnTo>
                    <a:pt x="306" y="119"/>
                  </a:lnTo>
                  <a:lnTo>
                    <a:pt x="308" y="150"/>
                  </a:lnTo>
                  <a:lnTo>
                    <a:pt x="308" y="375"/>
                  </a:lnTo>
                  <a:lnTo>
                    <a:pt x="307" y="405"/>
                  </a:lnTo>
                  <a:lnTo>
                    <a:pt x="304" y="435"/>
                  </a:lnTo>
                  <a:lnTo>
                    <a:pt x="301" y="467"/>
                  </a:lnTo>
                  <a:lnTo>
                    <a:pt x="240" y="920"/>
                  </a:lnTo>
                  <a:lnTo>
                    <a:pt x="236" y="942"/>
                  </a:lnTo>
                  <a:lnTo>
                    <a:pt x="228" y="960"/>
                  </a:lnTo>
                  <a:lnTo>
                    <a:pt x="219" y="972"/>
                  </a:lnTo>
                  <a:lnTo>
                    <a:pt x="206" y="982"/>
                  </a:lnTo>
                  <a:lnTo>
                    <a:pt x="192" y="988"/>
                  </a:lnTo>
                  <a:lnTo>
                    <a:pt x="174" y="991"/>
                  </a:lnTo>
                  <a:lnTo>
                    <a:pt x="154" y="992"/>
                  </a:lnTo>
                  <a:lnTo>
                    <a:pt x="134" y="991"/>
                  </a:lnTo>
                  <a:lnTo>
                    <a:pt x="116" y="988"/>
                  </a:lnTo>
                  <a:lnTo>
                    <a:pt x="102" y="982"/>
                  </a:lnTo>
                  <a:lnTo>
                    <a:pt x="89" y="972"/>
                  </a:lnTo>
                  <a:lnTo>
                    <a:pt x="79" y="960"/>
                  </a:lnTo>
                  <a:lnTo>
                    <a:pt x="72" y="942"/>
                  </a:lnTo>
                  <a:lnTo>
                    <a:pt x="68" y="920"/>
                  </a:lnTo>
                  <a:lnTo>
                    <a:pt x="7" y="467"/>
                  </a:lnTo>
                  <a:lnTo>
                    <a:pt x="4" y="435"/>
                  </a:lnTo>
                  <a:lnTo>
                    <a:pt x="1" y="405"/>
                  </a:lnTo>
                  <a:lnTo>
                    <a:pt x="0" y="375"/>
                  </a:lnTo>
                  <a:lnTo>
                    <a:pt x="0" y="150"/>
                  </a:lnTo>
                  <a:lnTo>
                    <a:pt x="2" y="119"/>
                  </a:lnTo>
                  <a:lnTo>
                    <a:pt x="7" y="91"/>
                  </a:lnTo>
                  <a:lnTo>
                    <a:pt x="18" y="67"/>
                  </a:lnTo>
                  <a:lnTo>
                    <a:pt x="31" y="47"/>
                  </a:lnTo>
                  <a:lnTo>
                    <a:pt x="49" y="30"/>
                  </a:lnTo>
                  <a:lnTo>
                    <a:pt x="70" y="17"/>
                  </a:lnTo>
                  <a:lnTo>
                    <a:pt x="95" y="7"/>
                  </a:lnTo>
                  <a:lnTo>
                    <a:pt x="122" y="2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37"/>
            <p:cNvSpPr/>
            <p:nvPr/>
          </p:nvSpPr>
          <p:spPr>
            <a:xfrm>
              <a:off x="1116013" y="3087688"/>
              <a:ext cx="103188" cy="101600"/>
            </a:xfrm>
            <a:custGeom>
              <a:avLst/>
              <a:gdLst/>
              <a:ahLst/>
              <a:cxnLst/>
              <a:rect l="l" t="t" r="r" b="b"/>
              <a:pathLst>
                <a:path w="321" h="319" extrusionOk="0">
                  <a:moveTo>
                    <a:pt x="161" y="0"/>
                  </a:moveTo>
                  <a:lnTo>
                    <a:pt x="193" y="4"/>
                  </a:lnTo>
                  <a:lnTo>
                    <a:pt x="223" y="14"/>
                  </a:lnTo>
                  <a:lnTo>
                    <a:pt x="250" y="28"/>
                  </a:lnTo>
                  <a:lnTo>
                    <a:pt x="274" y="47"/>
                  </a:lnTo>
                  <a:lnTo>
                    <a:pt x="294" y="71"/>
                  </a:lnTo>
                  <a:lnTo>
                    <a:pt x="309" y="98"/>
                  </a:lnTo>
                  <a:lnTo>
                    <a:pt x="318" y="128"/>
                  </a:lnTo>
                  <a:lnTo>
                    <a:pt x="321" y="159"/>
                  </a:lnTo>
                  <a:lnTo>
                    <a:pt x="318" y="192"/>
                  </a:lnTo>
                  <a:lnTo>
                    <a:pt x="309" y="222"/>
                  </a:lnTo>
                  <a:lnTo>
                    <a:pt x="294" y="249"/>
                  </a:lnTo>
                  <a:lnTo>
                    <a:pt x="274" y="272"/>
                  </a:lnTo>
                  <a:lnTo>
                    <a:pt x="250" y="292"/>
                  </a:lnTo>
                  <a:lnTo>
                    <a:pt x="223" y="306"/>
                  </a:lnTo>
                  <a:lnTo>
                    <a:pt x="193" y="316"/>
                  </a:lnTo>
                  <a:lnTo>
                    <a:pt x="161" y="319"/>
                  </a:lnTo>
                  <a:lnTo>
                    <a:pt x="128" y="316"/>
                  </a:lnTo>
                  <a:lnTo>
                    <a:pt x="99" y="306"/>
                  </a:lnTo>
                  <a:lnTo>
                    <a:pt x="72" y="292"/>
                  </a:lnTo>
                  <a:lnTo>
                    <a:pt x="48" y="272"/>
                  </a:lnTo>
                  <a:lnTo>
                    <a:pt x="28" y="249"/>
                  </a:lnTo>
                  <a:lnTo>
                    <a:pt x="13" y="222"/>
                  </a:lnTo>
                  <a:lnTo>
                    <a:pt x="4" y="192"/>
                  </a:lnTo>
                  <a:lnTo>
                    <a:pt x="0" y="159"/>
                  </a:lnTo>
                  <a:lnTo>
                    <a:pt x="4" y="128"/>
                  </a:lnTo>
                  <a:lnTo>
                    <a:pt x="13" y="98"/>
                  </a:lnTo>
                  <a:lnTo>
                    <a:pt x="28" y="71"/>
                  </a:lnTo>
                  <a:lnTo>
                    <a:pt x="48" y="47"/>
                  </a:lnTo>
                  <a:lnTo>
                    <a:pt x="72" y="28"/>
                  </a:lnTo>
                  <a:lnTo>
                    <a:pt x="99" y="14"/>
                  </a:lnTo>
                  <a:lnTo>
                    <a:pt x="128" y="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4" name="Google Shape;194;p37"/>
          <p:cNvSpPr/>
          <p:nvPr/>
        </p:nvSpPr>
        <p:spPr>
          <a:xfrm>
            <a:off x="2906617" y="4577423"/>
            <a:ext cx="1087650" cy="1087651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7"/>
          <p:cNvSpPr/>
          <p:nvPr/>
        </p:nvSpPr>
        <p:spPr>
          <a:xfrm>
            <a:off x="3192562" y="4803695"/>
            <a:ext cx="515767" cy="635117"/>
          </a:xfrm>
          <a:custGeom>
            <a:avLst/>
            <a:gdLst/>
            <a:ahLst/>
            <a:cxnLst/>
            <a:rect l="l" t="t" r="r" b="b"/>
            <a:pathLst>
              <a:path w="2908" h="3576" extrusionOk="0">
                <a:moveTo>
                  <a:pt x="2607" y="2605"/>
                </a:moveTo>
                <a:lnTo>
                  <a:pt x="2585" y="2607"/>
                </a:lnTo>
                <a:lnTo>
                  <a:pt x="2563" y="2613"/>
                </a:lnTo>
                <a:lnTo>
                  <a:pt x="2543" y="2623"/>
                </a:lnTo>
                <a:lnTo>
                  <a:pt x="2526" y="2640"/>
                </a:lnTo>
                <a:lnTo>
                  <a:pt x="2181" y="3027"/>
                </a:lnTo>
                <a:lnTo>
                  <a:pt x="2003" y="2884"/>
                </a:lnTo>
                <a:lnTo>
                  <a:pt x="1982" y="2871"/>
                </a:lnTo>
                <a:lnTo>
                  <a:pt x="1961" y="2863"/>
                </a:lnTo>
                <a:lnTo>
                  <a:pt x="1939" y="2861"/>
                </a:lnTo>
                <a:lnTo>
                  <a:pt x="1916" y="2863"/>
                </a:lnTo>
                <a:lnTo>
                  <a:pt x="1895" y="2871"/>
                </a:lnTo>
                <a:lnTo>
                  <a:pt x="1875" y="2882"/>
                </a:lnTo>
                <a:lnTo>
                  <a:pt x="1859" y="2899"/>
                </a:lnTo>
                <a:lnTo>
                  <a:pt x="1846" y="2919"/>
                </a:lnTo>
                <a:lnTo>
                  <a:pt x="1840" y="2941"/>
                </a:lnTo>
                <a:lnTo>
                  <a:pt x="1836" y="2963"/>
                </a:lnTo>
                <a:lnTo>
                  <a:pt x="1840" y="2985"/>
                </a:lnTo>
                <a:lnTo>
                  <a:pt x="1846" y="3007"/>
                </a:lnTo>
                <a:lnTo>
                  <a:pt x="1858" y="3026"/>
                </a:lnTo>
                <a:lnTo>
                  <a:pt x="1875" y="3043"/>
                </a:lnTo>
                <a:lnTo>
                  <a:pt x="2130" y="3247"/>
                </a:lnTo>
                <a:lnTo>
                  <a:pt x="2150" y="3260"/>
                </a:lnTo>
                <a:lnTo>
                  <a:pt x="2172" y="3267"/>
                </a:lnTo>
                <a:lnTo>
                  <a:pt x="2193" y="3269"/>
                </a:lnTo>
                <a:lnTo>
                  <a:pt x="2215" y="3267"/>
                </a:lnTo>
                <a:lnTo>
                  <a:pt x="2235" y="3261"/>
                </a:lnTo>
                <a:lnTo>
                  <a:pt x="2254" y="3250"/>
                </a:lnTo>
                <a:lnTo>
                  <a:pt x="2270" y="3236"/>
                </a:lnTo>
                <a:lnTo>
                  <a:pt x="2678" y="2775"/>
                </a:lnTo>
                <a:lnTo>
                  <a:pt x="2691" y="2756"/>
                </a:lnTo>
                <a:lnTo>
                  <a:pt x="2700" y="2735"/>
                </a:lnTo>
                <a:lnTo>
                  <a:pt x="2704" y="2712"/>
                </a:lnTo>
                <a:lnTo>
                  <a:pt x="2702" y="2691"/>
                </a:lnTo>
                <a:lnTo>
                  <a:pt x="2697" y="2669"/>
                </a:lnTo>
                <a:lnTo>
                  <a:pt x="2686" y="2648"/>
                </a:lnTo>
                <a:lnTo>
                  <a:pt x="2670" y="2631"/>
                </a:lnTo>
                <a:lnTo>
                  <a:pt x="2650" y="2618"/>
                </a:lnTo>
                <a:lnTo>
                  <a:pt x="2629" y="2609"/>
                </a:lnTo>
                <a:lnTo>
                  <a:pt x="2607" y="2605"/>
                </a:lnTo>
                <a:close/>
                <a:moveTo>
                  <a:pt x="970" y="2503"/>
                </a:moveTo>
                <a:lnTo>
                  <a:pt x="1428" y="2503"/>
                </a:lnTo>
                <a:lnTo>
                  <a:pt x="1445" y="2505"/>
                </a:lnTo>
                <a:lnTo>
                  <a:pt x="1459" y="2513"/>
                </a:lnTo>
                <a:lnTo>
                  <a:pt x="1469" y="2524"/>
                </a:lnTo>
                <a:lnTo>
                  <a:pt x="1477" y="2538"/>
                </a:lnTo>
                <a:lnTo>
                  <a:pt x="1479" y="2554"/>
                </a:lnTo>
                <a:lnTo>
                  <a:pt x="1479" y="2605"/>
                </a:lnTo>
                <a:lnTo>
                  <a:pt x="1477" y="2621"/>
                </a:lnTo>
                <a:lnTo>
                  <a:pt x="1469" y="2635"/>
                </a:lnTo>
                <a:lnTo>
                  <a:pt x="1459" y="2646"/>
                </a:lnTo>
                <a:lnTo>
                  <a:pt x="1445" y="2654"/>
                </a:lnTo>
                <a:lnTo>
                  <a:pt x="1428" y="2656"/>
                </a:lnTo>
                <a:lnTo>
                  <a:pt x="970" y="2656"/>
                </a:lnTo>
                <a:lnTo>
                  <a:pt x="953" y="2654"/>
                </a:lnTo>
                <a:lnTo>
                  <a:pt x="939" y="2646"/>
                </a:lnTo>
                <a:lnTo>
                  <a:pt x="928" y="2635"/>
                </a:lnTo>
                <a:lnTo>
                  <a:pt x="921" y="2621"/>
                </a:lnTo>
                <a:lnTo>
                  <a:pt x="919" y="2605"/>
                </a:lnTo>
                <a:lnTo>
                  <a:pt x="919" y="2554"/>
                </a:lnTo>
                <a:lnTo>
                  <a:pt x="921" y="2538"/>
                </a:lnTo>
                <a:lnTo>
                  <a:pt x="928" y="2524"/>
                </a:lnTo>
                <a:lnTo>
                  <a:pt x="939" y="2513"/>
                </a:lnTo>
                <a:lnTo>
                  <a:pt x="953" y="2505"/>
                </a:lnTo>
                <a:lnTo>
                  <a:pt x="970" y="2503"/>
                </a:lnTo>
                <a:close/>
                <a:moveTo>
                  <a:pt x="790" y="2388"/>
                </a:moveTo>
                <a:lnTo>
                  <a:pt x="804" y="2392"/>
                </a:lnTo>
                <a:lnTo>
                  <a:pt x="817" y="2400"/>
                </a:lnTo>
                <a:lnTo>
                  <a:pt x="827" y="2411"/>
                </a:lnTo>
                <a:lnTo>
                  <a:pt x="832" y="2425"/>
                </a:lnTo>
                <a:lnTo>
                  <a:pt x="832" y="2439"/>
                </a:lnTo>
                <a:lnTo>
                  <a:pt x="829" y="2453"/>
                </a:lnTo>
                <a:lnTo>
                  <a:pt x="821" y="2466"/>
                </a:lnTo>
                <a:lnTo>
                  <a:pt x="633" y="2678"/>
                </a:lnTo>
                <a:lnTo>
                  <a:pt x="622" y="2686"/>
                </a:lnTo>
                <a:lnTo>
                  <a:pt x="610" y="2692"/>
                </a:lnTo>
                <a:lnTo>
                  <a:pt x="597" y="2694"/>
                </a:lnTo>
                <a:lnTo>
                  <a:pt x="582" y="2691"/>
                </a:lnTo>
                <a:lnTo>
                  <a:pt x="568" y="2683"/>
                </a:lnTo>
                <a:lnTo>
                  <a:pt x="451" y="2589"/>
                </a:lnTo>
                <a:lnTo>
                  <a:pt x="441" y="2578"/>
                </a:lnTo>
                <a:lnTo>
                  <a:pt x="435" y="2565"/>
                </a:lnTo>
                <a:lnTo>
                  <a:pt x="434" y="2551"/>
                </a:lnTo>
                <a:lnTo>
                  <a:pt x="436" y="2537"/>
                </a:lnTo>
                <a:lnTo>
                  <a:pt x="444" y="2523"/>
                </a:lnTo>
                <a:lnTo>
                  <a:pt x="454" y="2513"/>
                </a:lnTo>
                <a:lnTo>
                  <a:pt x="468" y="2508"/>
                </a:lnTo>
                <a:lnTo>
                  <a:pt x="483" y="2505"/>
                </a:lnTo>
                <a:lnTo>
                  <a:pt x="497" y="2509"/>
                </a:lnTo>
                <a:lnTo>
                  <a:pt x="510" y="2516"/>
                </a:lnTo>
                <a:lnTo>
                  <a:pt x="592" y="2582"/>
                </a:lnTo>
                <a:lnTo>
                  <a:pt x="751" y="2404"/>
                </a:lnTo>
                <a:lnTo>
                  <a:pt x="762" y="2394"/>
                </a:lnTo>
                <a:lnTo>
                  <a:pt x="776" y="2389"/>
                </a:lnTo>
                <a:lnTo>
                  <a:pt x="790" y="2388"/>
                </a:lnTo>
                <a:close/>
                <a:moveTo>
                  <a:pt x="2245" y="2247"/>
                </a:moveTo>
                <a:lnTo>
                  <a:pt x="2312" y="2251"/>
                </a:lnTo>
                <a:lnTo>
                  <a:pt x="2378" y="2262"/>
                </a:lnTo>
                <a:lnTo>
                  <a:pt x="2442" y="2278"/>
                </a:lnTo>
                <a:lnTo>
                  <a:pt x="2503" y="2299"/>
                </a:lnTo>
                <a:lnTo>
                  <a:pt x="2561" y="2328"/>
                </a:lnTo>
                <a:lnTo>
                  <a:pt x="2615" y="2361"/>
                </a:lnTo>
                <a:lnTo>
                  <a:pt x="2666" y="2399"/>
                </a:lnTo>
                <a:lnTo>
                  <a:pt x="2714" y="2443"/>
                </a:lnTo>
                <a:lnTo>
                  <a:pt x="2756" y="2489"/>
                </a:lnTo>
                <a:lnTo>
                  <a:pt x="2795" y="2540"/>
                </a:lnTo>
                <a:lnTo>
                  <a:pt x="2828" y="2595"/>
                </a:lnTo>
                <a:lnTo>
                  <a:pt x="2856" y="2654"/>
                </a:lnTo>
                <a:lnTo>
                  <a:pt x="2878" y="2715"/>
                </a:lnTo>
                <a:lnTo>
                  <a:pt x="2895" y="2778"/>
                </a:lnTo>
                <a:lnTo>
                  <a:pt x="2904" y="2843"/>
                </a:lnTo>
                <a:lnTo>
                  <a:pt x="2908" y="2912"/>
                </a:lnTo>
                <a:lnTo>
                  <a:pt x="2904" y="2980"/>
                </a:lnTo>
                <a:lnTo>
                  <a:pt x="2895" y="3046"/>
                </a:lnTo>
                <a:lnTo>
                  <a:pt x="2878" y="3109"/>
                </a:lnTo>
                <a:lnTo>
                  <a:pt x="2856" y="3171"/>
                </a:lnTo>
                <a:lnTo>
                  <a:pt x="2828" y="3228"/>
                </a:lnTo>
                <a:lnTo>
                  <a:pt x="2795" y="3283"/>
                </a:lnTo>
                <a:lnTo>
                  <a:pt x="2756" y="3334"/>
                </a:lnTo>
                <a:lnTo>
                  <a:pt x="2714" y="3381"/>
                </a:lnTo>
                <a:lnTo>
                  <a:pt x="2666" y="3424"/>
                </a:lnTo>
                <a:lnTo>
                  <a:pt x="2615" y="3462"/>
                </a:lnTo>
                <a:lnTo>
                  <a:pt x="2561" y="3496"/>
                </a:lnTo>
                <a:lnTo>
                  <a:pt x="2503" y="3524"/>
                </a:lnTo>
                <a:lnTo>
                  <a:pt x="2442" y="3546"/>
                </a:lnTo>
                <a:lnTo>
                  <a:pt x="2378" y="3563"/>
                </a:lnTo>
                <a:lnTo>
                  <a:pt x="2312" y="3573"/>
                </a:lnTo>
                <a:lnTo>
                  <a:pt x="2245" y="3576"/>
                </a:lnTo>
                <a:lnTo>
                  <a:pt x="2177" y="3573"/>
                </a:lnTo>
                <a:lnTo>
                  <a:pt x="2111" y="3563"/>
                </a:lnTo>
                <a:lnTo>
                  <a:pt x="2047" y="3546"/>
                </a:lnTo>
                <a:lnTo>
                  <a:pt x="1987" y="3524"/>
                </a:lnTo>
                <a:lnTo>
                  <a:pt x="1928" y="3496"/>
                </a:lnTo>
                <a:lnTo>
                  <a:pt x="1874" y="3462"/>
                </a:lnTo>
                <a:lnTo>
                  <a:pt x="1823" y="3424"/>
                </a:lnTo>
                <a:lnTo>
                  <a:pt x="1776" y="3381"/>
                </a:lnTo>
                <a:lnTo>
                  <a:pt x="1733" y="3334"/>
                </a:lnTo>
                <a:lnTo>
                  <a:pt x="1695" y="3283"/>
                </a:lnTo>
                <a:lnTo>
                  <a:pt x="1662" y="3228"/>
                </a:lnTo>
                <a:lnTo>
                  <a:pt x="1634" y="3171"/>
                </a:lnTo>
                <a:lnTo>
                  <a:pt x="1611" y="3109"/>
                </a:lnTo>
                <a:lnTo>
                  <a:pt x="1595" y="3046"/>
                </a:lnTo>
                <a:lnTo>
                  <a:pt x="1585" y="2980"/>
                </a:lnTo>
                <a:lnTo>
                  <a:pt x="1582" y="2912"/>
                </a:lnTo>
                <a:lnTo>
                  <a:pt x="1585" y="2843"/>
                </a:lnTo>
                <a:lnTo>
                  <a:pt x="1595" y="2778"/>
                </a:lnTo>
                <a:lnTo>
                  <a:pt x="1611" y="2715"/>
                </a:lnTo>
                <a:lnTo>
                  <a:pt x="1634" y="2654"/>
                </a:lnTo>
                <a:lnTo>
                  <a:pt x="1662" y="2595"/>
                </a:lnTo>
                <a:lnTo>
                  <a:pt x="1695" y="2540"/>
                </a:lnTo>
                <a:lnTo>
                  <a:pt x="1733" y="2489"/>
                </a:lnTo>
                <a:lnTo>
                  <a:pt x="1776" y="2443"/>
                </a:lnTo>
                <a:lnTo>
                  <a:pt x="1823" y="2399"/>
                </a:lnTo>
                <a:lnTo>
                  <a:pt x="1874" y="2361"/>
                </a:lnTo>
                <a:lnTo>
                  <a:pt x="1928" y="2328"/>
                </a:lnTo>
                <a:lnTo>
                  <a:pt x="1987" y="2299"/>
                </a:lnTo>
                <a:lnTo>
                  <a:pt x="2047" y="2278"/>
                </a:lnTo>
                <a:lnTo>
                  <a:pt x="2111" y="2262"/>
                </a:lnTo>
                <a:lnTo>
                  <a:pt x="2177" y="2251"/>
                </a:lnTo>
                <a:lnTo>
                  <a:pt x="2245" y="2247"/>
                </a:lnTo>
                <a:close/>
                <a:moveTo>
                  <a:pt x="970" y="2044"/>
                </a:moveTo>
                <a:lnTo>
                  <a:pt x="1531" y="2044"/>
                </a:lnTo>
                <a:lnTo>
                  <a:pt x="1546" y="2046"/>
                </a:lnTo>
                <a:lnTo>
                  <a:pt x="1560" y="2053"/>
                </a:lnTo>
                <a:lnTo>
                  <a:pt x="1572" y="2064"/>
                </a:lnTo>
                <a:lnTo>
                  <a:pt x="1579" y="2078"/>
                </a:lnTo>
                <a:lnTo>
                  <a:pt x="1582" y="2095"/>
                </a:lnTo>
                <a:lnTo>
                  <a:pt x="1582" y="2146"/>
                </a:lnTo>
                <a:lnTo>
                  <a:pt x="1579" y="2162"/>
                </a:lnTo>
                <a:lnTo>
                  <a:pt x="1572" y="2176"/>
                </a:lnTo>
                <a:lnTo>
                  <a:pt x="1560" y="2187"/>
                </a:lnTo>
                <a:lnTo>
                  <a:pt x="1546" y="2194"/>
                </a:lnTo>
                <a:lnTo>
                  <a:pt x="1531" y="2197"/>
                </a:lnTo>
                <a:lnTo>
                  <a:pt x="970" y="2197"/>
                </a:lnTo>
                <a:lnTo>
                  <a:pt x="953" y="2194"/>
                </a:lnTo>
                <a:lnTo>
                  <a:pt x="939" y="2187"/>
                </a:lnTo>
                <a:lnTo>
                  <a:pt x="928" y="2176"/>
                </a:lnTo>
                <a:lnTo>
                  <a:pt x="921" y="2162"/>
                </a:lnTo>
                <a:lnTo>
                  <a:pt x="919" y="2146"/>
                </a:lnTo>
                <a:lnTo>
                  <a:pt x="919" y="2095"/>
                </a:lnTo>
                <a:lnTo>
                  <a:pt x="921" y="2078"/>
                </a:lnTo>
                <a:lnTo>
                  <a:pt x="928" y="2064"/>
                </a:lnTo>
                <a:lnTo>
                  <a:pt x="939" y="2053"/>
                </a:lnTo>
                <a:lnTo>
                  <a:pt x="953" y="2046"/>
                </a:lnTo>
                <a:lnTo>
                  <a:pt x="970" y="2044"/>
                </a:lnTo>
                <a:close/>
                <a:moveTo>
                  <a:pt x="790" y="1951"/>
                </a:moveTo>
                <a:lnTo>
                  <a:pt x="804" y="1954"/>
                </a:lnTo>
                <a:lnTo>
                  <a:pt x="817" y="1962"/>
                </a:lnTo>
                <a:lnTo>
                  <a:pt x="827" y="1973"/>
                </a:lnTo>
                <a:lnTo>
                  <a:pt x="832" y="1987"/>
                </a:lnTo>
                <a:lnTo>
                  <a:pt x="832" y="2001"/>
                </a:lnTo>
                <a:lnTo>
                  <a:pt x="829" y="2016"/>
                </a:lnTo>
                <a:lnTo>
                  <a:pt x="821" y="2029"/>
                </a:lnTo>
                <a:lnTo>
                  <a:pt x="633" y="2240"/>
                </a:lnTo>
                <a:lnTo>
                  <a:pt x="622" y="2249"/>
                </a:lnTo>
                <a:lnTo>
                  <a:pt x="610" y="2254"/>
                </a:lnTo>
                <a:lnTo>
                  <a:pt x="597" y="2256"/>
                </a:lnTo>
                <a:lnTo>
                  <a:pt x="582" y="2253"/>
                </a:lnTo>
                <a:lnTo>
                  <a:pt x="568" y="2245"/>
                </a:lnTo>
                <a:lnTo>
                  <a:pt x="451" y="2151"/>
                </a:lnTo>
                <a:lnTo>
                  <a:pt x="441" y="2140"/>
                </a:lnTo>
                <a:lnTo>
                  <a:pt x="435" y="2127"/>
                </a:lnTo>
                <a:lnTo>
                  <a:pt x="434" y="2113"/>
                </a:lnTo>
                <a:lnTo>
                  <a:pt x="436" y="2099"/>
                </a:lnTo>
                <a:lnTo>
                  <a:pt x="444" y="2085"/>
                </a:lnTo>
                <a:lnTo>
                  <a:pt x="454" y="2075"/>
                </a:lnTo>
                <a:lnTo>
                  <a:pt x="468" y="2070"/>
                </a:lnTo>
                <a:lnTo>
                  <a:pt x="483" y="2068"/>
                </a:lnTo>
                <a:lnTo>
                  <a:pt x="497" y="2071"/>
                </a:lnTo>
                <a:lnTo>
                  <a:pt x="510" y="2078"/>
                </a:lnTo>
                <a:lnTo>
                  <a:pt x="592" y="2145"/>
                </a:lnTo>
                <a:lnTo>
                  <a:pt x="751" y="1966"/>
                </a:lnTo>
                <a:lnTo>
                  <a:pt x="762" y="1956"/>
                </a:lnTo>
                <a:lnTo>
                  <a:pt x="776" y="1952"/>
                </a:lnTo>
                <a:lnTo>
                  <a:pt x="790" y="1951"/>
                </a:lnTo>
                <a:close/>
                <a:moveTo>
                  <a:pt x="970" y="1635"/>
                </a:moveTo>
                <a:lnTo>
                  <a:pt x="1785" y="1635"/>
                </a:lnTo>
                <a:lnTo>
                  <a:pt x="1802" y="1637"/>
                </a:lnTo>
                <a:lnTo>
                  <a:pt x="1816" y="1645"/>
                </a:lnTo>
                <a:lnTo>
                  <a:pt x="1827" y="1656"/>
                </a:lnTo>
                <a:lnTo>
                  <a:pt x="1834" y="1670"/>
                </a:lnTo>
                <a:lnTo>
                  <a:pt x="1836" y="1686"/>
                </a:lnTo>
                <a:lnTo>
                  <a:pt x="1836" y="1737"/>
                </a:lnTo>
                <a:lnTo>
                  <a:pt x="1834" y="1753"/>
                </a:lnTo>
                <a:lnTo>
                  <a:pt x="1827" y="1767"/>
                </a:lnTo>
                <a:lnTo>
                  <a:pt x="1816" y="1778"/>
                </a:lnTo>
                <a:lnTo>
                  <a:pt x="1802" y="1786"/>
                </a:lnTo>
                <a:lnTo>
                  <a:pt x="1785" y="1788"/>
                </a:lnTo>
                <a:lnTo>
                  <a:pt x="970" y="1788"/>
                </a:lnTo>
                <a:lnTo>
                  <a:pt x="953" y="1786"/>
                </a:lnTo>
                <a:lnTo>
                  <a:pt x="939" y="1778"/>
                </a:lnTo>
                <a:lnTo>
                  <a:pt x="928" y="1767"/>
                </a:lnTo>
                <a:lnTo>
                  <a:pt x="921" y="1753"/>
                </a:lnTo>
                <a:lnTo>
                  <a:pt x="919" y="1737"/>
                </a:lnTo>
                <a:lnTo>
                  <a:pt x="919" y="1686"/>
                </a:lnTo>
                <a:lnTo>
                  <a:pt x="921" y="1670"/>
                </a:lnTo>
                <a:lnTo>
                  <a:pt x="928" y="1656"/>
                </a:lnTo>
                <a:lnTo>
                  <a:pt x="939" y="1645"/>
                </a:lnTo>
                <a:lnTo>
                  <a:pt x="953" y="1637"/>
                </a:lnTo>
                <a:lnTo>
                  <a:pt x="970" y="1635"/>
                </a:lnTo>
                <a:close/>
                <a:moveTo>
                  <a:pt x="790" y="1516"/>
                </a:moveTo>
                <a:lnTo>
                  <a:pt x="804" y="1519"/>
                </a:lnTo>
                <a:lnTo>
                  <a:pt x="817" y="1528"/>
                </a:lnTo>
                <a:lnTo>
                  <a:pt x="827" y="1539"/>
                </a:lnTo>
                <a:lnTo>
                  <a:pt x="832" y="1553"/>
                </a:lnTo>
                <a:lnTo>
                  <a:pt x="832" y="1567"/>
                </a:lnTo>
                <a:lnTo>
                  <a:pt x="829" y="1581"/>
                </a:lnTo>
                <a:lnTo>
                  <a:pt x="821" y="1594"/>
                </a:lnTo>
                <a:lnTo>
                  <a:pt x="633" y="1805"/>
                </a:lnTo>
                <a:lnTo>
                  <a:pt x="622" y="1814"/>
                </a:lnTo>
                <a:lnTo>
                  <a:pt x="610" y="1819"/>
                </a:lnTo>
                <a:lnTo>
                  <a:pt x="597" y="1822"/>
                </a:lnTo>
                <a:lnTo>
                  <a:pt x="582" y="1818"/>
                </a:lnTo>
                <a:lnTo>
                  <a:pt x="568" y="1811"/>
                </a:lnTo>
                <a:lnTo>
                  <a:pt x="451" y="1716"/>
                </a:lnTo>
                <a:lnTo>
                  <a:pt x="441" y="1706"/>
                </a:lnTo>
                <a:lnTo>
                  <a:pt x="435" y="1693"/>
                </a:lnTo>
                <a:lnTo>
                  <a:pt x="434" y="1679"/>
                </a:lnTo>
                <a:lnTo>
                  <a:pt x="436" y="1663"/>
                </a:lnTo>
                <a:lnTo>
                  <a:pt x="444" y="1650"/>
                </a:lnTo>
                <a:lnTo>
                  <a:pt x="454" y="1641"/>
                </a:lnTo>
                <a:lnTo>
                  <a:pt x="468" y="1635"/>
                </a:lnTo>
                <a:lnTo>
                  <a:pt x="483" y="1633"/>
                </a:lnTo>
                <a:lnTo>
                  <a:pt x="497" y="1636"/>
                </a:lnTo>
                <a:lnTo>
                  <a:pt x="510" y="1644"/>
                </a:lnTo>
                <a:lnTo>
                  <a:pt x="592" y="1710"/>
                </a:lnTo>
                <a:lnTo>
                  <a:pt x="751" y="1531"/>
                </a:lnTo>
                <a:lnTo>
                  <a:pt x="762" y="1521"/>
                </a:lnTo>
                <a:lnTo>
                  <a:pt x="776" y="1517"/>
                </a:lnTo>
                <a:lnTo>
                  <a:pt x="790" y="1516"/>
                </a:lnTo>
                <a:close/>
                <a:moveTo>
                  <a:pt x="970" y="1175"/>
                </a:moveTo>
                <a:lnTo>
                  <a:pt x="1785" y="1175"/>
                </a:lnTo>
                <a:lnTo>
                  <a:pt x="1802" y="1178"/>
                </a:lnTo>
                <a:lnTo>
                  <a:pt x="1816" y="1184"/>
                </a:lnTo>
                <a:lnTo>
                  <a:pt x="1827" y="1196"/>
                </a:lnTo>
                <a:lnTo>
                  <a:pt x="1834" y="1210"/>
                </a:lnTo>
                <a:lnTo>
                  <a:pt x="1836" y="1226"/>
                </a:lnTo>
                <a:lnTo>
                  <a:pt x="1836" y="1278"/>
                </a:lnTo>
                <a:lnTo>
                  <a:pt x="1834" y="1293"/>
                </a:lnTo>
                <a:lnTo>
                  <a:pt x="1827" y="1307"/>
                </a:lnTo>
                <a:lnTo>
                  <a:pt x="1816" y="1319"/>
                </a:lnTo>
                <a:lnTo>
                  <a:pt x="1802" y="1325"/>
                </a:lnTo>
                <a:lnTo>
                  <a:pt x="1785" y="1329"/>
                </a:lnTo>
                <a:lnTo>
                  <a:pt x="970" y="1329"/>
                </a:lnTo>
                <a:lnTo>
                  <a:pt x="953" y="1325"/>
                </a:lnTo>
                <a:lnTo>
                  <a:pt x="939" y="1319"/>
                </a:lnTo>
                <a:lnTo>
                  <a:pt x="928" y="1307"/>
                </a:lnTo>
                <a:lnTo>
                  <a:pt x="921" y="1293"/>
                </a:lnTo>
                <a:lnTo>
                  <a:pt x="919" y="1278"/>
                </a:lnTo>
                <a:lnTo>
                  <a:pt x="919" y="1226"/>
                </a:lnTo>
                <a:lnTo>
                  <a:pt x="921" y="1210"/>
                </a:lnTo>
                <a:lnTo>
                  <a:pt x="928" y="1196"/>
                </a:lnTo>
                <a:lnTo>
                  <a:pt x="939" y="1184"/>
                </a:lnTo>
                <a:lnTo>
                  <a:pt x="953" y="1178"/>
                </a:lnTo>
                <a:lnTo>
                  <a:pt x="970" y="1175"/>
                </a:lnTo>
                <a:close/>
                <a:moveTo>
                  <a:pt x="790" y="1061"/>
                </a:moveTo>
                <a:lnTo>
                  <a:pt x="804" y="1065"/>
                </a:lnTo>
                <a:lnTo>
                  <a:pt x="817" y="1073"/>
                </a:lnTo>
                <a:lnTo>
                  <a:pt x="827" y="1085"/>
                </a:lnTo>
                <a:lnTo>
                  <a:pt x="832" y="1098"/>
                </a:lnTo>
                <a:lnTo>
                  <a:pt x="832" y="1113"/>
                </a:lnTo>
                <a:lnTo>
                  <a:pt x="829" y="1127"/>
                </a:lnTo>
                <a:lnTo>
                  <a:pt x="821" y="1139"/>
                </a:lnTo>
                <a:lnTo>
                  <a:pt x="633" y="1351"/>
                </a:lnTo>
                <a:lnTo>
                  <a:pt x="622" y="1360"/>
                </a:lnTo>
                <a:lnTo>
                  <a:pt x="610" y="1365"/>
                </a:lnTo>
                <a:lnTo>
                  <a:pt x="597" y="1366"/>
                </a:lnTo>
                <a:lnTo>
                  <a:pt x="582" y="1364"/>
                </a:lnTo>
                <a:lnTo>
                  <a:pt x="568" y="1357"/>
                </a:lnTo>
                <a:lnTo>
                  <a:pt x="451" y="1262"/>
                </a:lnTo>
                <a:lnTo>
                  <a:pt x="441" y="1252"/>
                </a:lnTo>
                <a:lnTo>
                  <a:pt x="435" y="1238"/>
                </a:lnTo>
                <a:lnTo>
                  <a:pt x="434" y="1223"/>
                </a:lnTo>
                <a:lnTo>
                  <a:pt x="436" y="1209"/>
                </a:lnTo>
                <a:lnTo>
                  <a:pt x="444" y="1196"/>
                </a:lnTo>
                <a:lnTo>
                  <a:pt x="454" y="1187"/>
                </a:lnTo>
                <a:lnTo>
                  <a:pt x="468" y="1180"/>
                </a:lnTo>
                <a:lnTo>
                  <a:pt x="483" y="1179"/>
                </a:lnTo>
                <a:lnTo>
                  <a:pt x="497" y="1181"/>
                </a:lnTo>
                <a:lnTo>
                  <a:pt x="510" y="1189"/>
                </a:lnTo>
                <a:lnTo>
                  <a:pt x="592" y="1255"/>
                </a:lnTo>
                <a:lnTo>
                  <a:pt x="751" y="1077"/>
                </a:lnTo>
                <a:lnTo>
                  <a:pt x="762" y="1067"/>
                </a:lnTo>
                <a:lnTo>
                  <a:pt x="776" y="1062"/>
                </a:lnTo>
                <a:lnTo>
                  <a:pt x="790" y="1061"/>
                </a:lnTo>
                <a:close/>
                <a:moveTo>
                  <a:pt x="154" y="358"/>
                </a:moveTo>
                <a:lnTo>
                  <a:pt x="567" y="358"/>
                </a:lnTo>
                <a:lnTo>
                  <a:pt x="563" y="384"/>
                </a:lnTo>
                <a:lnTo>
                  <a:pt x="562" y="411"/>
                </a:lnTo>
                <a:lnTo>
                  <a:pt x="565" y="452"/>
                </a:lnTo>
                <a:lnTo>
                  <a:pt x="575" y="491"/>
                </a:lnTo>
                <a:lnTo>
                  <a:pt x="590" y="527"/>
                </a:lnTo>
                <a:lnTo>
                  <a:pt x="610" y="560"/>
                </a:lnTo>
                <a:lnTo>
                  <a:pt x="635" y="589"/>
                </a:lnTo>
                <a:lnTo>
                  <a:pt x="665" y="616"/>
                </a:lnTo>
                <a:lnTo>
                  <a:pt x="699" y="636"/>
                </a:lnTo>
                <a:lnTo>
                  <a:pt x="735" y="651"/>
                </a:lnTo>
                <a:lnTo>
                  <a:pt x="774" y="661"/>
                </a:lnTo>
                <a:lnTo>
                  <a:pt x="815" y="664"/>
                </a:lnTo>
                <a:lnTo>
                  <a:pt x="1481" y="664"/>
                </a:lnTo>
                <a:lnTo>
                  <a:pt x="1522" y="661"/>
                </a:lnTo>
                <a:lnTo>
                  <a:pt x="1561" y="651"/>
                </a:lnTo>
                <a:lnTo>
                  <a:pt x="1597" y="636"/>
                </a:lnTo>
                <a:lnTo>
                  <a:pt x="1631" y="614"/>
                </a:lnTo>
                <a:lnTo>
                  <a:pt x="1660" y="589"/>
                </a:lnTo>
                <a:lnTo>
                  <a:pt x="1686" y="559"/>
                </a:lnTo>
                <a:lnTo>
                  <a:pt x="1706" y="526"/>
                </a:lnTo>
                <a:lnTo>
                  <a:pt x="1722" y="489"/>
                </a:lnTo>
                <a:lnTo>
                  <a:pt x="1731" y="449"/>
                </a:lnTo>
                <a:lnTo>
                  <a:pt x="1735" y="407"/>
                </a:lnTo>
                <a:lnTo>
                  <a:pt x="1733" y="383"/>
                </a:lnTo>
                <a:lnTo>
                  <a:pt x="1729" y="358"/>
                </a:lnTo>
                <a:lnTo>
                  <a:pt x="2041" y="358"/>
                </a:lnTo>
                <a:lnTo>
                  <a:pt x="2084" y="360"/>
                </a:lnTo>
                <a:lnTo>
                  <a:pt x="2123" y="366"/>
                </a:lnTo>
                <a:lnTo>
                  <a:pt x="2158" y="377"/>
                </a:lnTo>
                <a:lnTo>
                  <a:pt x="2190" y="390"/>
                </a:lnTo>
                <a:lnTo>
                  <a:pt x="2217" y="407"/>
                </a:lnTo>
                <a:lnTo>
                  <a:pt x="2241" y="428"/>
                </a:lnTo>
                <a:lnTo>
                  <a:pt x="2260" y="451"/>
                </a:lnTo>
                <a:lnTo>
                  <a:pt x="2276" y="476"/>
                </a:lnTo>
                <a:lnTo>
                  <a:pt x="2286" y="503"/>
                </a:lnTo>
                <a:lnTo>
                  <a:pt x="2294" y="532"/>
                </a:lnTo>
                <a:lnTo>
                  <a:pt x="2296" y="562"/>
                </a:lnTo>
                <a:lnTo>
                  <a:pt x="2296" y="2097"/>
                </a:lnTo>
                <a:lnTo>
                  <a:pt x="2270" y="2096"/>
                </a:lnTo>
                <a:lnTo>
                  <a:pt x="2245" y="2095"/>
                </a:lnTo>
                <a:lnTo>
                  <a:pt x="2175" y="2098"/>
                </a:lnTo>
                <a:lnTo>
                  <a:pt x="2107" y="2107"/>
                </a:lnTo>
                <a:lnTo>
                  <a:pt x="2041" y="2122"/>
                </a:lnTo>
                <a:lnTo>
                  <a:pt x="2041" y="920"/>
                </a:lnTo>
                <a:lnTo>
                  <a:pt x="255" y="920"/>
                </a:lnTo>
                <a:lnTo>
                  <a:pt x="255" y="2963"/>
                </a:lnTo>
                <a:lnTo>
                  <a:pt x="1432" y="2963"/>
                </a:lnTo>
                <a:lnTo>
                  <a:pt x="1438" y="3030"/>
                </a:lnTo>
                <a:lnTo>
                  <a:pt x="1450" y="3095"/>
                </a:lnTo>
                <a:lnTo>
                  <a:pt x="1467" y="3158"/>
                </a:lnTo>
                <a:lnTo>
                  <a:pt x="1489" y="3218"/>
                </a:lnTo>
                <a:lnTo>
                  <a:pt x="204" y="3218"/>
                </a:lnTo>
                <a:lnTo>
                  <a:pt x="168" y="3215"/>
                </a:lnTo>
                <a:lnTo>
                  <a:pt x="133" y="3205"/>
                </a:lnTo>
                <a:lnTo>
                  <a:pt x="102" y="3190"/>
                </a:lnTo>
                <a:lnTo>
                  <a:pt x="72" y="3171"/>
                </a:lnTo>
                <a:lnTo>
                  <a:pt x="49" y="3146"/>
                </a:lnTo>
                <a:lnTo>
                  <a:pt x="28" y="3118"/>
                </a:lnTo>
                <a:lnTo>
                  <a:pt x="13" y="3085"/>
                </a:lnTo>
                <a:lnTo>
                  <a:pt x="3" y="3050"/>
                </a:lnTo>
                <a:lnTo>
                  <a:pt x="0" y="3014"/>
                </a:lnTo>
                <a:lnTo>
                  <a:pt x="0" y="562"/>
                </a:lnTo>
                <a:lnTo>
                  <a:pt x="3" y="529"/>
                </a:lnTo>
                <a:lnTo>
                  <a:pt x="10" y="497"/>
                </a:lnTo>
                <a:lnTo>
                  <a:pt x="22" y="468"/>
                </a:lnTo>
                <a:lnTo>
                  <a:pt x="37" y="441"/>
                </a:lnTo>
                <a:lnTo>
                  <a:pt x="54" y="417"/>
                </a:lnTo>
                <a:lnTo>
                  <a:pt x="72" y="397"/>
                </a:lnTo>
                <a:lnTo>
                  <a:pt x="93" y="380"/>
                </a:lnTo>
                <a:lnTo>
                  <a:pt x="114" y="368"/>
                </a:lnTo>
                <a:lnTo>
                  <a:pt x="134" y="360"/>
                </a:lnTo>
                <a:lnTo>
                  <a:pt x="154" y="358"/>
                </a:lnTo>
                <a:close/>
                <a:moveTo>
                  <a:pt x="1148" y="102"/>
                </a:moveTo>
                <a:lnTo>
                  <a:pt x="1127" y="105"/>
                </a:lnTo>
                <a:lnTo>
                  <a:pt x="1109" y="113"/>
                </a:lnTo>
                <a:lnTo>
                  <a:pt x="1094" y="125"/>
                </a:lnTo>
                <a:lnTo>
                  <a:pt x="1082" y="140"/>
                </a:lnTo>
                <a:lnTo>
                  <a:pt x="1074" y="158"/>
                </a:lnTo>
                <a:lnTo>
                  <a:pt x="1071" y="179"/>
                </a:lnTo>
                <a:lnTo>
                  <a:pt x="1074" y="199"/>
                </a:lnTo>
                <a:lnTo>
                  <a:pt x="1082" y="218"/>
                </a:lnTo>
                <a:lnTo>
                  <a:pt x="1094" y="233"/>
                </a:lnTo>
                <a:lnTo>
                  <a:pt x="1109" y="245"/>
                </a:lnTo>
                <a:lnTo>
                  <a:pt x="1127" y="252"/>
                </a:lnTo>
                <a:lnTo>
                  <a:pt x="1148" y="256"/>
                </a:lnTo>
                <a:lnTo>
                  <a:pt x="1169" y="252"/>
                </a:lnTo>
                <a:lnTo>
                  <a:pt x="1187" y="245"/>
                </a:lnTo>
                <a:lnTo>
                  <a:pt x="1202" y="233"/>
                </a:lnTo>
                <a:lnTo>
                  <a:pt x="1214" y="218"/>
                </a:lnTo>
                <a:lnTo>
                  <a:pt x="1222" y="199"/>
                </a:lnTo>
                <a:lnTo>
                  <a:pt x="1225" y="179"/>
                </a:lnTo>
                <a:lnTo>
                  <a:pt x="1222" y="158"/>
                </a:lnTo>
                <a:lnTo>
                  <a:pt x="1214" y="140"/>
                </a:lnTo>
                <a:lnTo>
                  <a:pt x="1202" y="125"/>
                </a:lnTo>
                <a:lnTo>
                  <a:pt x="1187" y="113"/>
                </a:lnTo>
                <a:lnTo>
                  <a:pt x="1169" y="105"/>
                </a:lnTo>
                <a:lnTo>
                  <a:pt x="1148" y="102"/>
                </a:lnTo>
                <a:close/>
                <a:moveTo>
                  <a:pt x="1146" y="0"/>
                </a:moveTo>
                <a:lnTo>
                  <a:pt x="1150" y="0"/>
                </a:lnTo>
                <a:lnTo>
                  <a:pt x="1182" y="3"/>
                </a:lnTo>
                <a:lnTo>
                  <a:pt x="1212" y="11"/>
                </a:lnTo>
                <a:lnTo>
                  <a:pt x="1239" y="24"/>
                </a:lnTo>
                <a:lnTo>
                  <a:pt x="1264" y="41"/>
                </a:lnTo>
                <a:lnTo>
                  <a:pt x="1285" y="63"/>
                </a:lnTo>
                <a:lnTo>
                  <a:pt x="1303" y="88"/>
                </a:lnTo>
                <a:lnTo>
                  <a:pt x="1316" y="115"/>
                </a:lnTo>
                <a:lnTo>
                  <a:pt x="1323" y="145"/>
                </a:lnTo>
                <a:lnTo>
                  <a:pt x="1327" y="177"/>
                </a:lnTo>
                <a:lnTo>
                  <a:pt x="1327" y="179"/>
                </a:lnTo>
                <a:lnTo>
                  <a:pt x="1329" y="199"/>
                </a:lnTo>
                <a:lnTo>
                  <a:pt x="1337" y="218"/>
                </a:lnTo>
                <a:lnTo>
                  <a:pt x="1349" y="233"/>
                </a:lnTo>
                <a:lnTo>
                  <a:pt x="1364" y="245"/>
                </a:lnTo>
                <a:lnTo>
                  <a:pt x="1382" y="252"/>
                </a:lnTo>
                <a:lnTo>
                  <a:pt x="1402" y="256"/>
                </a:lnTo>
                <a:lnTo>
                  <a:pt x="1481" y="256"/>
                </a:lnTo>
                <a:lnTo>
                  <a:pt x="1512" y="259"/>
                </a:lnTo>
                <a:lnTo>
                  <a:pt x="1540" y="268"/>
                </a:lnTo>
                <a:lnTo>
                  <a:pt x="1566" y="282"/>
                </a:lnTo>
                <a:lnTo>
                  <a:pt x="1588" y="300"/>
                </a:lnTo>
                <a:lnTo>
                  <a:pt x="1607" y="322"/>
                </a:lnTo>
                <a:lnTo>
                  <a:pt x="1621" y="348"/>
                </a:lnTo>
                <a:lnTo>
                  <a:pt x="1630" y="377"/>
                </a:lnTo>
                <a:lnTo>
                  <a:pt x="1633" y="407"/>
                </a:lnTo>
                <a:lnTo>
                  <a:pt x="1633" y="411"/>
                </a:lnTo>
                <a:lnTo>
                  <a:pt x="1630" y="441"/>
                </a:lnTo>
                <a:lnTo>
                  <a:pt x="1621" y="469"/>
                </a:lnTo>
                <a:lnTo>
                  <a:pt x="1607" y="495"/>
                </a:lnTo>
                <a:lnTo>
                  <a:pt x="1588" y="518"/>
                </a:lnTo>
                <a:lnTo>
                  <a:pt x="1566" y="536"/>
                </a:lnTo>
                <a:lnTo>
                  <a:pt x="1540" y="550"/>
                </a:lnTo>
                <a:lnTo>
                  <a:pt x="1512" y="559"/>
                </a:lnTo>
                <a:lnTo>
                  <a:pt x="1481" y="562"/>
                </a:lnTo>
                <a:lnTo>
                  <a:pt x="815" y="562"/>
                </a:lnTo>
                <a:lnTo>
                  <a:pt x="784" y="559"/>
                </a:lnTo>
                <a:lnTo>
                  <a:pt x="756" y="550"/>
                </a:lnTo>
                <a:lnTo>
                  <a:pt x="730" y="536"/>
                </a:lnTo>
                <a:lnTo>
                  <a:pt x="708" y="518"/>
                </a:lnTo>
                <a:lnTo>
                  <a:pt x="689" y="495"/>
                </a:lnTo>
                <a:lnTo>
                  <a:pt x="675" y="469"/>
                </a:lnTo>
                <a:lnTo>
                  <a:pt x="667" y="441"/>
                </a:lnTo>
                <a:lnTo>
                  <a:pt x="663" y="411"/>
                </a:lnTo>
                <a:lnTo>
                  <a:pt x="663" y="407"/>
                </a:lnTo>
                <a:lnTo>
                  <a:pt x="667" y="377"/>
                </a:lnTo>
                <a:lnTo>
                  <a:pt x="675" y="348"/>
                </a:lnTo>
                <a:lnTo>
                  <a:pt x="689" y="322"/>
                </a:lnTo>
                <a:lnTo>
                  <a:pt x="708" y="300"/>
                </a:lnTo>
                <a:lnTo>
                  <a:pt x="730" y="282"/>
                </a:lnTo>
                <a:lnTo>
                  <a:pt x="756" y="268"/>
                </a:lnTo>
                <a:lnTo>
                  <a:pt x="784" y="259"/>
                </a:lnTo>
                <a:lnTo>
                  <a:pt x="815" y="256"/>
                </a:lnTo>
                <a:lnTo>
                  <a:pt x="894" y="256"/>
                </a:lnTo>
                <a:lnTo>
                  <a:pt x="913" y="252"/>
                </a:lnTo>
                <a:lnTo>
                  <a:pt x="932" y="245"/>
                </a:lnTo>
                <a:lnTo>
                  <a:pt x="947" y="233"/>
                </a:lnTo>
                <a:lnTo>
                  <a:pt x="959" y="218"/>
                </a:lnTo>
                <a:lnTo>
                  <a:pt x="966" y="199"/>
                </a:lnTo>
                <a:lnTo>
                  <a:pt x="970" y="179"/>
                </a:lnTo>
                <a:lnTo>
                  <a:pt x="970" y="177"/>
                </a:lnTo>
                <a:lnTo>
                  <a:pt x="973" y="145"/>
                </a:lnTo>
                <a:lnTo>
                  <a:pt x="980" y="115"/>
                </a:lnTo>
                <a:lnTo>
                  <a:pt x="993" y="88"/>
                </a:lnTo>
                <a:lnTo>
                  <a:pt x="1011" y="63"/>
                </a:lnTo>
                <a:lnTo>
                  <a:pt x="1032" y="41"/>
                </a:lnTo>
                <a:lnTo>
                  <a:pt x="1057" y="24"/>
                </a:lnTo>
                <a:lnTo>
                  <a:pt x="1084" y="11"/>
                </a:lnTo>
                <a:lnTo>
                  <a:pt x="1115" y="3"/>
                </a:lnTo>
                <a:lnTo>
                  <a:pt x="114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275" tIns="45625" rIns="91275" bIns="456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0109297-CD4C-4E10-6036-9673643E834F}"/>
              </a:ext>
            </a:extLst>
          </p:cNvPr>
          <p:cNvSpPr txBox="1"/>
          <p:nvPr/>
        </p:nvSpPr>
        <p:spPr>
          <a:xfrm>
            <a:off x="3009632" y="376622"/>
            <a:ext cx="67153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¿Por qué planean los gerentes?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1 Historia de la dirección estratégica: Comprendiendo su Evolución | La  Empresa">
            <a:extLst>
              <a:ext uri="{FF2B5EF4-FFF2-40B4-BE49-F238E27FC236}">
                <a16:creationId xmlns:a16="http://schemas.microsoft.com/office/drawing/2014/main" id="{3822D32F-34AA-6946-918F-6A164B7A5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215;p39">
            <a:extLst>
              <a:ext uri="{FF2B5EF4-FFF2-40B4-BE49-F238E27FC236}">
                <a16:creationId xmlns:a16="http://schemas.microsoft.com/office/drawing/2014/main" id="{EEE90153-F9ED-725B-8FDE-C0861818E03D}"/>
              </a:ext>
            </a:extLst>
          </p:cNvPr>
          <p:cNvSpPr txBox="1"/>
          <p:nvPr/>
        </p:nvSpPr>
        <p:spPr>
          <a:xfrm>
            <a:off x="7737231" y="306265"/>
            <a:ext cx="4314092" cy="1401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s-PE" sz="4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Administración</a:t>
            </a:r>
            <a:r>
              <a:rPr lang="es-PE" sz="4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Estratégica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660582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39" descr="3,671,501 imágenes de Estrategia - Imágenes, fotos y vectores de stock |  Shutterstock"/>
          <p:cNvPicPr preferRelativeResize="0"/>
          <p:nvPr/>
        </p:nvPicPr>
        <p:blipFill rotWithShape="1">
          <a:blip r:embed="rId3">
            <a:alphaModFix/>
          </a:blip>
          <a:srcRect l="17060" b="9465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9"/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dk1">
              <a:alpha val="45882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PE"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9"/>
          <p:cNvSpPr txBox="1"/>
          <p:nvPr/>
        </p:nvSpPr>
        <p:spPr>
          <a:xfrm>
            <a:off x="4281637" y="463753"/>
            <a:ext cx="6499275" cy="866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s-PE" sz="36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Administración</a:t>
            </a:r>
            <a:r>
              <a:rPr lang="es-PE" sz="36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Estratégica</a:t>
            </a:r>
            <a:endParaRPr sz="3600" dirty="0"/>
          </a:p>
        </p:txBody>
      </p:sp>
      <p:sp>
        <p:nvSpPr>
          <p:cNvPr id="2" name="Google Shape;227;p38">
            <a:extLst>
              <a:ext uri="{FF2B5EF4-FFF2-40B4-BE49-F238E27FC236}">
                <a16:creationId xmlns:a16="http://schemas.microsoft.com/office/drawing/2014/main" id="{B3D4F1D3-5AE5-A38B-2E4A-BFDCED55B875}"/>
              </a:ext>
            </a:extLst>
          </p:cNvPr>
          <p:cNvSpPr txBox="1"/>
          <p:nvPr/>
        </p:nvSpPr>
        <p:spPr>
          <a:xfrm>
            <a:off x="4680697" y="2008622"/>
            <a:ext cx="5701154" cy="3519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800" dirty="0">
                <a:solidFill>
                  <a:schemeClr val="bg1"/>
                </a:solidFill>
              </a:rPr>
              <a:t>Es el proceso que hacen los gerentes para desarrollar las estrategias de sus organizaciones. Se trata de una tarea importante en la que están involucradas todas las funciones gerenciales básicas: planear, organizar, dirigir y controlar.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F2399BE-C7C6-E109-9A17-696746500BA0}"/>
              </a:ext>
            </a:extLst>
          </p:cNvPr>
          <p:cNvSpPr/>
          <p:nvPr/>
        </p:nvSpPr>
        <p:spPr>
          <a:xfrm>
            <a:off x="8925436" y="5993874"/>
            <a:ext cx="234716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200" dirty="0" err="1"/>
              <a:t>Robbins,S</a:t>
            </a:r>
            <a:r>
              <a:rPr lang="es-MX" sz="1200" dirty="0"/>
              <a:t>. &amp; </a:t>
            </a:r>
            <a:r>
              <a:rPr lang="es-MX" sz="1200" dirty="0" err="1"/>
              <a:t>Coulter</a:t>
            </a:r>
            <a:r>
              <a:rPr lang="es-MX" sz="1200" dirty="0"/>
              <a:t>, M. (2018)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e95350035_0_112"/>
          <p:cNvSpPr txBox="1"/>
          <p:nvPr/>
        </p:nvSpPr>
        <p:spPr>
          <a:xfrm>
            <a:off x="0" y="294571"/>
            <a:ext cx="121920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lang="es-PE" sz="3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Importancia de la Administración Estratégica</a:t>
            </a:r>
            <a:endParaRPr sz="36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0F17736D-B6A6-6E22-C6E5-85068B70A4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7577329"/>
              </p:ext>
            </p:extLst>
          </p:nvPr>
        </p:nvGraphicFramePr>
        <p:xfrm>
          <a:off x="1735016" y="1378633"/>
          <a:ext cx="8928295" cy="44935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7BE49FB3-770D-E093-FC0C-B3D03933CE8D}"/>
              </a:ext>
            </a:extLst>
          </p:cNvPr>
          <p:cNvSpPr txBox="1"/>
          <p:nvPr/>
        </p:nvSpPr>
        <p:spPr>
          <a:xfrm>
            <a:off x="1912803" y="6090136"/>
            <a:ext cx="8750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400" b="1" i="1" dirty="0">
                <a:solidFill>
                  <a:srgbClr val="337D7B"/>
                </a:solidFill>
              </a:rPr>
              <a:t>Es utilizada por organizaciones con y sin fines de lucro.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Gratis Fotos de stock gratuitas de administración, apoyar, colaboración Foto de stock">
            <a:extLst>
              <a:ext uri="{FF2B5EF4-FFF2-40B4-BE49-F238E27FC236}">
                <a16:creationId xmlns:a16="http://schemas.microsoft.com/office/drawing/2014/main" id="{AED5068B-ADC9-3FFA-034D-BD7E18EB2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7"/>
          <a:stretch/>
        </p:blipFill>
        <p:spPr bwMode="auto">
          <a:xfrm>
            <a:off x="2574388" y="1"/>
            <a:ext cx="9617612" cy="6858000"/>
          </a:xfrm>
          <a:prstGeom prst="parallelogram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" name="Google Shape;238;g34e95350035_0_112">
            <a:extLst>
              <a:ext uri="{FF2B5EF4-FFF2-40B4-BE49-F238E27FC236}">
                <a16:creationId xmlns:a16="http://schemas.microsoft.com/office/drawing/2014/main" id="{F9A3420A-C99F-EE12-8593-16B2E3EEEC37}"/>
              </a:ext>
            </a:extLst>
          </p:cNvPr>
          <p:cNvSpPr txBox="1"/>
          <p:nvPr/>
        </p:nvSpPr>
        <p:spPr>
          <a:xfrm>
            <a:off x="257732" y="1002256"/>
            <a:ext cx="3699802" cy="1709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lang="es-PE" sz="4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El proceso de la Administración Estratégica</a:t>
            </a:r>
            <a:endParaRPr sz="42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0699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249">
          <a:extLst>
            <a:ext uri="{FF2B5EF4-FFF2-40B4-BE49-F238E27FC236}">
              <a16:creationId xmlns:a16="http://schemas.microsoft.com/office/drawing/2014/main" id="{FF79CB79-6E6B-1D6D-CA20-327D137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4;g34e95350035_0_103">
            <a:extLst>
              <a:ext uri="{FF2B5EF4-FFF2-40B4-BE49-F238E27FC236}">
                <a16:creationId xmlns:a16="http://schemas.microsoft.com/office/drawing/2014/main" id="{2F188D80-2DD2-4B23-904E-213D56B64143}"/>
              </a:ext>
            </a:extLst>
          </p:cNvPr>
          <p:cNvSpPr txBox="1"/>
          <p:nvPr/>
        </p:nvSpPr>
        <p:spPr>
          <a:xfrm>
            <a:off x="0" y="323557"/>
            <a:ext cx="12192000" cy="93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lang="es-PE" sz="4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Proceso de Administración Estratégica</a:t>
            </a:r>
            <a:endParaRPr sz="40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45;g34e95350035_0_103">
            <a:extLst>
              <a:ext uri="{FF2B5EF4-FFF2-40B4-BE49-F238E27FC236}">
                <a16:creationId xmlns:a16="http://schemas.microsoft.com/office/drawing/2014/main" id="{0F70803A-7ECB-15DC-779D-B9C31E04C277}"/>
              </a:ext>
            </a:extLst>
          </p:cNvPr>
          <p:cNvSpPr txBox="1"/>
          <p:nvPr/>
        </p:nvSpPr>
        <p:spPr>
          <a:xfrm>
            <a:off x="782921" y="3054806"/>
            <a:ext cx="7296777" cy="3262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s-PE" sz="2000" b="1" dirty="0">
                <a:solidFill>
                  <a:schemeClr val="dk1"/>
                </a:solidFill>
              </a:rPr>
              <a:t>2. Análisis externo</a:t>
            </a:r>
            <a:r>
              <a:rPr lang="es-PE" sz="2000" dirty="0">
                <a:solidFill>
                  <a:schemeClr val="dk1"/>
                </a:solidFill>
              </a:rPr>
              <a:t>: Evaluación de factores externos que afectan a la organización, como oportunidades y amenazas en el entorno competitivo.​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br>
              <a:rPr lang="es-PE" sz="2000" dirty="0">
                <a:solidFill>
                  <a:schemeClr val="dk1"/>
                </a:solidFill>
              </a:rPr>
            </a:br>
            <a:r>
              <a:rPr lang="es-PE" sz="2000" b="1" dirty="0">
                <a:solidFill>
                  <a:schemeClr val="dk1"/>
                </a:solidFill>
              </a:rPr>
              <a:t>3. Análisis interno</a:t>
            </a:r>
            <a:r>
              <a:rPr lang="es-PE" sz="2000" dirty="0">
                <a:solidFill>
                  <a:schemeClr val="dk1"/>
                </a:solidFill>
              </a:rPr>
              <a:t>: Examen de los recursos y capacidades internas para identificar fortalezas y debilidades.​</a:t>
            </a:r>
            <a:br>
              <a:rPr lang="es-PE" sz="2000" dirty="0">
                <a:solidFill>
                  <a:schemeClr val="dk1"/>
                </a:solidFill>
              </a:rPr>
            </a:br>
            <a:endParaRPr lang="es-PE" sz="2000" dirty="0">
              <a:solidFill>
                <a:schemeClr val="dk1"/>
              </a:solidFill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s-PE" sz="2000" dirty="0">
                <a:solidFill>
                  <a:schemeClr val="dk1"/>
                </a:solidFill>
              </a:rPr>
              <a:t>El análisis externo y el análisis interno da como resultado el </a:t>
            </a:r>
            <a:r>
              <a:rPr lang="es-PE" sz="2000" b="1" dirty="0">
                <a:solidFill>
                  <a:schemeClr val="dk1"/>
                </a:solidFill>
              </a:rPr>
              <a:t>Análisis FODA </a:t>
            </a:r>
            <a:r>
              <a:rPr lang="es-PE" sz="2000" dirty="0">
                <a:solidFill>
                  <a:schemeClr val="dk1"/>
                </a:solidFill>
              </a:rPr>
              <a:t>(Fortalezas, Oportunidades, Debilidades y Amenazas)</a:t>
            </a:r>
            <a:endParaRPr sz="2000" dirty="0">
              <a:solidFill>
                <a:schemeClr val="dk1"/>
              </a:solidFill>
            </a:endParaRPr>
          </a:p>
        </p:txBody>
      </p:sp>
      <p:pic>
        <p:nvPicPr>
          <p:cNvPr id="6146" name="Picture 2" descr="Gratis 2 Decoraciones En Forma De Corazón De Madera Blanca Foto de stock">
            <a:extLst>
              <a:ext uri="{FF2B5EF4-FFF2-40B4-BE49-F238E27FC236}">
                <a16:creationId xmlns:a16="http://schemas.microsoft.com/office/drawing/2014/main" id="{06630997-2A5E-530F-BA01-432B9FF75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6945" y="3882452"/>
            <a:ext cx="4455055" cy="2975547"/>
          </a:xfrm>
          <a:prstGeom prst="trapezoid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1FF23D8-4408-0C85-6A3B-5F5CD39BECFF}"/>
              </a:ext>
            </a:extLst>
          </p:cNvPr>
          <p:cNvSpPr txBox="1"/>
          <p:nvPr/>
        </p:nvSpPr>
        <p:spPr>
          <a:xfrm>
            <a:off x="782921" y="1796855"/>
            <a:ext cx="104993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PE" sz="2000" b="1" dirty="0">
                <a:solidFill>
                  <a:schemeClr val="dk1"/>
                </a:solidFill>
              </a:rPr>
              <a:t>1. Identificación de la misión, objetivos</a:t>
            </a:r>
            <a:r>
              <a:rPr lang="es-PE" sz="2000" dirty="0">
                <a:solidFill>
                  <a:schemeClr val="dk1"/>
                </a:solidFill>
              </a:rPr>
              <a:t>: La misión define el propósito de la organización; los objetivos establecen metas específicas; las estrategias actuales indican cómo se están alcanzando esos objetivos.​</a:t>
            </a:r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713000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>
          <a:extLst>
            <a:ext uri="{FF2B5EF4-FFF2-40B4-BE49-F238E27FC236}">
              <a16:creationId xmlns:a16="http://schemas.microsoft.com/office/drawing/2014/main" id="{F1644C9A-1201-A6B1-86E5-189F243F5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Gratis Dos Piezas De Ajedrez De Plata Sobre Superficie Blanca Foto de stock">
            <a:extLst>
              <a:ext uri="{FF2B5EF4-FFF2-40B4-BE49-F238E27FC236}">
                <a16:creationId xmlns:a16="http://schemas.microsoft.com/office/drawing/2014/main" id="{2783B52B-EB1A-3972-A825-9C4EAC7BA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245;g34e95350035_0_103">
            <a:extLst>
              <a:ext uri="{FF2B5EF4-FFF2-40B4-BE49-F238E27FC236}">
                <a16:creationId xmlns:a16="http://schemas.microsoft.com/office/drawing/2014/main" id="{D04A894F-BF2E-A640-8322-57A81797D178}"/>
              </a:ext>
            </a:extLst>
          </p:cNvPr>
          <p:cNvSpPr txBox="1"/>
          <p:nvPr/>
        </p:nvSpPr>
        <p:spPr>
          <a:xfrm>
            <a:off x="941949" y="306346"/>
            <a:ext cx="10308102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s-PE" sz="2000" b="1" dirty="0">
                <a:solidFill>
                  <a:schemeClr val="dk1"/>
                </a:solidFill>
              </a:rPr>
              <a:t>4. Formulación de estrategias: </a:t>
            </a:r>
            <a:r>
              <a:rPr lang="es-PE" sz="2000" dirty="0">
                <a:solidFill>
                  <a:schemeClr val="dk1"/>
                </a:solidFill>
              </a:rPr>
              <a:t>Deben considerar la realidad del análisis externo, así como el análisis interno, para diseñar las estrategias que le ayudarán a cumplir sus objetivos. Ello ayudará a aprovechar las oportunidades y fortalezas y mitigar las amenazas y debilidades.​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br>
              <a:rPr lang="es-PE" sz="2000" b="1" dirty="0">
                <a:solidFill>
                  <a:schemeClr val="dk1"/>
                </a:solidFill>
              </a:rPr>
            </a:br>
            <a:r>
              <a:rPr lang="es-PE" sz="2000" b="1" dirty="0">
                <a:solidFill>
                  <a:schemeClr val="dk1"/>
                </a:solidFill>
              </a:rPr>
              <a:t>5. Implementación de estrategias: </a:t>
            </a:r>
            <a:r>
              <a:rPr lang="es-PE" sz="2000" dirty="0">
                <a:solidFill>
                  <a:schemeClr val="dk1"/>
                </a:solidFill>
              </a:rPr>
              <a:t>Asignación de recursos y ejecución de acciones para poner en práctica las estrategias formuladas.​ El desempeño de la organización se verá afectada si las estrategias no se implementan de la forma adecuada.</a:t>
            </a:r>
            <a:br>
              <a:rPr lang="es-PE" sz="2000" dirty="0">
                <a:solidFill>
                  <a:schemeClr val="dk1"/>
                </a:solidFill>
              </a:rPr>
            </a:b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B3BCC8C-B582-4BC0-ED14-A0C2A4A0A603}"/>
              </a:ext>
            </a:extLst>
          </p:cNvPr>
          <p:cNvSpPr txBox="1"/>
          <p:nvPr/>
        </p:nvSpPr>
        <p:spPr>
          <a:xfrm>
            <a:off x="931984" y="5562414"/>
            <a:ext cx="103081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000" b="1" dirty="0">
                <a:solidFill>
                  <a:schemeClr val="dk1"/>
                </a:solidFill>
              </a:rPr>
              <a:t>6. Evaluación de resultados: </a:t>
            </a:r>
            <a:r>
              <a:rPr lang="es-PE" sz="2000" dirty="0">
                <a:solidFill>
                  <a:schemeClr val="dk1"/>
                </a:solidFill>
              </a:rPr>
              <a:t>Monitoreo del desempeño y realización de ajustes necesarios para asegurar el logro de los objetivos estratégicos.</a:t>
            </a:r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2789078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65882"/>
          </a:schemeClr>
        </a:solidFill>
        <a:effectLst/>
      </p:bgPr>
    </p:bg>
    <p:spTree>
      <p:nvGrpSpPr>
        <p:cNvPr id="1" name="Shape 249">
          <a:extLst>
            <a:ext uri="{FF2B5EF4-FFF2-40B4-BE49-F238E27FC236}">
              <a16:creationId xmlns:a16="http://schemas.microsoft.com/office/drawing/2014/main" id="{6C286480-A353-2D00-EC4C-0B482A9A7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">
            <a:extLst>
              <a:ext uri="{FF2B5EF4-FFF2-40B4-BE49-F238E27FC236}">
                <a16:creationId xmlns:a16="http://schemas.microsoft.com/office/drawing/2014/main" id="{D1AB80AF-7195-BA2F-C637-A2CBED2E4063}"/>
              </a:ext>
            </a:extLst>
          </p:cNvPr>
          <p:cNvSpPr txBox="1"/>
          <p:nvPr/>
        </p:nvSpPr>
        <p:spPr>
          <a:xfrm>
            <a:off x="0" y="6079669"/>
            <a:ext cx="12191998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s-PE" sz="38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Proceso de administración estratégica</a:t>
            </a:r>
            <a:endParaRPr sz="38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>
            <a:extLst>
              <a:ext uri="{FF2B5EF4-FFF2-40B4-BE49-F238E27FC236}">
                <a16:creationId xmlns:a16="http://schemas.microsoft.com/office/drawing/2014/main" id="{3BDF6194-B1FB-1509-4670-B86B298F22AF}"/>
              </a:ext>
            </a:extLst>
          </p:cNvPr>
          <p:cNvSpPr txBox="1"/>
          <p:nvPr/>
        </p:nvSpPr>
        <p:spPr>
          <a:xfrm>
            <a:off x="2080320" y="2799535"/>
            <a:ext cx="1143000" cy="825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hlink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105"/>
              <a:buFont typeface="Noto Sans Symbols"/>
              <a:buNone/>
            </a:pPr>
            <a:r>
              <a:rPr lang="es-PE" sz="1700" b="0" i="0" u="none" strike="noStrike" cap="none">
                <a:solidFill>
                  <a:srgbClr val="5F5F5F"/>
                </a:solidFill>
                <a:latin typeface="Verdana"/>
                <a:ea typeface="Verdana"/>
                <a:cs typeface="Verdana"/>
                <a:sym typeface="Verdana"/>
              </a:rPr>
              <a:t>Visión y misión</a:t>
            </a:r>
            <a:endParaRPr/>
          </a:p>
        </p:txBody>
      </p:sp>
      <p:grpSp>
        <p:nvGrpSpPr>
          <p:cNvPr id="252" name="Google Shape;252;p21">
            <a:extLst>
              <a:ext uri="{FF2B5EF4-FFF2-40B4-BE49-F238E27FC236}">
                <a16:creationId xmlns:a16="http://schemas.microsoft.com/office/drawing/2014/main" id="{7ECC33AC-C16C-3C82-1741-A5A89D2CE4FC}"/>
              </a:ext>
            </a:extLst>
          </p:cNvPr>
          <p:cNvGrpSpPr/>
          <p:nvPr/>
        </p:nvGrpSpPr>
        <p:grpSpPr>
          <a:xfrm>
            <a:off x="5356920" y="2418535"/>
            <a:ext cx="1143000" cy="1676400"/>
            <a:chOff x="2400" y="2016"/>
            <a:chExt cx="720" cy="1056"/>
          </a:xfrm>
        </p:grpSpPr>
        <p:sp>
          <p:nvSpPr>
            <p:cNvPr id="253" name="Google Shape;253;p21">
              <a:extLst>
                <a:ext uri="{FF2B5EF4-FFF2-40B4-BE49-F238E27FC236}">
                  <a16:creationId xmlns:a16="http://schemas.microsoft.com/office/drawing/2014/main" id="{12727E55-19CC-CD5C-9E4E-8FF38113BEBB}"/>
                </a:ext>
              </a:extLst>
            </p:cNvPr>
            <p:cNvSpPr txBox="1"/>
            <p:nvPr/>
          </p:nvSpPr>
          <p:spPr>
            <a:xfrm>
              <a:off x="2400" y="2256"/>
              <a:ext cx="720" cy="52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hlink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ts val="1105"/>
                <a:buFont typeface="Noto Sans Symbols"/>
                <a:buNone/>
              </a:pPr>
              <a:r>
                <a:rPr lang="es-PE" sz="1700" b="0" i="0" u="none" strike="noStrike" cap="none">
                  <a:solidFill>
                    <a:srgbClr val="5F5F5F"/>
                  </a:solidFill>
                  <a:latin typeface="Verdana"/>
                  <a:ea typeface="Verdana"/>
                  <a:cs typeface="Verdana"/>
                  <a:sym typeface="Verdana"/>
                </a:rPr>
                <a:t>Análisis FODA</a:t>
              </a:r>
              <a:endParaRPr/>
            </a:p>
          </p:txBody>
        </p:sp>
        <p:cxnSp>
          <p:nvCxnSpPr>
            <p:cNvPr id="254" name="Google Shape;254;p21">
              <a:extLst>
                <a:ext uri="{FF2B5EF4-FFF2-40B4-BE49-F238E27FC236}">
                  <a16:creationId xmlns:a16="http://schemas.microsoft.com/office/drawing/2014/main" id="{367989C9-1F6B-B16B-1C23-F3175B93EE26}"/>
                </a:ext>
              </a:extLst>
            </p:cNvPr>
            <p:cNvCxnSpPr/>
            <p:nvPr/>
          </p:nvCxnSpPr>
          <p:spPr>
            <a:xfrm>
              <a:off x="2736" y="2016"/>
              <a:ext cx="0" cy="240"/>
            </a:xfrm>
            <a:prstGeom prst="straightConnector1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255" name="Google Shape;255;p21">
              <a:extLst>
                <a:ext uri="{FF2B5EF4-FFF2-40B4-BE49-F238E27FC236}">
                  <a16:creationId xmlns:a16="http://schemas.microsoft.com/office/drawing/2014/main" id="{C0ED14E9-5C7C-01E0-7EC1-E8956857C642}"/>
                </a:ext>
              </a:extLst>
            </p:cNvPr>
            <p:cNvCxnSpPr/>
            <p:nvPr/>
          </p:nvCxnSpPr>
          <p:spPr>
            <a:xfrm rot="10800000">
              <a:off x="2736" y="2784"/>
              <a:ext cx="0" cy="288"/>
            </a:xfrm>
            <a:prstGeom prst="straightConnector1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</p:grpSp>
      <p:grpSp>
        <p:nvGrpSpPr>
          <p:cNvPr id="256" name="Google Shape;256;p21">
            <a:extLst>
              <a:ext uri="{FF2B5EF4-FFF2-40B4-BE49-F238E27FC236}">
                <a16:creationId xmlns:a16="http://schemas.microsoft.com/office/drawing/2014/main" id="{D7CBE0CA-53F3-2682-8713-FF70EEB05DBF}"/>
              </a:ext>
            </a:extLst>
          </p:cNvPr>
          <p:cNvGrpSpPr/>
          <p:nvPr/>
        </p:nvGrpSpPr>
        <p:grpSpPr>
          <a:xfrm>
            <a:off x="3223320" y="1580335"/>
            <a:ext cx="4191000" cy="3359150"/>
            <a:chOff x="1056" y="1488"/>
            <a:chExt cx="2640" cy="2116"/>
          </a:xfrm>
        </p:grpSpPr>
        <p:cxnSp>
          <p:nvCxnSpPr>
            <p:cNvPr id="257" name="Google Shape;257;p21">
              <a:extLst>
                <a:ext uri="{FF2B5EF4-FFF2-40B4-BE49-F238E27FC236}">
                  <a16:creationId xmlns:a16="http://schemas.microsoft.com/office/drawing/2014/main" id="{26F2DA15-9745-9A7B-D4A8-8F28C87BB018}"/>
                </a:ext>
              </a:extLst>
            </p:cNvPr>
            <p:cNvCxnSpPr/>
            <p:nvPr/>
          </p:nvCxnSpPr>
          <p:spPr>
            <a:xfrm>
              <a:off x="1056" y="2496"/>
              <a:ext cx="1344" cy="0"/>
            </a:xfrm>
            <a:prstGeom prst="straightConnector1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dashDot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58" name="Google Shape;258;p21">
              <a:extLst>
                <a:ext uri="{FF2B5EF4-FFF2-40B4-BE49-F238E27FC236}">
                  <a16:creationId xmlns:a16="http://schemas.microsoft.com/office/drawing/2014/main" id="{30335141-2354-6C0C-AB9C-0F979D6078E1}"/>
                </a:ext>
              </a:extLst>
            </p:cNvPr>
            <p:cNvCxnSpPr/>
            <p:nvPr/>
          </p:nvCxnSpPr>
          <p:spPr>
            <a:xfrm>
              <a:off x="3120" y="2496"/>
              <a:ext cx="336" cy="0"/>
            </a:xfrm>
            <a:prstGeom prst="straightConnector1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sp>
          <p:nvSpPr>
            <p:cNvPr id="259" name="Google Shape;259;p21">
              <a:extLst>
                <a:ext uri="{FF2B5EF4-FFF2-40B4-BE49-F238E27FC236}">
                  <a16:creationId xmlns:a16="http://schemas.microsoft.com/office/drawing/2014/main" id="{1DA50428-2D60-D3CA-BE8D-2C1685B2F71D}"/>
                </a:ext>
              </a:extLst>
            </p:cNvPr>
            <p:cNvSpPr txBox="1"/>
            <p:nvPr/>
          </p:nvSpPr>
          <p:spPr>
            <a:xfrm>
              <a:off x="3456" y="1488"/>
              <a:ext cx="240" cy="211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hlink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ts val="1105"/>
                <a:buFont typeface="Noto Sans Symbols"/>
                <a:buNone/>
              </a:pPr>
              <a:r>
                <a:rPr lang="es-PE" sz="1700" b="0" i="0" u="none" strike="noStrike" cap="none" dirty="0">
                  <a:solidFill>
                    <a:srgbClr val="5F5F5F"/>
                  </a:solidFill>
                  <a:latin typeface="Verdana"/>
                  <a:ea typeface="Verdana"/>
                  <a:cs typeface="Verdana"/>
                  <a:sym typeface="Verdana"/>
                </a:rPr>
                <a:t>OBJETIVOS</a:t>
              </a:r>
              <a:endParaRPr dirty="0"/>
            </a:p>
          </p:txBody>
        </p:sp>
      </p:grpSp>
      <p:grpSp>
        <p:nvGrpSpPr>
          <p:cNvPr id="260" name="Google Shape;260;p21">
            <a:extLst>
              <a:ext uri="{FF2B5EF4-FFF2-40B4-BE49-F238E27FC236}">
                <a16:creationId xmlns:a16="http://schemas.microsoft.com/office/drawing/2014/main" id="{4DF2668A-1F45-12F9-C742-BD712AF227D0}"/>
              </a:ext>
            </a:extLst>
          </p:cNvPr>
          <p:cNvGrpSpPr/>
          <p:nvPr/>
        </p:nvGrpSpPr>
        <p:grpSpPr>
          <a:xfrm>
            <a:off x="7490520" y="1231085"/>
            <a:ext cx="838200" cy="4083050"/>
            <a:chOff x="3744" y="1268"/>
            <a:chExt cx="528" cy="2572"/>
          </a:xfrm>
        </p:grpSpPr>
        <p:sp>
          <p:nvSpPr>
            <p:cNvPr id="261" name="Google Shape;261;p21">
              <a:extLst>
                <a:ext uri="{FF2B5EF4-FFF2-40B4-BE49-F238E27FC236}">
                  <a16:creationId xmlns:a16="http://schemas.microsoft.com/office/drawing/2014/main" id="{16DBF3F2-005E-C04A-41D5-D8FB60D866C3}"/>
                </a:ext>
              </a:extLst>
            </p:cNvPr>
            <p:cNvSpPr txBox="1"/>
            <p:nvPr/>
          </p:nvSpPr>
          <p:spPr>
            <a:xfrm>
              <a:off x="4032" y="1268"/>
              <a:ext cx="240" cy="2572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hlink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ts val="1105"/>
                <a:buFont typeface="Noto Sans Symbols"/>
                <a:buNone/>
              </a:pPr>
              <a:r>
                <a:rPr lang="es-PE" sz="1700" b="0" i="0" u="none" strike="noStrike" cap="none">
                  <a:solidFill>
                    <a:srgbClr val="5F5F5F"/>
                  </a:solidFill>
                  <a:latin typeface="Verdana"/>
                  <a:ea typeface="Verdana"/>
                  <a:cs typeface="Verdana"/>
                  <a:sym typeface="Verdana"/>
                </a:rPr>
                <a:t>ESTRATEGIAS</a:t>
              </a:r>
              <a:endParaRPr/>
            </a:p>
          </p:txBody>
        </p:sp>
        <p:cxnSp>
          <p:nvCxnSpPr>
            <p:cNvPr id="262" name="Google Shape;262;p21">
              <a:extLst>
                <a:ext uri="{FF2B5EF4-FFF2-40B4-BE49-F238E27FC236}">
                  <a16:creationId xmlns:a16="http://schemas.microsoft.com/office/drawing/2014/main" id="{62133474-A666-CED9-1FCF-B03C677DCA53}"/>
                </a:ext>
              </a:extLst>
            </p:cNvPr>
            <p:cNvCxnSpPr/>
            <p:nvPr/>
          </p:nvCxnSpPr>
          <p:spPr>
            <a:xfrm>
              <a:off x="3744" y="2496"/>
              <a:ext cx="240" cy="0"/>
            </a:xfrm>
            <a:prstGeom prst="straightConnector1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</p:grpSp>
      <p:grpSp>
        <p:nvGrpSpPr>
          <p:cNvPr id="263" name="Google Shape;263;p21">
            <a:extLst>
              <a:ext uri="{FF2B5EF4-FFF2-40B4-BE49-F238E27FC236}">
                <a16:creationId xmlns:a16="http://schemas.microsoft.com/office/drawing/2014/main" id="{7C1316B3-5B78-DE2E-33E4-2FA8029DC8C4}"/>
              </a:ext>
            </a:extLst>
          </p:cNvPr>
          <p:cNvGrpSpPr/>
          <p:nvPr/>
        </p:nvGrpSpPr>
        <p:grpSpPr>
          <a:xfrm>
            <a:off x="8328720" y="2736127"/>
            <a:ext cx="1447800" cy="996951"/>
            <a:chOff x="4272" y="2112"/>
            <a:chExt cx="912" cy="628"/>
          </a:xfrm>
        </p:grpSpPr>
        <p:sp>
          <p:nvSpPr>
            <p:cNvPr id="264" name="Google Shape;264;p21">
              <a:extLst>
                <a:ext uri="{FF2B5EF4-FFF2-40B4-BE49-F238E27FC236}">
                  <a16:creationId xmlns:a16="http://schemas.microsoft.com/office/drawing/2014/main" id="{EFAEC83D-58A9-4A92-9BE8-C2514FFDEB17}"/>
                </a:ext>
              </a:extLst>
            </p:cNvPr>
            <p:cNvSpPr txBox="1"/>
            <p:nvPr/>
          </p:nvSpPr>
          <p:spPr>
            <a:xfrm>
              <a:off x="4416" y="2112"/>
              <a:ext cx="768" cy="628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hlink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ts val="1105"/>
                <a:buFont typeface="Noto Sans Symbols"/>
                <a:buNone/>
              </a:pPr>
              <a:r>
                <a:rPr lang="es-PE" b="0" i="0" u="none" strike="noStrike" cap="none" dirty="0" err="1">
                  <a:solidFill>
                    <a:srgbClr val="5F5F5F"/>
                  </a:solidFill>
                  <a:latin typeface="Verdana"/>
                  <a:ea typeface="Verdana"/>
                  <a:cs typeface="Verdana"/>
                  <a:sym typeface="Verdana"/>
                </a:rPr>
                <a:t>Implemen</a:t>
              </a:r>
              <a:r>
                <a:rPr lang="es-PE" b="0" i="0" u="none" strike="noStrike" cap="none" dirty="0">
                  <a:solidFill>
                    <a:srgbClr val="5F5F5F"/>
                  </a:solidFill>
                  <a:latin typeface="Verdana"/>
                  <a:ea typeface="Verdana"/>
                  <a:cs typeface="Verdana"/>
                  <a:sym typeface="Verdana"/>
                </a:rPr>
                <a:t>- </a:t>
              </a:r>
              <a:r>
                <a:rPr lang="es-PE" b="0" i="0" u="none" strike="noStrike" cap="none" dirty="0" err="1">
                  <a:solidFill>
                    <a:srgbClr val="5F5F5F"/>
                  </a:solidFill>
                  <a:latin typeface="Verdana"/>
                  <a:ea typeface="Verdana"/>
                  <a:cs typeface="Verdana"/>
                  <a:sym typeface="Verdana"/>
                </a:rPr>
                <a:t>tación</a:t>
              </a:r>
              <a:r>
                <a:rPr lang="es-PE" b="0" i="0" u="none" strike="noStrike" cap="none" dirty="0">
                  <a:solidFill>
                    <a:srgbClr val="5F5F5F"/>
                  </a:solidFill>
                  <a:latin typeface="Verdana"/>
                  <a:ea typeface="Verdana"/>
                  <a:cs typeface="Verdana"/>
                  <a:sym typeface="Verdana"/>
                </a:rPr>
                <a:t> de estrategias</a:t>
              </a:r>
              <a:endParaRPr dirty="0"/>
            </a:p>
          </p:txBody>
        </p:sp>
        <p:cxnSp>
          <p:nvCxnSpPr>
            <p:cNvPr id="265" name="Google Shape;265;p21">
              <a:extLst>
                <a:ext uri="{FF2B5EF4-FFF2-40B4-BE49-F238E27FC236}">
                  <a16:creationId xmlns:a16="http://schemas.microsoft.com/office/drawing/2014/main" id="{BF198FD3-744C-C464-9032-A7056FA1EE68}"/>
                </a:ext>
              </a:extLst>
            </p:cNvPr>
            <p:cNvCxnSpPr/>
            <p:nvPr/>
          </p:nvCxnSpPr>
          <p:spPr>
            <a:xfrm>
              <a:off x="4272" y="2413"/>
              <a:ext cx="144" cy="0"/>
            </a:xfrm>
            <a:prstGeom prst="straightConnector1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</p:grpSp>
      <p:grpSp>
        <p:nvGrpSpPr>
          <p:cNvPr id="266" name="Google Shape;266;p21">
            <a:extLst>
              <a:ext uri="{FF2B5EF4-FFF2-40B4-BE49-F238E27FC236}">
                <a16:creationId xmlns:a16="http://schemas.microsoft.com/office/drawing/2014/main" id="{E8B49311-C418-F03A-B496-2A3AC5AB2BEE}"/>
              </a:ext>
            </a:extLst>
          </p:cNvPr>
          <p:cNvGrpSpPr/>
          <p:nvPr/>
        </p:nvGrpSpPr>
        <p:grpSpPr>
          <a:xfrm>
            <a:off x="9700320" y="1427935"/>
            <a:ext cx="685800" cy="3721100"/>
            <a:chOff x="5136" y="1392"/>
            <a:chExt cx="432" cy="2344"/>
          </a:xfrm>
        </p:grpSpPr>
        <p:sp>
          <p:nvSpPr>
            <p:cNvPr id="267" name="Google Shape;267;p21">
              <a:extLst>
                <a:ext uri="{FF2B5EF4-FFF2-40B4-BE49-F238E27FC236}">
                  <a16:creationId xmlns:a16="http://schemas.microsoft.com/office/drawing/2014/main" id="{B86A8D43-EF76-9456-A53B-73AC746C78E6}"/>
                </a:ext>
              </a:extLst>
            </p:cNvPr>
            <p:cNvSpPr txBox="1"/>
            <p:nvPr/>
          </p:nvSpPr>
          <p:spPr>
            <a:xfrm>
              <a:off x="5328" y="1392"/>
              <a:ext cx="240" cy="234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hlink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ts val="1105"/>
                <a:buFont typeface="Noto Sans Symbols"/>
                <a:buNone/>
              </a:pPr>
              <a:r>
                <a:rPr lang="es-PE" sz="1700" b="0" i="0" u="none" strike="noStrike" cap="none">
                  <a:solidFill>
                    <a:srgbClr val="5F5F5F"/>
                  </a:solidFill>
                  <a:latin typeface="Verdana"/>
                  <a:ea typeface="Verdana"/>
                  <a:cs typeface="Verdana"/>
                  <a:sym typeface="Verdana"/>
                </a:rPr>
                <a:t>EVALUACIÓN</a:t>
              </a:r>
              <a:endParaRPr/>
            </a:p>
          </p:txBody>
        </p:sp>
        <p:cxnSp>
          <p:nvCxnSpPr>
            <p:cNvPr id="268" name="Google Shape;268;p21">
              <a:extLst>
                <a:ext uri="{FF2B5EF4-FFF2-40B4-BE49-F238E27FC236}">
                  <a16:creationId xmlns:a16="http://schemas.microsoft.com/office/drawing/2014/main" id="{7BADB571-ACDE-E466-39E2-CD32C2CF45B2}"/>
                </a:ext>
              </a:extLst>
            </p:cNvPr>
            <p:cNvCxnSpPr/>
            <p:nvPr/>
          </p:nvCxnSpPr>
          <p:spPr>
            <a:xfrm>
              <a:off x="5136" y="2496"/>
              <a:ext cx="14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</p:grpSp>
      <p:grpSp>
        <p:nvGrpSpPr>
          <p:cNvPr id="269" name="Google Shape;269;p21">
            <a:extLst>
              <a:ext uri="{FF2B5EF4-FFF2-40B4-BE49-F238E27FC236}">
                <a16:creationId xmlns:a16="http://schemas.microsoft.com/office/drawing/2014/main" id="{09BAD285-88C9-8969-4DA9-A5C361AA9B82}"/>
              </a:ext>
            </a:extLst>
          </p:cNvPr>
          <p:cNvGrpSpPr/>
          <p:nvPr/>
        </p:nvGrpSpPr>
        <p:grpSpPr>
          <a:xfrm>
            <a:off x="2613720" y="1580335"/>
            <a:ext cx="3886200" cy="3340100"/>
            <a:chOff x="672" y="1488"/>
            <a:chExt cx="2448" cy="2104"/>
          </a:xfrm>
        </p:grpSpPr>
        <p:grpSp>
          <p:nvGrpSpPr>
            <p:cNvPr id="270" name="Google Shape;270;p21">
              <a:extLst>
                <a:ext uri="{FF2B5EF4-FFF2-40B4-BE49-F238E27FC236}">
                  <a16:creationId xmlns:a16="http://schemas.microsoft.com/office/drawing/2014/main" id="{54716304-94B5-9A62-9712-3A06E66461F4}"/>
                </a:ext>
              </a:extLst>
            </p:cNvPr>
            <p:cNvGrpSpPr/>
            <p:nvPr/>
          </p:nvGrpSpPr>
          <p:grpSpPr>
            <a:xfrm>
              <a:off x="672" y="1488"/>
              <a:ext cx="2448" cy="2104"/>
              <a:chOff x="672" y="1488"/>
              <a:chExt cx="2448" cy="2104"/>
            </a:xfrm>
          </p:grpSpPr>
          <p:sp>
            <p:nvSpPr>
              <p:cNvPr id="271" name="Google Shape;271;p21">
                <a:extLst>
                  <a:ext uri="{FF2B5EF4-FFF2-40B4-BE49-F238E27FC236}">
                    <a16:creationId xmlns:a16="http://schemas.microsoft.com/office/drawing/2014/main" id="{CCB6D55D-DEC2-5344-FBF5-D8A1BA0B3CF7}"/>
                  </a:ext>
                </a:extLst>
              </p:cNvPr>
              <p:cNvSpPr txBox="1"/>
              <p:nvPr/>
            </p:nvSpPr>
            <p:spPr>
              <a:xfrm>
                <a:off x="1104" y="1488"/>
                <a:ext cx="2016" cy="52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just" rtl="0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F5F5F"/>
                  </a:buClr>
                  <a:buSzPts val="1105"/>
                  <a:buFont typeface="Noto Sans Symbols"/>
                  <a:buNone/>
                </a:pPr>
                <a:r>
                  <a:rPr lang="es-PE" sz="1700" b="0" i="0" u="none" strike="noStrike" cap="none">
                    <a:solidFill>
                      <a:srgbClr val="5F5F5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Análisis    Oportunidades externo	       Amenazas</a:t>
                </a:r>
                <a:endParaRPr/>
              </a:p>
            </p:txBody>
          </p:sp>
          <p:sp>
            <p:nvSpPr>
              <p:cNvPr id="272" name="Google Shape;272;p21">
                <a:extLst>
                  <a:ext uri="{FF2B5EF4-FFF2-40B4-BE49-F238E27FC236}">
                    <a16:creationId xmlns:a16="http://schemas.microsoft.com/office/drawing/2014/main" id="{9018C17A-9914-02A7-36DF-1DD174BB807E}"/>
                  </a:ext>
                </a:extLst>
              </p:cNvPr>
              <p:cNvSpPr txBox="1"/>
              <p:nvPr/>
            </p:nvSpPr>
            <p:spPr>
              <a:xfrm>
                <a:off x="1104" y="3072"/>
                <a:ext cx="2016" cy="52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just" rtl="0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F5F5F"/>
                  </a:buClr>
                  <a:buSzPts val="1105"/>
                  <a:buFont typeface="Noto Sans Symbols"/>
                  <a:buNone/>
                </a:pPr>
                <a:r>
                  <a:rPr lang="es-PE" sz="1700" b="0" i="0" u="none" strike="noStrike" cap="none">
                    <a:solidFill>
                      <a:srgbClr val="5F5F5F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Análisis	       Fortalezas interno	       Debilidades</a:t>
                </a:r>
                <a:endParaRPr/>
              </a:p>
            </p:txBody>
          </p:sp>
          <p:cxnSp>
            <p:nvCxnSpPr>
              <p:cNvPr id="273" name="Google Shape;273;p21">
                <a:extLst>
                  <a:ext uri="{FF2B5EF4-FFF2-40B4-BE49-F238E27FC236}">
                    <a16:creationId xmlns:a16="http://schemas.microsoft.com/office/drawing/2014/main" id="{53C18F1E-128E-E0C8-B144-6A8A96AB9B96}"/>
                  </a:ext>
                </a:extLst>
              </p:cNvPr>
              <p:cNvCxnSpPr/>
              <p:nvPr/>
            </p:nvCxnSpPr>
            <p:spPr>
              <a:xfrm>
                <a:off x="672" y="1824"/>
                <a:ext cx="0" cy="432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274" name="Google Shape;274;p21">
                <a:extLst>
                  <a:ext uri="{FF2B5EF4-FFF2-40B4-BE49-F238E27FC236}">
                    <a16:creationId xmlns:a16="http://schemas.microsoft.com/office/drawing/2014/main" id="{B9E79BB8-F2FF-AFE6-C225-7A9F29FD3FDB}"/>
                  </a:ext>
                </a:extLst>
              </p:cNvPr>
              <p:cNvCxnSpPr/>
              <p:nvPr/>
            </p:nvCxnSpPr>
            <p:spPr>
              <a:xfrm>
                <a:off x="672" y="2784"/>
                <a:ext cx="0" cy="528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275" name="Google Shape;275;p21">
                <a:extLst>
                  <a:ext uri="{FF2B5EF4-FFF2-40B4-BE49-F238E27FC236}">
                    <a16:creationId xmlns:a16="http://schemas.microsoft.com/office/drawing/2014/main" id="{47E97836-7CB7-D36F-383E-C449BA16E2CF}"/>
                  </a:ext>
                </a:extLst>
              </p:cNvPr>
              <p:cNvCxnSpPr/>
              <p:nvPr/>
            </p:nvCxnSpPr>
            <p:spPr>
              <a:xfrm>
                <a:off x="672" y="3312"/>
                <a:ext cx="432" cy="0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</p:cxnSp>
          <p:cxnSp>
            <p:nvCxnSpPr>
              <p:cNvPr id="276" name="Google Shape;276;p21">
                <a:extLst>
                  <a:ext uri="{FF2B5EF4-FFF2-40B4-BE49-F238E27FC236}">
                    <a16:creationId xmlns:a16="http://schemas.microsoft.com/office/drawing/2014/main" id="{F9601AEE-2B14-E609-561F-2F4DF635C078}"/>
                  </a:ext>
                </a:extLst>
              </p:cNvPr>
              <p:cNvCxnSpPr/>
              <p:nvPr/>
            </p:nvCxnSpPr>
            <p:spPr>
              <a:xfrm>
                <a:off x="672" y="1824"/>
                <a:ext cx="432" cy="0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</p:cxnSp>
        </p:grpSp>
        <p:cxnSp>
          <p:nvCxnSpPr>
            <p:cNvPr id="277" name="Google Shape;277;p21">
              <a:extLst>
                <a:ext uri="{FF2B5EF4-FFF2-40B4-BE49-F238E27FC236}">
                  <a16:creationId xmlns:a16="http://schemas.microsoft.com/office/drawing/2014/main" id="{D870D9DB-87B2-BB39-FCEB-CD994F9B162D}"/>
                </a:ext>
              </a:extLst>
            </p:cNvPr>
            <p:cNvCxnSpPr/>
            <p:nvPr/>
          </p:nvCxnSpPr>
          <p:spPr>
            <a:xfrm rot="10800000" flipH="1">
              <a:off x="1824" y="1680"/>
              <a:ext cx="192" cy="96"/>
            </a:xfrm>
            <a:prstGeom prst="straightConnector1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278" name="Google Shape;278;p21">
              <a:extLst>
                <a:ext uri="{FF2B5EF4-FFF2-40B4-BE49-F238E27FC236}">
                  <a16:creationId xmlns:a16="http://schemas.microsoft.com/office/drawing/2014/main" id="{2247CFCE-FD19-9AD3-8580-AF1CD19D6B84}"/>
                </a:ext>
              </a:extLst>
            </p:cNvPr>
            <p:cNvCxnSpPr/>
            <p:nvPr/>
          </p:nvCxnSpPr>
          <p:spPr>
            <a:xfrm>
              <a:off x="1824" y="1776"/>
              <a:ext cx="144" cy="96"/>
            </a:xfrm>
            <a:prstGeom prst="straightConnector1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279" name="Google Shape;279;p21">
              <a:extLst>
                <a:ext uri="{FF2B5EF4-FFF2-40B4-BE49-F238E27FC236}">
                  <a16:creationId xmlns:a16="http://schemas.microsoft.com/office/drawing/2014/main" id="{ED1CC91C-F6AB-95BA-D762-1FB682E336E4}"/>
                </a:ext>
              </a:extLst>
            </p:cNvPr>
            <p:cNvCxnSpPr/>
            <p:nvPr/>
          </p:nvCxnSpPr>
          <p:spPr>
            <a:xfrm rot="10800000" flipH="1">
              <a:off x="1824" y="3264"/>
              <a:ext cx="192" cy="96"/>
            </a:xfrm>
            <a:prstGeom prst="straightConnector1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280" name="Google Shape;280;p21">
              <a:extLst>
                <a:ext uri="{FF2B5EF4-FFF2-40B4-BE49-F238E27FC236}">
                  <a16:creationId xmlns:a16="http://schemas.microsoft.com/office/drawing/2014/main" id="{7879F126-02DE-6DC0-A7CB-FEFBD549037F}"/>
                </a:ext>
              </a:extLst>
            </p:cNvPr>
            <p:cNvCxnSpPr/>
            <p:nvPr/>
          </p:nvCxnSpPr>
          <p:spPr>
            <a:xfrm>
              <a:off x="1824" y="3360"/>
              <a:ext cx="144" cy="96"/>
            </a:xfrm>
            <a:prstGeom prst="straightConnector1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</p:grpSp>
      <p:grpSp>
        <p:nvGrpSpPr>
          <p:cNvPr id="281" name="Google Shape;281;p21">
            <a:extLst>
              <a:ext uri="{FF2B5EF4-FFF2-40B4-BE49-F238E27FC236}">
                <a16:creationId xmlns:a16="http://schemas.microsoft.com/office/drawing/2014/main" id="{37664029-7D2D-7CB6-18C5-8809460AF8C0}"/>
              </a:ext>
            </a:extLst>
          </p:cNvPr>
          <p:cNvGrpSpPr/>
          <p:nvPr/>
        </p:nvGrpSpPr>
        <p:grpSpPr>
          <a:xfrm>
            <a:off x="1775520" y="3180536"/>
            <a:ext cx="8458200" cy="3016250"/>
            <a:chOff x="144" y="2496"/>
            <a:chExt cx="5328" cy="1900"/>
          </a:xfrm>
        </p:grpSpPr>
        <p:cxnSp>
          <p:nvCxnSpPr>
            <p:cNvPr id="282" name="Google Shape;282;p21">
              <a:extLst>
                <a:ext uri="{FF2B5EF4-FFF2-40B4-BE49-F238E27FC236}">
                  <a16:creationId xmlns:a16="http://schemas.microsoft.com/office/drawing/2014/main" id="{585F19D9-440C-D699-150B-910A67529066}"/>
                </a:ext>
              </a:extLst>
            </p:cNvPr>
            <p:cNvCxnSpPr/>
            <p:nvPr/>
          </p:nvCxnSpPr>
          <p:spPr>
            <a:xfrm rot="10800000">
              <a:off x="144" y="4080"/>
              <a:ext cx="5328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83" name="Google Shape;283;p21">
              <a:extLst>
                <a:ext uri="{FF2B5EF4-FFF2-40B4-BE49-F238E27FC236}">
                  <a16:creationId xmlns:a16="http://schemas.microsoft.com/office/drawing/2014/main" id="{13DD9B41-3A96-36D3-E224-D13BB259020B}"/>
                </a:ext>
              </a:extLst>
            </p:cNvPr>
            <p:cNvCxnSpPr/>
            <p:nvPr/>
          </p:nvCxnSpPr>
          <p:spPr>
            <a:xfrm>
              <a:off x="5472" y="3744"/>
              <a:ext cx="0" cy="33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84" name="Google Shape;284;p21">
              <a:extLst>
                <a:ext uri="{FF2B5EF4-FFF2-40B4-BE49-F238E27FC236}">
                  <a16:creationId xmlns:a16="http://schemas.microsoft.com/office/drawing/2014/main" id="{7A08B814-F1EF-DB2A-E346-8D1189A31B4D}"/>
                </a:ext>
              </a:extLst>
            </p:cNvPr>
            <p:cNvCxnSpPr/>
            <p:nvPr/>
          </p:nvCxnSpPr>
          <p:spPr>
            <a:xfrm rot="10800000">
              <a:off x="144" y="2496"/>
              <a:ext cx="0" cy="158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85" name="Google Shape;285;p21">
              <a:extLst>
                <a:ext uri="{FF2B5EF4-FFF2-40B4-BE49-F238E27FC236}">
                  <a16:creationId xmlns:a16="http://schemas.microsoft.com/office/drawing/2014/main" id="{6ABE3C27-0E7C-AA56-8877-F0D8BBBD254D}"/>
                </a:ext>
              </a:extLst>
            </p:cNvPr>
            <p:cNvCxnSpPr/>
            <p:nvPr/>
          </p:nvCxnSpPr>
          <p:spPr>
            <a:xfrm>
              <a:off x="144" y="2496"/>
              <a:ext cx="192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sp>
          <p:nvSpPr>
            <p:cNvPr id="286" name="Google Shape;286;p21">
              <a:extLst>
                <a:ext uri="{FF2B5EF4-FFF2-40B4-BE49-F238E27FC236}">
                  <a16:creationId xmlns:a16="http://schemas.microsoft.com/office/drawing/2014/main" id="{593DFBDC-14DD-8934-56E4-719A16D934FE}"/>
                </a:ext>
              </a:extLst>
            </p:cNvPr>
            <p:cNvSpPr txBox="1"/>
            <p:nvPr/>
          </p:nvSpPr>
          <p:spPr>
            <a:xfrm>
              <a:off x="1920" y="4012"/>
              <a:ext cx="1728" cy="3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70"/>
                <a:buFont typeface="Noto Sans Symbols"/>
                <a:buNone/>
              </a:pPr>
              <a:r>
                <a:rPr lang="es-PE" sz="2400" b="0" i="1" u="none" strike="noStrike" cap="none" dirty="0">
                  <a:solidFill>
                    <a:srgbClr val="276399"/>
                  </a:solidFill>
                  <a:latin typeface="Calibri"/>
                  <a:ea typeface="Calibri"/>
                  <a:cs typeface="Calibri"/>
                  <a:sym typeface="Calibri"/>
                </a:rPr>
                <a:t>Retroalimentación</a:t>
              </a:r>
              <a:endParaRPr sz="2400" dirty="0">
                <a:solidFill>
                  <a:srgbClr val="276399"/>
                </a:solidFill>
              </a:endParaRPr>
            </a:p>
          </p:txBody>
        </p:sp>
      </p:grpSp>
      <p:sp>
        <p:nvSpPr>
          <p:cNvPr id="287" name="Google Shape;287;p21">
            <a:extLst>
              <a:ext uri="{FF2B5EF4-FFF2-40B4-BE49-F238E27FC236}">
                <a16:creationId xmlns:a16="http://schemas.microsoft.com/office/drawing/2014/main" id="{36F08816-8316-1D40-30B2-E888D2AD95D0}"/>
              </a:ext>
            </a:extLst>
          </p:cNvPr>
          <p:cNvSpPr/>
          <p:nvPr/>
        </p:nvSpPr>
        <p:spPr>
          <a:xfrm>
            <a:off x="2004120" y="1231085"/>
            <a:ext cx="8458200" cy="4235450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lg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997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ementos multimedia en línea 1" title="Proceso de Planificación Estratégica - Planeamiento Estratégico">
            <a:hlinkClick r:id="" action="ppaction://media"/>
            <a:extLst>
              <a:ext uri="{FF2B5EF4-FFF2-40B4-BE49-F238E27FC236}">
                <a16:creationId xmlns:a16="http://schemas.microsoft.com/office/drawing/2014/main" id="{20E98315-4729-57B0-D749-5F3CAA879EB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14793" y="0"/>
            <a:ext cx="12138025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614A3B1-25AF-5E12-6BC3-FAB26FF3E6CE}"/>
              </a:ext>
            </a:extLst>
          </p:cNvPr>
          <p:cNvSpPr txBox="1"/>
          <p:nvPr/>
        </p:nvSpPr>
        <p:spPr>
          <a:xfrm>
            <a:off x="4695669" y="6439711"/>
            <a:ext cx="50779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>
                <a:hlinkClick r:id="rId4"/>
              </a:rPr>
              <a:t>https://www.youtube.com/watch?v=UCFaXHPqynI</a:t>
            </a:r>
            <a:endParaRPr lang="es-PE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682649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>
          <a:extLst>
            <a:ext uri="{FF2B5EF4-FFF2-40B4-BE49-F238E27FC236}">
              <a16:creationId xmlns:a16="http://schemas.microsoft.com/office/drawing/2014/main" id="{08585B74-2D7C-2BAC-512B-26A32E0B8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40" descr="Resultado de imagen para vision">
            <a:extLst>
              <a:ext uri="{FF2B5EF4-FFF2-40B4-BE49-F238E27FC236}">
                <a16:creationId xmlns:a16="http://schemas.microsoft.com/office/drawing/2014/main" id="{54E7AC2C-C96F-CF79-BEF0-C3302293574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12005"/>
          <a:stretch/>
        </p:blipFill>
        <p:spPr>
          <a:xfrm>
            <a:off x="-1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0">
            <a:extLst>
              <a:ext uri="{FF2B5EF4-FFF2-40B4-BE49-F238E27FC236}">
                <a16:creationId xmlns:a16="http://schemas.microsoft.com/office/drawing/2014/main" id="{1AA5BBDB-537F-9CC4-5C32-ECC2023B7426}"/>
              </a:ext>
            </a:extLst>
          </p:cNvPr>
          <p:cNvSpPr/>
          <p:nvPr/>
        </p:nvSpPr>
        <p:spPr>
          <a:xfrm>
            <a:off x="-1" y="-1"/>
            <a:ext cx="6309360" cy="6858001"/>
          </a:xfrm>
          <a:prstGeom prst="rect">
            <a:avLst/>
          </a:prstGeom>
          <a:solidFill>
            <a:schemeClr val="dk1">
              <a:alpha val="2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PE"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0">
            <a:extLst>
              <a:ext uri="{FF2B5EF4-FFF2-40B4-BE49-F238E27FC236}">
                <a16:creationId xmlns:a16="http://schemas.microsoft.com/office/drawing/2014/main" id="{C0C22B60-FE8D-21FF-DE83-027E6E5AD3DA}"/>
              </a:ext>
            </a:extLst>
          </p:cNvPr>
          <p:cNvSpPr txBox="1"/>
          <p:nvPr/>
        </p:nvSpPr>
        <p:spPr>
          <a:xfrm>
            <a:off x="213358" y="1777601"/>
            <a:ext cx="6096001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260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 que aún no es pero queremos que sea.</a:t>
            </a:r>
            <a:endParaRPr sz="2600" dirty="0"/>
          </a:p>
          <a:p>
            <a:pPr marL="457200" marR="0" lvl="0" indent="-457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260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fotografía del futuro.</a:t>
            </a:r>
            <a:endParaRPr sz="2600" dirty="0"/>
          </a:p>
          <a:p>
            <a:pPr marL="457200" marR="0" lvl="0" indent="-457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260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dirección hacia la cual quiere irse.</a:t>
            </a:r>
            <a:endParaRPr sz="2600" dirty="0"/>
          </a:p>
          <a:p>
            <a:pPr marL="457200" marR="0" lvl="0" indent="-457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260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Alusión al giro de la empresa</a:t>
            </a:r>
            <a:endParaRPr sz="2600" dirty="0"/>
          </a:p>
          <a:p>
            <a:pPr marL="457200" marR="0" lvl="0" indent="-457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260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Redacción breve.</a:t>
            </a:r>
            <a:endParaRPr sz="2600" dirty="0"/>
          </a:p>
          <a:p>
            <a:pPr marL="457200" marR="0" lvl="0" indent="-457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260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Inspiradora y compartida por todos.</a:t>
            </a:r>
          </a:p>
          <a:p>
            <a:pPr marL="457200" indent="-457200">
              <a:spcBef>
                <a:spcPts val="600"/>
              </a:spcBef>
              <a:buClr>
                <a:schemeClr val="lt1"/>
              </a:buClr>
              <a:buSzPct val="100000"/>
              <a:buFont typeface="Arial" panose="020B0604020202020204" pitchFamily="34" charset="0"/>
              <a:buChar char="•"/>
            </a:pPr>
            <a:r>
              <a:rPr lang="es-PE" sz="2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propósito que persigue una organización.</a:t>
            </a:r>
          </a:p>
        </p:txBody>
      </p:sp>
      <p:sp>
        <p:nvSpPr>
          <p:cNvPr id="301" name="Google Shape;301;p40">
            <a:extLst>
              <a:ext uri="{FF2B5EF4-FFF2-40B4-BE49-F238E27FC236}">
                <a16:creationId xmlns:a16="http://schemas.microsoft.com/office/drawing/2014/main" id="{DFC98DD8-62AD-2C4F-DE5B-661B2B49C0BA}"/>
              </a:ext>
            </a:extLst>
          </p:cNvPr>
          <p:cNvSpPr txBox="1"/>
          <p:nvPr/>
        </p:nvSpPr>
        <p:spPr>
          <a:xfrm>
            <a:off x="-1" y="688707"/>
            <a:ext cx="6096001" cy="866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lang="es-PE" sz="4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Visión</a:t>
            </a:r>
            <a:endParaRPr lang="es-PE" sz="4000" dirty="0"/>
          </a:p>
        </p:txBody>
      </p:sp>
    </p:spTree>
    <p:extLst>
      <p:ext uri="{BB962C8B-B14F-4D97-AF65-F5344CB8AC3E}">
        <p14:creationId xmlns:p14="http://schemas.microsoft.com/office/powerpoint/2010/main" val="3722630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41" descr="Coca-cola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90348" y="900435"/>
            <a:ext cx="4630196" cy="44510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8D85E5B-483A-48D9-B1B4-98AAEF1C8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1005" y="1666261"/>
            <a:ext cx="5099887" cy="2919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-17457" rIns="0" bIns="-1745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PE" sz="24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inherit"/>
              </a:rPr>
              <a:t>Nuestra visión es crear las marcas y la selección de bebidas que la gente adora, para refrescar su cuerpo y espíritu. Y hacerlo de maneras que creen un negocio más sostenible y un futuro compartido mejor que marque la diferencia en la vida de las personas, las comunidades y nuestro planeta.</a:t>
            </a:r>
            <a:r>
              <a:rPr kumimoji="0" lang="es-ES" altLang="es-P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ES" altLang="es-P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181C1EA-9509-4542-7C03-772212AF41ED}"/>
              </a:ext>
            </a:extLst>
          </p:cNvPr>
          <p:cNvSpPr txBox="1"/>
          <p:nvPr/>
        </p:nvSpPr>
        <p:spPr>
          <a:xfrm>
            <a:off x="7494507" y="5957565"/>
            <a:ext cx="40779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900" dirty="0">
                <a:hlinkClick r:id="rId4"/>
              </a:rPr>
              <a:t>https://www.coca-colacompany.com/about-us/purpose-and-vision#:~:text=Our%20Vision:,lives%2C%20communities%20and%20our%</a:t>
            </a:r>
            <a:endParaRPr lang="es-PE" sz="900" dirty="0"/>
          </a:p>
          <a:p>
            <a:endParaRPr lang="es-P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tis 2 Decoraciones En Forma De Corazón De Madera Blanca Foto de stock">
            <a:extLst>
              <a:ext uri="{FF2B5EF4-FFF2-40B4-BE49-F238E27FC236}">
                <a16:creationId xmlns:a16="http://schemas.microsoft.com/office/drawing/2014/main" id="{537BCA5A-997A-ED85-C632-2A0884728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051" y="0"/>
            <a:ext cx="102679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2D67E3E-79DC-FD79-D2DC-9A3ACB52AD6C}"/>
              </a:ext>
            </a:extLst>
          </p:cNvPr>
          <p:cNvSpPr txBox="1"/>
          <p:nvPr/>
        </p:nvSpPr>
        <p:spPr>
          <a:xfrm>
            <a:off x="348271" y="545824"/>
            <a:ext cx="516811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3200" dirty="0">
                <a:solidFill>
                  <a:schemeClr val="bg1"/>
                </a:solidFill>
              </a:rPr>
              <a:t>1. Identificación de la misión y objetivos</a:t>
            </a:r>
          </a:p>
        </p:txBody>
      </p:sp>
    </p:spTree>
    <p:extLst>
      <p:ext uri="{BB962C8B-B14F-4D97-AF65-F5344CB8AC3E}">
        <p14:creationId xmlns:p14="http://schemas.microsoft.com/office/powerpoint/2010/main" val="3972312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34000"/>
          </a:blip>
          <a:stretch>
            <a:fillRect/>
          </a:stretch>
        </a:blip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/>
        </p:nvSpPr>
        <p:spPr>
          <a:xfrm>
            <a:off x="239842" y="1784980"/>
            <a:ext cx="4497049" cy="4329350"/>
          </a:xfrm>
          <a:prstGeom prst="rect">
            <a:avLst/>
          </a:prstGeom>
          <a:solidFill>
            <a:schemeClr val="lt1">
              <a:alpha val="91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s-PE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 el reflejo de la visión de los fundadores, ofrece direccionalidad.</a:t>
            </a:r>
            <a:endParaRPr sz="2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457200">
              <a:spcBef>
                <a:spcPts val="1400"/>
              </a:spcBef>
              <a:buSzPct val="100000"/>
              <a:buFont typeface="Arial"/>
              <a:buChar char="•"/>
            </a:pPr>
            <a:r>
              <a:rPr lang="es-PE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 la empresa: ¿</a:t>
            </a:r>
            <a:r>
              <a:rPr lang="es-PE" sz="28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 qué </a:t>
            </a:r>
            <a:r>
              <a:rPr lang="es-PE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 hacemos? 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s-PE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misión debe reflejar la propuesta de valor para los grupos de interés clave. </a:t>
            </a:r>
            <a:endParaRPr dirty="0"/>
          </a:p>
        </p:txBody>
      </p:sp>
      <p:sp>
        <p:nvSpPr>
          <p:cNvPr id="327" name="Google Shape;327;p43"/>
          <p:cNvSpPr txBox="1"/>
          <p:nvPr/>
        </p:nvSpPr>
        <p:spPr>
          <a:xfrm>
            <a:off x="239842" y="382664"/>
            <a:ext cx="2878111" cy="866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lang="es-PE" sz="32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Misión</a:t>
            </a:r>
            <a:endParaRPr sz="32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15" descr="Resultado de imagen para misi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95806" y="3840480"/>
            <a:ext cx="3296194" cy="3017520"/>
          </a:xfrm>
          <a:prstGeom prst="parallelogram">
            <a:avLst/>
          </a:prstGeom>
          <a:noFill/>
          <a:ln>
            <a:noFill/>
          </a:ln>
        </p:spPr>
      </p:pic>
      <p:sp>
        <p:nvSpPr>
          <p:cNvPr id="333" name="Google Shape;333;p15"/>
          <p:cNvSpPr txBox="1"/>
          <p:nvPr/>
        </p:nvSpPr>
        <p:spPr>
          <a:xfrm>
            <a:off x="574740" y="335693"/>
            <a:ext cx="9969163" cy="78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"/>
              <a:buFont typeface="Noto Sans Symbols"/>
              <a:buNone/>
            </a:pPr>
            <a:r>
              <a:rPr lang="es-PE" sz="280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s-PE" sz="320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Componentes de una declaración de misión</a:t>
            </a:r>
            <a:endParaRPr sz="1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AE1658B-D0DC-8E70-E9EC-E4C2E04EF678}"/>
              </a:ext>
            </a:extLst>
          </p:cNvPr>
          <p:cNvSpPr txBox="1"/>
          <p:nvPr/>
        </p:nvSpPr>
        <p:spPr>
          <a:xfrm>
            <a:off x="171894" y="1367041"/>
            <a:ext cx="8358151" cy="4853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33475" marR="0" lvl="1" indent="-45720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s-PE" sz="23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</a:t>
            </a:r>
            <a:r>
              <a:rPr lang="es-PE" sz="23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Quiénes </a:t>
            </a:r>
            <a:r>
              <a:rPr lang="es-PE" sz="23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son los clientes de la empresa? </a:t>
            </a:r>
            <a:endParaRPr lang="es-PE" sz="2300" dirty="0"/>
          </a:p>
          <a:p>
            <a:pPr marL="1133475" marR="0" lvl="1" indent="-45720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s-PE" sz="23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¿En qué región compite</a:t>
            </a:r>
            <a:r>
              <a:rPr lang="es-PE" sz="23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</a:p>
          <a:p>
            <a:pPr marL="1133475" lvl="1" indent="-457200" algn="just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100000"/>
              <a:buFont typeface="Arial"/>
              <a:buChar char="•"/>
            </a:pPr>
            <a:r>
              <a:rPr lang="es-PE" sz="23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</a:t>
            </a:r>
            <a:r>
              <a:rPr lang="es-PE" sz="2300" dirty="0">
                <a:latin typeface="Calibri"/>
                <a:ea typeface="Calibri"/>
                <a:cs typeface="Calibri"/>
                <a:sym typeface="Calibri"/>
              </a:rPr>
              <a:t>Está comprometida con el crecimiento y la estabilidad financiera</a:t>
            </a:r>
            <a:r>
              <a:rPr lang="es-PE" sz="23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lang="es-PE" sz="2300" dirty="0">
              <a:latin typeface="Calibri"/>
              <a:ea typeface="Calibri"/>
              <a:cs typeface="Calibri"/>
              <a:sym typeface="Calibri"/>
            </a:endParaRPr>
          </a:p>
          <a:p>
            <a:pPr marL="1133475" marR="0" lvl="1" indent="-45720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s-PE" sz="23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</a:t>
            </a:r>
            <a:r>
              <a:rPr lang="es-PE" sz="23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Cuáles son sus valores</a:t>
            </a:r>
            <a:r>
              <a:rPr lang="es-PE" sz="23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lang="es-PE" sz="2300" dirty="0"/>
          </a:p>
          <a:p>
            <a:pPr marL="1133475" marR="0" lvl="1" indent="-45720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s-PE" sz="23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</a:t>
            </a:r>
            <a:r>
              <a:rPr lang="es-PE" sz="23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Qué tan sensible es a las preocupaciones ambientales y de la sociedad</a:t>
            </a:r>
            <a:r>
              <a:rPr lang="es-PE" sz="23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lang="es-PE" sz="2300" dirty="0"/>
          </a:p>
          <a:p>
            <a:pPr marL="1133475" marR="0" lvl="1" indent="-45720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s-PE" sz="23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</a:t>
            </a:r>
            <a:r>
              <a:rPr lang="es-PE" sz="23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Cuáles son los principales productos y servicios</a:t>
            </a:r>
            <a:r>
              <a:rPr lang="es-PE" sz="23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</a:p>
          <a:p>
            <a:pPr marL="1133475" marR="0" lvl="1" indent="-45720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s-PE" sz="2300" dirty="0">
                <a:latin typeface="Calibri"/>
                <a:ea typeface="Calibri"/>
                <a:cs typeface="Calibri"/>
                <a:sym typeface="Calibri"/>
              </a:rPr>
              <a:t>¿Está actualizada en materia tecnológica?</a:t>
            </a:r>
          </a:p>
          <a:p>
            <a:pPr marL="1133475" marR="0" lvl="1" indent="-457200" algn="just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s-PE" sz="2300" dirty="0">
                <a:latin typeface="Calibri"/>
                <a:ea typeface="Calibri"/>
                <a:cs typeface="Calibri"/>
                <a:sym typeface="Calibri"/>
              </a:rPr>
              <a:t>¿Los empleados constituyen un activo valiosos para la empresa?</a:t>
            </a:r>
            <a:endParaRPr lang="es-PE" sz="2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44" descr="Coca-cola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26865" y="797445"/>
            <a:ext cx="5369441" cy="5369441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4"/>
          <p:cNvSpPr/>
          <p:nvPr/>
        </p:nvSpPr>
        <p:spPr>
          <a:xfrm>
            <a:off x="1023033" y="1679378"/>
            <a:ext cx="5447415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Arial"/>
              <a:buNone/>
            </a:pPr>
            <a:r>
              <a:rPr lang="es-PE" sz="2800" dirty="0">
                <a:solidFill>
                  <a:srgbClr val="333333"/>
                </a:solidFill>
              </a:rPr>
              <a:t>M</a:t>
            </a:r>
            <a:r>
              <a:rPr lang="es-PE" sz="2800" i="0" u="none" strike="noStrike" cap="none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isión</a:t>
            </a:r>
            <a:endParaRPr sz="2800" i="0" u="none" strike="noStrike" cap="none" dirty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None/>
            </a:pPr>
            <a:r>
              <a:rPr lang="es-PE" sz="28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Refrescar al mundo y marcar la diferencia en la vida de las personas, la sociedad y el planeta.</a:t>
            </a:r>
            <a:endParaRPr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Objetivos: qué son, características, tipos y ejemplos">
            <a:extLst>
              <a:ext uri="{FF2B5EF4-FFF2-40B4-BE49-F238E27FC236}">
                <a16:creationId xmlns:a16="http://schemas.microsoft.com/office/drawing/2014/main" id="{F44D1B61-71BC-B074-C36E-C9CCB694E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3124" y="3072984"/>
            <a:ext cx="7278876" cy="378501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868D502A-9B50-8FF7-1063-30918CDF4DD1}"/>
              </a:ext>
            </a:extLst>
          </p:cNvPr>
          <p:cNvSpPr txBox="1">
            <a:spLocks noChangeArrowheads="1"/>
          </p:cNvSpPr>
          <p:nvPr/>
        </p:nvSpPr>
        <p:spPr>
          <a:xfrm>
            <a:off x="356153" y="115095"/>
            <a:ext cx="3034622" cy="95406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ES_tradnl" sz="4000" dirty="0">
                <a:latin typeface="+mn-lt"/>
                <a:ea typeface="ＭＳ Ｐゴシック" charset="0"/>
                <a:cs typeface="Arial" panose="020B0604020202020204" pitchFamily="34" charset="0"/>
              </a:rPr>
              <a:t>Objetivos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49432F5-D885-0B62-67CB-493F50CBC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855" y="3251597"/>
            <a:ext cx="4366449" cy="1835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eaLnBrk="0" hangingPunct="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150000"/>
            </a:pPr>
            <a:r>
              <a:rPr kumimoji="1" lang="es-ES_tradnl" sz="2400" dirty="0">
                <a:cs typeface="Arial" panose="020B0604020202020204" pitchFamily="34" charset="0"/>
              </a:rPr>
              <a:t>Son los que funcionan como guía de las decisiones y representan los criterios a partir de los cuales serán medidos los resultados obtenidos.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856466A-39E3-3B24-0D33-642E84EF0766}"/>
              </a:ext>
            </a:extLst>
          </p:cNvPr>
          <p:cNvSpPr txBox="1"/>
          <p:nvPr/>
        </p:nvSpPr>
        <p:spPr>
          <a:xfrm>
            <a:off x="718576" y="1620524"/>
            <a:ext cx="7915758" cy="628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20000"/>
              </a:spcBef>
              <a:buClr>
                <a:srgbClr val="006600"/>
              </a:buClr>
              <a:buSzPct val="150000"/>
            </a:pPr>
            <a:r>
              <a:rPr kumimoji="1" lang="es-ES_tradnl" sz="3200" dirty="0">
                <a:cs typeface="Arial" panose="020B0604020202020204" pitchFamily="34" charset="0"/>
              </a:rPr>
              <a:t>Son los resultados que se desea lograr.</a:t>
            </a:r>
          </a:p>
        </p:txBody>
      </p:sp>
    </p:spTree>
    <p:extLst>
      <p:ext uri="{BB962C8B-B14F-4D97-AF65-F5344CB8AC3E}">
        <p14:creationId xmlns:p14="http://schemas.microsoft.com/office/powerpoint/2010/main" val="41704900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B5CB77-9445-07E2-BE40-AADA3700B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o 16">
            <a:extLst>
              <a:ext uri="{FF2B5EF4-FFF2-40B4-BE49-F238E27FC236}">
                <a16:creationId xmlns:a16="http://schemas.microsoft.com/office/drawing/2014/main" id="{8AB3410B-8E13-BF04-770E-5A0F11FD4623}"/>
              </a:ext>
            </a:extLst>
          </p:cNvPr>
          <p:cNvGrpSpPr/>
          <p:nvPr/>
        </p:nvGrpSpPr>
        <p:grpSpPr>
          <a:xfrm>
            <a:off x="8285248" y="3478519"/>
            <a:ext cx="832626" cy="391646"/>
            <a:chOff x="5345112" y="2444570"/>
            <a:chExt cx="452659" cy="529526"/>
          </a:xfrm>
          <a:solidFill>
            <a:schemeClr val="bg1">
              <a:lumMod val="75000"/>
            </a:schemeClr>
          </a:solidFill>
        </p:grpSpPr>
        <p:sp>
          <p:nvSpPr>
            <p:cNvPr id="18" name="Flecha: a la derecha 17">
              <a:extLst>
                <a:ext uri="{FF2B5EF4-FFF2-40B4-BE49-F238E27FC236}">
                  <a16:creationId xmlns:a16="http://schemas.microsoft.com/office/drawing/2014/main" id="{2E6170B3-D178-C217-50CF-24F4E4D44AE5}"/>
                </a:ext>
              </a:extLst>
            </p:cNvPr>
            <p:cNvSpPr/>
            <p:nvPr/>
          </p:nvSpPr>
          <p:spPr>
            <a:xfrm>
              <a:off x="5345112" y="2444570"/>
              <a:ext cx="452659" cy="529526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 sz="2400"/>
            </a:p>
          </p:txBody>
        </p:sp>
        <p:sp>
          <p:nvSpPr>
            <p:cNvPr id="19" name="Flecha: a la derecha 4">
              <a:extLst>
                <a:ext uri="{FF2B5EF4-FFF2-40B4-BE49-F238E27FC236}">
                  <a16:creationId xmlns:a16="http://schemas.microsoft.com/office/drawing/2014/main" id="{2E2D92C3-CD6A-5832-5931-AAF41EDC7647}"/>
                </a:ext>
              </a:extLst>
            </p:cNvPr>
            <p:cNvSpPr txBox="1"/>
            <p:nvPr/>
          </p:nvSpPr>
          <p:spPr>
            <a:xfrm>
              <a:off x="5345112" y="2550475"/>
              <a:ext cx="316861" cy="31771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400" kern="1200"/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F6C2FE8C-C391-D07D-9552-74B744055392}"/>
              </a:ext>
            </a:extLst>
          </p:cNvPr>
          <p:cNvGrpSpPr/>
          <p:nvPr/>
        </p:nvGrpSpPr>
        <p:grpSpPr>
          <a:xfrm>
            <a:off x="8241274" y="5354601"/>
            <a:ext cx="981103" cy="391646"/>
            <a:chOff x="5345112" y="2444570"/>
            <a:chExt cx="452659" cy="529526"/>
          </a:xfrm>
          <a:solidFill>
            <a:schemeClr val="bg1">
              <a:lumMod val="75000"/>
            </a:schemeClr>
          </a:solidFill>
        </p:grpSpPr>
        <p:sp>
          <p:nvSpPr>
            <p:cNvPr id="4" name="Flecha: a la derecha 3">
              <a:extLst>
                <a:ext uri="{FF2B5EF4-FFF2-40B4-BE49-F238E27FC236}">
                  <a16:creationId xmlns:a16="http://schemas.microsoft.com/office/drawing/2014/main" id="{79657531-AAF8-9C20-BA48-204A07B0AA59}"/>
                </a:ext>
              </a:extLst>
            </p:cNvPr>
            <p:cNvSpPr/>
            <p:nvPr/>
          </p:nvSpPr>
          <p:spPr>
            <a:xfrm>
              <a:off x="5345112" y="2444570"/>
              <a:ext cx="452659" cy="529526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 sz="2400"/>
            </a:p>
          </p:txBody>
        </p:sp>
        <p:sp>
          <p:nvSpPr>
            <p:cNvPr id="16" name="Flecha: a la derecha 4">
              <a:extLst>
                <a:ext uri="{FF2B5EF4-FFF2-40B4-BE49-F238E27FC236}">
                  <a16:creationId xmlns:a16="http://schemas.microsoft.com/office/drawing/2014/main" id="{8D287226-3332-2190-E5F7-86CF6311B1BF}"/>
                </a:ext>
              </a:extLst>
            </p:cNvPr>
            <p:cNvSpPr txBox="1"/>
            <p:nvPr/>
          </p:nvSpPr>
          <p:spPr>
            <a:xfrm>
              <a:off x="5345112" y="2550475"/>
              <a:ext cx="316861" cy="31771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400" kern="1200"/>
            </a:p>
          </p:txBody>
        </p:sp>
      </p:grp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80C259C4-D0A9-B1B3-3F62-A38759C177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2877994"/>
              </p:ext>
            </p:extLst>
          </p:nvPr>
        </p:nvGraphicFramePr>
        <p:xfrm>
          <a:off x="882149" y="1541197"/>
          <a:ext cx="7324978" cy="44646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98F1A36A-1669-E69F-1A04-35DED23033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0533427"/>
              </p:ext>
            </p:extLst>
          </p:nvPr>
        </p:nvGraphicFramePr>
        <p:xfrm>
          <a:off x="804028" y="3332717"/>
          <a:ext cx="7291546" cy="45822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7" name="Grupo 6">
            <a:extLst>
              <a:ext uri="{FF2B5EF4-FFF2-40B4-BE49-F238E27FC236}">
                <a16:creationId xmlns:a16="http://schemas.microsoft.com/office/drawing/2014/main" id="{C08B1103-14CA-A705-A8E3-A7471827D922}"/>
              </a:ext>
            </a:extLst>
          </p:cNvPr>
          <p:cNvGrpSpPr/>
          <p:nvPr/>
        </p:nvGrpSpPr>
        <p:grpSpPr>
          <a:xfrm>
            <a:off x="804028" y="1446598"/>
            <a:ext cx="2135187" cy="1281112"/>
            <a:chOff x="5985668" y="514902"/>
            <a:chExt cx="2135187" cy="1281112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71610B5B-61D0-A605-838C-EA2A32A9BDA9}"/>
                </a:ext>
              </a:extLst>
            </p:cNvPr>
            <p:cNvSpPr/>
            <p:nvPr/>
          </p:nvSpPr>
          <p:spPr>
            <a:xfrm>
              <a:off x="5985668" y="514902"/>
              <a:ext cx="2135187" cy="1281112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 sz="2400"/>
            </a:p>
          </p:txBody>
        </p:sp>
        <p:sp>
          <p:nvSpPr>
            <p:cNvPr id="9" name="Rectángulo: esquinas redondeadas 4">
              <a:extLst>
                <a:ext uri="{FF2B5EF4-FFF2-40B4-BE49-F238E27FC236}">
                  <a16:creationId xmlns:a16="http://schemas.microsoft.com/office/drawing/2014/main" id="{8E73ACAD-0B60-CCB8-54DA-94DA80516049}"/>
                </a:ext>
              </a:extLst>
            </p:cNvPr>
            <p:cNvSpPr txBox="1"/>
            <p:nvPr/>
          </p:nvSpPr>
          <p:spPr>
            <a:xfrm>
              <a:off x="6023190" y="552424"/>
              <a:ext cx="2060143" cy="120606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PE" sz="2400" kern="1200" dirty="0"/>
                <a:t>Por su alcance</a:t>
              </a: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3F61DFAD-5750-5254-7D5F-502983DA178D}"/>
              </a:ext>
            </a:extLst>
          </p:cNvPr>
          <p:cNvGrpSpPr/>
          <p:nvPr/>
        </p:nvGrpSpPr>
        <p:grpSpPr>
          <a:xfrm>
            <a:off x="8790724" y="3322550"/>
            <a:ext cx="1943106" cy="839164"/>
            <a:chOff x="5985668" y="514902"/>
            <a:chExt cx="2135187" cy="1281112"/>
          </a:xfrm>
          <a:solidFill>
            <a:schemeClr val="bg1">
              <a:lumMod val="65000"/>
            </a:schemeClr>
          </a:solidFill>
        </p:grpSpPr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476E0DE4-E457-86E0-7C76-2983F8F80821}"/>
                </a:ext>
              </a:extLst>
            </p:cNvPr>
            <p:cNvSpPr/>
            <p:nvPr/>
          </p:nvSpPr>
          <p:spPr>
            <a:xfrm>
              <a:off x="5985668" y="514902"/>
              <a:ext cx="2135187" cy="1281112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 sz="2000"/>
            </a:p>
          </p:txBody>
        </p:sp>
        <p:sp>
          <p:nvSpPr>
            <p:cNvPr id="12" name="Rectángulo: esquinas redondeadas 4">
              <a:extLst>
                <a:ext uri="{FF2B5EF4-FFF2-40B4-BE49-F238E27FC236}">
                  <a16:creationId xmlns:a16="http://schemas.microsoft.com/office/drawing/2014/main" id="{884F5784-BE57-5BB5-CC52-D397E8A8C746}"/>
                </a:ext>
              </a:extLst>
            </p:cNvPr>
            <p:cNvSpPr txBox="1"/>
            <p:nvPr/>
          </p:nvSpPr>
          <p:spPr>
            <a:xfrm>
              <a:off x="6023191" y="657455"/>
              <a:ext cx="2060143" cy="110103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PE" sz="2000" kern="1200" dirty="0"/>
                <a:t>Únicos</a:t>
              </a: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7BCBD266-8A63-0551-2833-1232C7268B59}"/>
              </a:ext>
            </a:extLst>
          </p:cNvPr>
          <p:cNvGrpSpPr/>
          <p:nvPr/>
        </p:nvGrpSpPr>
        <p:grpSpPr>
          <a:xfrm>
            <a:off x="8824871" y="5248336"/>
            <a:ext cx="1943106" cy="839164"/>
            <a:chOff x="5985668" y="514902"/>
            <a:chExt cx="2135187" cy="1281112"/>
          </a:xfrm>
          <a:solidFill>
            <a:schemeClr val="bg1">
              <a:lumMod val="65000"/>
            </a:schemeClr>
          </a:solidFill>
        </p:grpSpPr>
        <p:sp>
          <p:nvSpPr>
            <p:cNvPr id="14" name="Rectángulo: esquinas redondeadas 13">
              <a:extLst>
                <a:ext uri="{FF2B5EF4-FFF2-40B4-BE49-F238E27FC236}">
                  <a16:creationId xmlns:a16="http://schemas.microsoft.com/office/drawing/2014/main" id="{8E7A15C7-3149-CCF1-49A2-0DC1C0DCE624}"/>
                </a:ext>
              </a:extLst>
            </p:cNvPr>
            <p:cNvSpPr/>
            <p:nvPr/>
          </p:nvSpPr>
          <p:spPr>
            <a:xfrm>
              <a:off x="5985668" y="514902"/>
              <a:ext cx="2135187" cy="1281112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 sz="2000"/>
            </a:p>
          </p:txBody>
        </p:sp>
        <p:sp>
          <p:nvSpPr>
            <p:cNvPr id="15" name="Rectángulo: esquinas redondeadas 4">
              <a:extLst>
                <a:ext uri="{FF2B5EF4-FFF2-40B4-BE49-F238E27FC236}">
                  <a16:creationId xmlns:a16="http://schemas.microsoft.com/office/drawing/2014/main" id="{A7B4F073-87FD-07AF-EB79-4A4BD889F77A}"/>
                </a:ext>
              </a:extLst>
            </p:cNvPr>
            <p:cNvSpPr txBox="1"/>
            <p:nvPr/>
          </p:nvSpPr>
          <p:spPr>
            <a:xfrm>
              <a:off x="6023190" y="552424"/>
              <a:ext cx="2060143" cy="120606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PE" sz="2000" kern="1200" dirty="0"/>
                <a:t>Permanentes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7BD6ECE-B97D-305C-CC5D-AB38B11DBF6A}"/>
              </a:ext>
            </a:extLst>
          </p:cNvPr>
          <p:cNvGrpSpPr/>
          <p:nvPr/>
        </p:nvGrpSpPr>
        <p:grpSpPr>
          <a:xfrm>
            <a:off x="8764413" y="1494354"/>
            <a:ext cx="2135187" cy="1281112"/>
            <a:chOff x="5985668" y="514902"/>
            <a:chExt cx="2135187" cy="1281112"/>
          </a:xfrm>
          <a:solidFill>
            <a:schemeClr val="bg1">
              <a:lumMod val="50000"/>
            </a:schemeClr>
          </a:solidFill>
        </p:grpSpPr>
        <p:sp>
          <p:nvSpPr>
            <p:cNvPr id="21" name="Rectángulo: esquinas redondeadas 20">
              <a:extLst>
                <a:ext uri="{FF2B5EF4-FFF2-40B4-BE49-F238E27FC236}">
                  <a16:creationId xmlns:a16="http://schemas.microsoft.com/office/drawing/2014/main" id="{0DD5FC34-3672-F517-9285-53CEA85E3B3E}"/>
                </a:ext>
              </a:extLst>
            </p:cNvPr>
            <p:cNvSpPr/>
            <p:nvPr/>
          </p:nvSpPr>
          <p:spPr>
            <a:xfrm>
              <a:off x="5985668" y="514902"/>
              <a:ext cx="2135187" cy="1281112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 sz="2400"/>
            </a:p>
          </p:txBody>
        </p:sp>
        <p:sp>
          <p:nvSpPr>
            <p:cNvPr id="22" name="Rectángulo: esquinas redondeadas 4">
              <a:extLst>
                <a:ext uri="{FF2B5EF4-FFF2-40B4-BE49-F238E27FC236}">
                  <a16:creationId xmlns:a16="http://schemas.microsoft.com/office/drawing/2014/main" id="{A0322E33-4984-534D-6C68-8C63DAB70553}"/>
                </a:ext>
              </a:extLst>
            </p:cNvPr>
            <p:cNvSpPr txBox="1"/>
            <p:nvPr/>
          </p:nvSpPr>
          <p:spPr>
            <a:xfrm>
              <a:off x="6023190" y="552424"/>
              <a:ext cx="2060143" cy="120606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PE" sz="2400" kern="1200" dirty="0"/>
                <a:t>Por su frecuencia de uso</a:t>
              </a:r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1B123A7D-1158-782C-8C13-65360CFE4D23}"/>
              </a:ext>
            </a:extLst>
          </p:cNvPr>
          <p:cNvGrpSpPr/>
          <p:nvPr/>
        </p:nvGrpSpPr>
        <p:grpSpPr>
          <a:xfrm>
            <a:off x="3574622" y="1452795"/>
            <a:ext cx="2135187" cy="1281112"/>
            <a:chOff x="5985668" y="514902"/>
            <a:chExt cx="2135187" cy="1281112"/>
          </a:xfrm>
          <a:solidFill>
            <a:schemeClr val="bg1">
              <a:lumMod val="50000"/>
            </a:schemeClr>
          </a:solidFill>
        </p:grpSpPr>
        <p:sp>
          <p:nvSpPr>
            <p:cNvPr id="24" name="Rectángulo: esquinas redondeadas 23">
              <a:extLst>
                <a:ext uri="{FF2B5EF4-FFF2-40B4-BE49-F238E27FC236}">
                  <a16:creationId xmlns:a16="http://schemas.microsoft.com/office/drawing/2014/main" id="{705CA8BF-355A-3A84-37ED-C5129FA696DC}"/>
                </a:ext>
              </a:extLst>
            </p:cNvPr>
            <p:cNvSpPr/>
            <p:nvPr/>
          </p:nvSpPr>
          <p:spPr>
            <a:xfrm>
              <a:off x="5985668" y="514902"/>
              <a:ext cx="2135187" cy="1281112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 sz="2400"/>
            </a:p>
          </p:txBody>
        </p:sp>
        <p:sp>
          <p:nvSpPr>
            <p:cNvPr id="25" name="Rectángulo: esquinas redondeadas 4">
              <a:extLst>
                <a:ext uri="{FF2B5EF4-FFF2-40B4-BE49-F238E27FC236}">
                  <a16:creationId xmlns:a16="http://schemas.microsoft.com/office/drawing/2014/main" id="{629EE969-3186-0332-0B5A-39AE08DFFE5F}"/>
                </a:ext>
              </a:extLst>
            </p:cNvPr>
            <p:cNvSpPr txBox="1"/>
            <p:nvPr/>
          </p:nvSpPr>
          <p:spPr>
            <a:xfrm>
              <a:off x="6023190" y="552424"/>
              <a:ext cx="2060143" cy="120606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PE" sz="2400" kern="1200" dirty="0"/>
                <a:t>Por el tiempo</a:t>
              </a:r>
            </a:p>
          </p:txBody>
        </p:sp>
      </p:grpSp>
      <p:sp>
        <p:nvSpPr>
          <p:cNvPr id="33" name="Flecha: hacia abajo 32">
            <a:extLst>
              <a:ext uri="{FF2B5EF4-FFF2-40B4-BE49-F238E27FC236}">
                <a16:creationId xmlns:a16="http://schemas.microsoft.com/office/drawing/2014/main" id="{7CDAB5EB-C9AB-ADFA-C32D-B4CB68F9FE0D}"/>
              </a:ext>
            </a:extLst>
          </p:cNvPr>
          <p:cNvSpPr/>
          <p:nvPr/>
        </p:nvSpPr>
        <p:spPr>
          <a:xfrm>
            <a:off x="1627529" y="2716511"/>
            <a:ext cx="244092" cy="549000"/>
          </a:xfrm>
          <a:prstGeom prst="down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34" name="Flecha: hacia abajo 33">
            <a:extLst>
              <a:ext uri="{FF2B5EF4-FFF2-40B4-BE49-F238E27FC236}">
                <a16:creationId xmlns:a16="http://schemas.microsoft.com/office/drawing/2014/main" id="{AE2BE6F6-271D-99C5-B0BC-91AA7477F9D1}"/>
              </a:ext>
            </a:extLst>
          </p:cNvPr>
          <p:cNvSpPr/>
          <p:nvPr/>
        </p:nvSpPr>
        <p:spPr>
          <a:xfrm>
            <a:off x="4444395" y="2768181"/>
            <a:ext cx="244092" cy="549000"/>
          </a:xfrm>
          <a:prstGeom prst="down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5" name="Flecha: hacia abajo 34">
            <a:extLst>
              <a:ext uri="{FF2B5EF4-FFF2-40B4-BE49-F238E27FC236}">
                <a16:creationId xmlns:a16="http://schemas.microsoft.com/office/drawing/2014/main" id="{0F3FC0A6-AA87-DCB0-EEB1-1117901E46D1}"/>
              </a:ext>
            </a:extLst>
          </p:cNvPr>
          <p:cNvSpPr/>
          <p:nvPr/>
        </p:nvSpPr>
        <p:spPr>
          <a:xfrm>
            <a:off x="7175120" y="2778590"/>
            <a:ext cx="244092" cy="549000"/>
          </a:xfrm>
          <a:prstGeom prst="down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6" name="Flecha: hacia abajo 35">
            <a:extLst>
              <a:ext uri="{FF2B5EF4-FFF2-40B4-BE49-F238E27FC236}">
                <a16:creationId xmlns:a16="http://schemas.microsoft.com/office/drawing/2014/main" id="{91608F15-8274-B2C6-08BC-5AD39E685BA7}"/>
              </a:ext>
            </a:extLst>
          </p:cNvPr>
          <p:cNvSpPr/>
          <p:nvPr/>
        </p:nvSpPr>
        <p:spPr>
          <a:xfrm>
            <a:off x="9640231" y="2731091"/>
            <a:ext cx="244092" cy="549000"/>
          </a:xfrm>
          <a:prstGeom prst="down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37" name="Grupo 36">
            <a:extLst>
              <a:ext uri="{FF2B5EF4-FFF2-40B4-BE49-F238E27FC236}">
                <a16:creationId xmlns:a16="http://schemas.microsoft.com/office/drawing/2014/main" id="{D358D41E-0CB7-26C4-A73E-76D5F8F17D5C}"/>
              </a:ext>
            </a:extLst>
          </p:cNvPr>
          <p:cNvGrpSpPr/>
          <p:nvPr/>
        </p:nvGrpSpPr>
        <p:grpSpPr>
          <a:xfrm>
            <a:off x="6235572" y="1452658"/>
            <a:ext cx="2135187" cy="1281112"/>
            <a:chOff x="5985668" y="514902"/>
            <a:chExt cx="2135187" cy="1281112"/>
          </a:xfrm>
          <a:solidFill>
            <a:schemeClr val="bg1">
              <a:lumMod val="50000"/>
            </a:schemeClr>
          </a:solidFill>
        </p:grpSpPr>
        <p:sp>
          <p:nvSpPr>
            <p:cNvPr id="38" name="Rectángulo: esquinas redondeadas 37">
              <a:extLst>
                <a:ext uri="{FF2B5EF4-FFF2-40B4-BE49-F238E27FC236}">
                  <a16:creationId xmlns:a16="http://schemas.microsoft.com/office/drawing/2014/main" id="{C7875179-64D1-4495-D7F7-302FF869E47F}"/>
                </a:ext>
              </a:extLst>
            </p:cNvPr>
            <p:cNvSpPr/>
            <p:nvPr/>
          </p:nvSpPr>
          <p:spPr>
            <a:xfrm>
              <a:off x="5985668" y="514902"/>
              <a:ext cx="2135187" cy="1281112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 sz="2400"/>
            </a:p>
          </p:txBody>
        </p:sp>
        <p:sp>
          <p:nvSpPr>
            <p:cNvPr id="39" name="Rectángulo: esquinas redondeadas 4">
              <a:extLst>
                <a:ext uri="{FF2B5EF4-FFF2-40B4-BE49-F238E27FC236}">
                  <a16:creationId xmlns:a16="http://schemas.microsoft.com/office/drawing/2014/main" id="{57E98F39-5C01-6664-B65D-0080E215A9AC}"/>
                </a:ext>
              </a:extLst>
            </p:cNvPr>
            <p:cNvSpPr txBox="1"/>
            <p:nvPr/>
          </p:nvSpPr>
          <p:spPr>
            <a:xfrm>
              <a:off x="6023190" y="552424"/>
              <a:ext cx="2060143" cy="1206068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PE" sz="2400" kern="1200" dirty="0"/>
                <a:t>Por su especificidad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69791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E9BC1-C1FF-27B0-768F-96C3E548B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4F26FAE-207B-D288-8C93-6107A1742834}"/>
              </a:ext>
            </a:extLst>
          </p:cNvPr>
          <p:cNvCxnSpPr>
            <a:cxnSpLocks/>
          </p:cNvCxnSpPr>
          <p:nvPr/>
        </p:nvCxnSpPr>
        <p:spPr>
          <a:xfrm>
            <a:off x="5280132" y="3442157"/>
            <a:ext cx="1299246" cy="0"/>
          </a:xfrm>
          <a:prstGeom prst="straightConnector1">
            <a:avLst/>
          </a:prstGeom>
          <a:ln w="9525">
            <a:solidFill>
              <a:srgbClr val="007FB8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6E807D79-725C-0554-6D76-D3BCB4F4E73C}"/>
              </a:ext>
            </a:extLst>
          </p:cNvPr>
          <p:cNvSpPr>
            <a:spLocks/>
          </p:cNvSpPr>
          <p:nvPr/>
        </p:nvSpPr>
        <p:spPr>
          <a:xfrm>
            <a:off x="1813160" y="2236630"/>
            <a:ext cx="8967275" cy="428953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scene3d>
            <a:camera prst="perspectiveRelaxedModerately" fov="7200000">
              <a:rot lat="17090630" lon="0" rev="0"/>
            </a:camera>
            <a:lightRig rig="twoPt" dir="t"/>
          </a:scene3d>
          <a:sp3d extrusionH="76200" prstMaterial="plastic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21"/>
            <a:endParaRPr lang="en-US" sz="2000" dirty="0">
              <a:solidFill>
                <a:prstClr val="white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B501ED0-DBEA-3078-511A-866DD93F3E75}"/>
              </a:ext>
            </a:extLst>
          </p:cNvPr>
          <p:cNvSpPr/>
          <p:nvPr/>
        </p:nvSpPr>
        <p:spPr>
          <a:xfrm>
            <a:off x="-120152" y="4954522"/>
            <a:ext cx="12811461" cy="1308431"/>
          </a:xfrm>
          <a:prstGeom prst="ellipse">
            <a:avLst/>
          </a:prstGeom>
          <a:gradFill flip="none" rotWithShape="1">
            <a:gsLst>
              <a:gs pos="0">
                <a:sysClr val="windowText" lastClr="000000">
                  <a:lumMod val="50000"/>
                  <a:lumOff val="50000"/>
                  <a:alpha val="70000"/>
                </a:sysClr>
              </a:gs>
              <a:gs pos="100000">
                <a:sysClr val="window" lastClr="FFFFFF">
                  <a:alpha val="0"/>
                  <a:lumMod val="100000"/>
                </a:sys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529">
              <a:defRPr/>
            </a:pPr>
            <a:endParaRPr lang="en-US" sz="2000" kern="0">
              <a:solidFill>
                <a:sysClr val="window" lastClr="FFFFFF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2A46561-5A71-D9BA-19E3-EE8B0F03399E}"/>
              </a:ext>
            </a:extLst>
          </p:cNvPr>
          <p:cNvGrpSpPr/>
          <p:nvPr/>
        </p:nvGrpSpPr>
        <p:grpSpPr>
          <a:xfrm>
            <a:off x="2731694" y="1224430"/>
            <a:ext cx="6728612" cy="3635502"/>
            <a:chOff x="2982449" y="2246398"/>
            <a:chExt cx="6089812" cy="336275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7C73AEA-9ED6-16D0-8AB7-2D4696ECB9DA}"/>
                </a:ext>
              </a:extLst>
            </p:cNvPr>
            <p:cNvSpPr/>
            <p:nvPr/>
          </p:nvSpPr>
          <p:spPr>
            <a:xfrm>
              <a:off x="6675247" y="3132914"/>
              <a:ext cx="2397014" cy="2476236"/>
            </a:xfrm>
            <a:prstGeom prst="rect">
              <a:avLst/>
            </a:prstGeom>
            <a:gradFill>
              <a:gsLst>
                <a:gs pos="100000">
                  <a:sysClr val="window" lastClr="FFFFFF">
                    <a:lumMod val="75000"/>
                  </a:sysClr>
                </a:gs>
                <a:gs pos="0">
                  <a:sysClr val="window" lastClr="FFFFFF">
                    <a:lumMod val="95000"/>
                  </a:sysClr>
                </a:gs>
              </a:gsLst>
              <a:lin ang="5400000" scaled="0"/>
            </a:gra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>
              <a:reflection blurRad="6350" stA="52000" endA="300" endPos="20000" dir="5400000" sy="-100000" algn="bl" rotWithShape="0"/>
            </a:effectLst>
          </p:spPr>
          <p:txBody>
            <a:bodyPr lIns="121856" tIns="121856" rIns="121856" bIns="121856" rtlCol="0" anchor="t"/>
            <a:lstStyle/>
            <a:p>
              <a:pPr defTabSz="1218621"/>
              <a:endParaRPr lang="es-PE" sz="2000" kern="0" noProof="0" dirty="0">
                <a:solidFill>
                  <a:sysClr val="windowText" lastClr="000000">
                    <a:lumMod val="85000"/>
                    <a:lumOff val="15000"/>
                  </a:sysClr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B79D0F8-6CE3-F134-2186-B6AFD157E051}"/>
                </a:ext>
              </a:extLst>
            </p:cNvPr>
            <p:cNvSpPr/>
            <p:nvPr/>
          </p:nvSpPr>
          <p:spPr>
            <a:xfrm>
              <a:off x="3096909" y="2362433"/>
              <a:ext cx="2411325" cy="76595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621"/>
              <a:endParaRPr lang="es-PE" sz="2000" noProof="0" dirty="0">
                <a:solidFill>
                  <a:prstClr val="white"/>
                </a:solidFill>
              </a:endParaRP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4E8095EE-B9B2-CBCA-1A5C-4ED9C27CC12C}"/>
                </a:ext>
              </a:extLst>
            </p:cNvPr>
            <p:cNvSpPr/>
            <p:nvPr/>
          </p:nvSpPr>
          <p:spPr>
            <a:xfrm>
              <a:off x="3162797" y="2404562"/>
              <a:ext cx="2290142" cy="64339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621"/>
              <a:r>
                <a:rPr lang="es-PE" sz="2000" b="1" noProof="0" dirty="0">
                  <a:solidFill>
                    <a:prstClr val="white"/>
                  </a:solidFill>
                </a:rPr>
                <a:t>Estratégicos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2A771EE-A5E7-517D-EE9D-570D50201CBB}"/>
                </a:ext>
              </a:extLst>
            </p:cNvPr>
            <p:cNvSpPr/>
            <p:nvPr/>
          </p:nvSpPr>
          <p:spPr>
            <a:xfrm>
              <a:off x="2982449" y="2246398"/>
              <a:ext cx="386613" cy="38603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621"/>
              <a:r>
                <a:rPr lang="es-PE" sz="2000" b="1" noProof="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C6D5538-A8F9-AD03-95B2-C57794413569}"/>
                </a:ext>
              </a:extLst>
            </p:cNvPr>
            <p:cNvGrpSpPr/>
            <p:nvPr/>
          </p:nvGrpSpPr>
          <p:grpSpPr>
            <a:xfrm>
              <a:off x="3284418" y="3910525"/>
              <a:ext cx="1971752" cy="821422"/>
              <a:chOff x="3284418" y="3910525"/>
              <a:chExt cx="1971752" cy="821422"/>
            </a:xfrm>
            <a:solidFill>
              <a:schemeClr val="accent2">
                <a:lumMod val="75000"/>
              </a:schemeClr>
            </a:solidFill>
          </p:grpSpPr>
          <p:sp>
            <p:nvSpPr>
              <p:cNvPr id="39" name="Freeform 6">
                <a:extLst>
                  <a:ext uri="{FF2B5EF4-FFF2-40B4-BE49-F238E27FC236}">
                    <a16:creationId xmlns:a16="http://schemas.microsoft.com/office/drawing/2014/main" id="{067FD1E9-3FD7-6219-27AB-7A3438CCF8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8097" y="4067549"/>
                <a:ext cx="15309" cy="13559"/>
              </a:xfrm>
              <a:custGeom>
                <a:avLst/>
                <a:gdLst/>
                <a:ahLst/>
                <a:cxnLst>
                  <a:cxn ang="0">
                    <a:pos x="28" y="0"/>
                  </a:cxn>
                  <a:cxn ang="0">
                    <a:pos x="34" y="0"/>
                  </a:cxn>
                  <a:cxn ang="0">
                    <a:pos x="35" y="4"/>
                  </a:cxn>
                  <a:cxn ang="0">
                    <a:pos x="35" y="12"/>
                  </a:cxn>
                  <a:cxn ang="0">
                    <a:pos x="34" y="20"/>
                  </a:cxn>
                  <a:cxn ang="0">
                    <a:pos x="32" y="26"/>
                  </a:cxn>
                  <a:cxn ang="0">
                    <a:pos x="28" y="28"/>
                  </a:cxn>
                  <a:cxn ang="0">
                    <a:pos x="20" y="30"/>
                  </a:cxn>
                  <a:cxn ang="0">
                    <a:pos x="11" y="31"/>
                  </a:cxn>
                  <a:cxn ang="0">
                    <a:pos x="2" y="30"/>
                  </a:cxn>
                  <a:cxn ang="0">
                    <a:pos x="0" y="28"/>
                  </a:cxn>
                  <a:cxn ang="0">
                    <a:pos x="4" y="24"/>
                  </a:cxn>
                  <a:cxn ang="0">
                    <a:pos x="9" y="22"/>
                  </a:cxn>
                  <a:cxn ang="0">
                    <a:pos x="17" y="19"/>
                  </a:cxn>
                  <a:cxn ang="0">
                    <a:pos x="20" y="17"/>
                  </a:cxn>
                  <a:cxn ang="0">
                    <a:pos x="24" y="13"/>
                  </a:cxn>
                  <a:cxn ang="0">
                    <a:pos x="24" y="9"/>
                  </a:cxn>
                  <a:cxn ang="0">
                    <a:pos x="27" y="4"/>
                  </a:cxn>
                  <a:cxn ang="0">
                    <a:pos x="27" y="1"/>
                  </a:cxn>
                  <a:cxn ang="0">
                    <a:pos x="28" y="0"/>
                  </a:cxn>
                </a:cxnLst>
                <a:rect l="0" t="0" r="r" b="b"/>
                <a:pathLst>
                  <a:path w="35" h="31">
                    <a:moveTo>
                      <a:pt x="28" y="0"/>
                    </a:moveTo>
                    <a:lnTo>
                      <a:pt x="34" y="0"/>
                    </a:lnTo>
                    <a:lnTo>
                      <a:pt x="35" y="4"/>
                    </a:lnTo>
                    <a:lnTo>
                      <a:pt x="35" y="12"/>
                    </a:lnTo>
                    <a:lnTo>
                      <a:pt x="34" y="20"/>
                    </a:lnTo>
                    <a:lnTo>
                      <a:pt x="32" y="26"/>
                    </a:lnTo>
                    <a:lnTo>
                      <a:pt x="28" y="28"/>
                    </a:lnTo>
                    <a:lnTo>
                      <a:pt x="20" y="30"/>
                    </a:lnTo>
                    <a:lnTo>
                      <a:pt x="11" y="31"/>
                    </a:lnTo>
                    <a:lnTo>
                      <a:pt x="2" y="30"/>
                    </a:lnTo>
                    <a:lnTo>
                      <a:pt x="0" y="28"/>
                    </a:lnTo>
                    <a:lnTo>
                      <a:pt x="4" y="24"/>
                    </a:lnTo>
                    <a:lnTo>
                      <a:pt x="9" y="22"/>
                    </a:lnTo>
                    <a:lnTo>
                      <a:pt x="17" y="19"/>
                    </a:lnTo>
                    <a:lnTo>
                      <a:pt x="20" y="17"/>
                    </a:lnTo>
                    <a:lnTo>
                      <a:pt x="24" y="13"/>
                    </a:lnTo>
                    <a:lnTo>
                      <a:pt x="24" y="9"/>
                    </a:lnTo>
                    <a:lnTo>
                      <a:pt x="27" y="4"/>
                    </a:lnTo>
                    <a:lnTo>
                      <a:pt x="27" y="1"/>
                    </a:lnTo>
                    <a:lnTo>
                      <a:pt x="2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56" tIns="60928" rIns="121856" bIns="60928" numCol="1" anchor="t" anchorCtr="0" compatLnSpc="1">
                <a:prstTxWarp prst="textNoShape">
                  <a:avLst/>
                </a:prstTxWarp>
              </a:bodyPr>
              <a:lstStyle/>
              <a:p>
                <a:pPr defTabSz="1218621"/>
                <a:endParaRPr lang="es-PE" sz="20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0" name="Freeform 7">
                <a:extLst>
                  <a:ext uri="{FF2B5EF4-FFF2-40B4-BE49-F238E27FC236}">
                    <a16:creationId xmlns:a16="http://schemas.microsoft.com/office/drawing/2014/main" id="{1C478634-A02F-9869-FBEA-569B31F875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4418" y="4079796"/>
                <a:ext cx="19245" cy="6123"/>
              </a:xfrm>
              <a:custGeom>
                <a:avLst/>
                <a:gdLst/>
                <a:ahLst/>
                <a:cxnLst>
                  <a:cxn ang="0">
                    <a:pos x="16" y="0"/>
                  </a:cxn>
                  <a:cxn ang="0">
                    <a:pos x="30" y="0"/>
                  </a:cxn>
                  <a:cxn ang="0">
                    <a:pos x="31" y="2"/>
                  </a:cxn>
                  <a:cxn ang="0">
                    <a:pos x="34" y="3"/>
                  </a:cxn>
                  <a:cxn ang="0">
                    <a:pos x="38" y="5"/>
                  </a:cxn>
                  <a:cxn ang="0">
                    <a:pos x="41" y="5"/>
                  </a:cxn>
                  <a:cxn ang="0">
                    <a:pos x="44" y="6"/>
                  </a:cxn>
                  <a:cxn ang="0">
                    <a:pos x="42" y="7"/>
                  </a:cxn>
                  <a:cxn ang="0">
                    <a:pos x="36" y="10"/>
                  </a:cxn>
                  <a:cxn ang="0">
                    <a:pos x="27" y="13"/>
                  </a:cxn>
                  <a:cxn ang="0">
                    <a:pos x="21" y="14"/>
                  </a:cxn>
                  <a:cxn ang="0">
                    <a:pos x="16" y="14"/>
                  </a:cxn>
                  <a:cxn ang="0">
                    <a:pos x="12" y="13"/>
                  </a:cxn>
                  <a:cxn ang="0">
                    <a:pos x="8" y="13"/>
                  </a:cxn>
                  <a:cxn ang="0">
                    <a:pos x="5" y="10"/>
                  </a:cxn>
                  <a:cxn ang="0">
                    <a:pos x="1" y="9"/>
                  </a:cxn>
                  <a:cxn ang="0">
                    <a:pos x="0" y="7"/>
                  </a:cxn>
                  <a:cxn ang="0">
                    <a:pos x="0" y="5"/>
                  </a:cxn>
                  <a:cxn ang="0">
                    <a:pos x="5" y="2"/>
                  </a:cxn>
                  <a:cxn ang="0">
                    <a:pos x="16" y="0"/>
                  </a:cxn>
                </a:cxnLst>
                <a:rect l="0" t="0" r="r" b="b"/>
                <a:pathLst>
                  <a:path w="44" h="14">
                    <a:moveTo>
                      <a:pt x="16" y="0"/>
                    </a:moveTo>
                    <a:lnTo>
                      <a:pt x="30" y="0"/>
                    </a:lnTo>
                    <a:lnTo>
                      <a:pt x="31" y="2"/>
                    </a:lnTo>
                    <a:lnTo>
                      <a:pt x="34" y="3"/>
                    </a:lnTo>
                    <a:lnTo>
                      <a:pt x="38" y="5"/>
                    </a:lnTo>
                    <a:lnTo>
                      <a:pt x="41" y="5"/>
                    </a:lnTo>
                    <a:lnTo>
                      <a:pt x="44" y="6"/>
                    </a:lnTo>
                    <a:lnTo>
                      <a:pt x="42" y="7"/>
                    </a:lnTo>
                    <a:lnTo>
                      <a:pt x="36" y="10"/>
                    </a:lnTo>
                    <a:lnTo>
                      <a:pt x="27" y="13"/>
                    </a:lnTo>
                    <a:lnTo>
                      <a:pt x="21" y="14"/>
                    </a:lnTo>
                    <a:lnTo>
                      <a:pt x="16" y="14"/>
                    </a:lnTo>
                    <a:lnTo>
                      <a:pt x="12" y="13"/>
                    </a:lnTo>
                    <a:lnTo>
                      <a:pt x="8" y="13"/>
                    </a:lnTo>
                    <a:lnTo>
                      <a:pt x="5" y="10"/>
                    </a:lnTo>
                    <a:lnTo>
                      <a:pt x="1" y="9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5" y="2"/>
                    </a:lnTo>
                    <a:lnTo>
                      <a:pt x="1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56" tIns="60928" rIns="121856" bIns="60928" numCol="1" anchor="t" anchorCtr="0" compatLnSpc="1">
                <a:prstTxWarp prst="textNoShape">
                  <a:avLst/>
                </a:prstTxWarp>
              </a:bodyPr>
              <a:lstStyle/>
              <a:p>
                <a:pPr defTabSz="1218621"/>
                <a:endParaRPr lang="es-PE" sz="20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3" name="Freeform 10">
                <a:extLst>
                  <a:ext uri="{FF2B5EF4-FFF2-40B4-BE49-F238E27FC236}">
                    <a16:creationId xmlns:a16="http://schemas.microsoft.com/office/drawing/2014/main" id="{24B15226-012B-A27F-612F-FE8110D4F9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2227" y="4011563"/>
                <a:ext cx="6998" cy="4811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1" y="2"/>
                  </a:cxn>
                  <a:cxn ang="0">
                    <a:pos x="16" y="4"/>
                  </a:cxn>
                  <a:cxn ang="0">
                    <a:pos x="16" y="10"/>
                  </a:cxn>
                  <a:cxn ang="0">
                    <a:pos x="15" y="11"/>
                  </a:cxn>
                  <a:cxn ang="0">
                    <a:pos x="9" y="11"/>
                  </a:cxn>
                  <a:cxn ang="0">
                    <a:pos x="5" y="10"/>
                  </a:cxn>
                  <a:cxn ang="0">
                    <a:pos x="3" y="8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4" y="2"/>
                  </a:cxn>
                  <a:cxn ang="0">
                    <a:pos x="7" y="0"/>
                  </a:cxn>
                </a:cxnLst>
                <a:rect l="0" t="0" r="r" b="b"/>
                <a:pathLst>
                  <a:path w="16" h="11">
                    <a:moveTo>
                      <a:pt x="7" y="0"/>
                    </a:moveTo>
                    <a:lnTo>
                      <a:pt x="11" y="2"/>
                    </a:lnTo>
                    <a:lnTo>
                      <a:pt x="16" y="4"/>
                    </a:lnTo>
                    <a:lnTo>
                      <a:pt x="16" y="10"/>
                    </a:lnTo>
                    <a:lnTo>
                      <a:pt x="15" y="11"/>
                    </a:lnTo>
                    <a:lnTo>
                      <a:pt x="9" y="11"/>
                    </a:lnTo>
                    <a:lnTo>
                      <a:pt x="5" y="10"/>
                    </a:lnTo>
                    <a:lnTo>
                      <a:pt x="3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4" y="2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56" tIns="60928" rIns="121856" bIns="60928" numCol="1" anchor="t" anchorCtr="0" compatLnSpc="1">
                <a:prstTxWarp prst="textNoShape">
                  <a:avLst/>
                </a:prstTxWarp>
              </a:bodyPr>
              <a:lstStyle/>
              <a:p>
                <a:pPr defTabSz="1218621"/>
                <a:endParaRPr lang="es-PE" sz="20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5" name="Freeform 22">
                <a:extLst>
                  <a:ext uri="{FF2B5EF4-FFF2-40B4-BE49-F238E27FC236}">
                    <a16:creationId xmlns:a16="http://schemas.microsoft.com/office/drawing/2014/main" id="{0B8A5912-06D9-D7EB-FA63-E574797ADA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9165" y="4272248"/>
                <a:ext cx="50300" cy="20995"/>
              </a:xfrm>
              <a:custGeom>
                <a:avLst/>
                <a:gdLst/>
                <a:ahLst/>
                <a:cxnLst>
                  <a:cxn ang="0">
                    <a:pos x="33" y="0"/>
                  </a:cxn>
                  <a:cxn ang="0">
                    <a:pos x="38" y="0"/>
                  </a:cxn>
                  <a:cxn ang="0">
                    <a:pos x="47" y="2"/>
                  </a:cxn>
                  <a:cxn ang="0">
                    <a:pos x="56" y="4"/>
                  </a:cxn>
                  <a:cxn ang="0">
                    <a:pos x="63" y="10"/>
                  </a:cxn>
                  <a:cxn ang="0">
                    <a:pos x="71" y="17"/>
                  </a:cxn>
                  <a:cxn ang="0">
                    <a:pos x="79" y="22"/>
                  </a:cxn>
                  <a:cxn ang="0">
                    <a:pos x="89" y="26"/>
                  </a:cxn>
                  <a:cxn ang="0">
                    <a:pos x="96" y="28"/>
                  </a:cxn>
                  <a:cxn ang="0">
                    <a:pos x="98" y="28"/>
                  </a:cxn>
                  <a:cxn ang="0">
                    <a:pos x="101" y="29"/>
                  </a:cxn>
                  <a:cxn ang="0">
                    <a:pos x="105" y="32"/>
                  </a:cxn>
                  <a:cxn ang="0">
                    <a:pos x="113" y="40"/>
                  </a:cxn>
                  <a:cxn ang="0">
                    <a:pos x="115" y="43"/>
                  </a:cxn>
                  <a:cxn ang="0">
                    <a:pos x="115" y="45"/>
                  </a:cxn>
                  <a:cxn ang="0">
                    <a:pos x="111" y="48"/>
                  </a:cxn>
                  <a:cxn ang="0">
                    <a:pos x="105" y="48"/>
                  </a:cxn>
                  <a:cxn ang="0">
                    <a:pos x="97" y="47"/>
                  </a:cxn>
                  <a:cxn ang="0">
                    <a:pos x="92" y="44"/>
                  </a:cxn>
                  <a:cxn ang="0">
                    <a:pos x="85" y="40"/>
                  </a:cxn>
                  <a:cxn ang="0">
                    <a:pos x="77" y="33"/>
                  </a:cxn>
                  <a:cxn ang="0">
                    <a:pos x="68" y="28"/>
                  </a:cxn>
                  <a:cxn ang="0">
                    <a:pos x="63" y="22"/>
                  </a:cxn>
                  <a:cxn ang="0">
                    <a:pos x="56" y="18"/>
                  </a:cxn>
                  <a:cxn ang="0">
                    <a:pos x="5" y="18"/>
                  </a:cxn>
                  <a:cxn ang="0">
                    <a:pos x="1" y="17"/>
                  </a:cxn>
                  <a:cxn ang="0">
                    <a:pos x="0" y="10"/>
                  </a:cxn>
                  <a:cxn ang="0">
                    <a:pos x="3" y="8"/>
                  </a:cxn>
                  <a:cxn ang="0">
                    <a:pos x="10" y="7"/>
                  </a:cxn>
                  <a:cxn ang="0">
                    <a:pos x="18" y="3"/>
                  </a:cxn>
                  <a:cxn ang="0">
                    <a:pos x="27" y="2"/>
                  </a:cxn>
                  <a:cxn ang="0">
                    <a:pos x="33" y="0"/>
                  </a:cxn>
                </a:cxnLst>
                <a:rect l="0" t="0" r="r" b="b"/>
                <a:pathLst>
                  <a:path w="115" h="48">
                    <a:moveTo>
                      <a:pt x="33" y="0"/>
                    </a:moveTo>
                    <a:lnTo>
                      <a:pt x="38" y="0"/>
                    </a:lnTo>
                    <a:lnTo>
                      <a:pt x="47" y="2"/>
                    </a:lnTo>
                    <a:lnTo>
                      <a:pt x="56" y="4"/>
                    </a:lnTo>
                    <a:lnTo>
                      <a:pt x="63" y="10"/>
                    </a:lnTo>
                    <a:lnTo>
                      <a:pt x="71" y="17"/>
                    </a:lnTo>
                    <a:lnTo>
                      <a:pt x="79" y="22"/>
                    </a:lnTo>
                    <a:lnTo>
                      <a:pt x="89" y="26"/>
                    </a:lnTo>
                    <a:lnTo>
                      <a:pt x="96" y="28"/>
                    </a:lnTo>
                    <a:lnTo>
                      <a:pt x="98" y="28"/>
                    </a:lnTo>
                    <a:lnTo>
                      <a:pt x="101" y="29"/>
                    </a:lnTo>
                    <a:lnTo>
                      <a:pt x="105" y="32"/>
                    </a:lnTo>
                    <a:lnTo>
                      <a:pt x="113" y="40"/>
                    </a:lnTo>
                    <a:lnTo>
                      <a:pt x="115" y="43"/>
                    </a:lnTo>
                    <a:lnTo>
                      <a:pt x="115" y="45"/>
                    </a:lnTo>
                    <a:lnTo>
                      <a:pt x="111" y="48"/>
                    </a:lnTo>
                    <a:lnTo>
                      <a:pt x="105" y="48"/>
                    </a:lnTo>
                    <a:lnTo>
                      <a:pt x="97" y="47"/>
                    </a:lnTo>
                    <a:lnTo>
                      <a:pt x="92" y="44"/>
                    </a:lnTo>
                    <a:lnTo>
                      <a:pt x="85" y="40"/>
                    </a:lnTo>
                    <a:lnTo>
                      <a:pt x="77" y="33"/>
                    </a:lnTo>
                    <a:lnTo>
                      <a:pt x="68" y="28"/>
                    </a:lnTo>
                    <a:lnTo>
                      <a:pt x="63" y="22"/>
                    </a:lnTo>
                    <a:lnTo>
                      <a:pt x="56" y="18"/>
                    </a:lnTo>
                    <a:lnTo>
                      <a:pt x="5" y="18"/>
                    </a:lnTo>
                    <a:lnTo>
                      <a:pt x="1" y="17"/>
                    </a:lnTo>
                    <a:lnTo>
                      <a:pt x="0" y="10"/>
                    </a:lnTo>
                    <a:lnTo>
                      <a:pt x="3" y="8"/>
                    </a:lnTo>
                    <a:lnTo>
                      <a:pt x="10" y="7"/>
                    </a:lnTo>
                    <a:lnTo>
                      <a:pt x="18" y="3"/>
                    </a:lnTo>
                    <a:lnTo>
                      <a:pt x="27" y="2"/>
                    </a:lnTo>
                    <a:lnTo>
                      <a:pt x="3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56" tIns="60928" rIns="121856" bIns="60928" numCol="1" anchor="t" anchorCtr="0" compatLnSpc="1">
                <a:prstTxWarp prst="textNoShape">
                  <a:avLst/>
                </a:prstTxWarp>
              </a:bodyPr>
              <a:lstStyle/>
              <a:p>
                <a:pPr defTabSz="1218621"/>
                <a:endParaRPr lang="es-PE" sz="20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8" name="Freeform 25">
                <a:extLst>
                  <a:ext uri="{FF2B5EF4-FFF2-40B4-BE49-F238E27FC236}">
                    <a16:creationId xmlns:a16="http://schemas.microsoft.com/office/drawing/2014/main" id="{607F568C-7AB0-8E15-F8DD-EB5C14FE51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5391" y="4301116"/>
                <a:ext cx="7436" cy="9185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4" y="3"/>
                  </a:cxn>
                  <a:cxn ang="0">
                    <a:pos x="15" y="6"/>
                  </a:cxn>
                  <a:cxn ang="0">
                    <a:pos x="17" y="10"/>
                  </a:cxn>
                  <a:cxn ang="0">
                    <a:pos x="17" y="12"/>
                  </a:cxn>
                  <a:cxn ang="0">
                    <a:pos x="15" y="16"/>
                  </a:cxn>
                  <a:cxn ang="0">
                    <a:pos x="12" y="19"/>
                  </a:cxn>
                  <a:cxn ang="0">
                    <a:pos x="10" y="21"/>
                  </a:cxn>
                  <a:cxn ang="0">
                    <a:pos x="7" y="21"/>
                  </a:cxn>
                  <a:cxn ang="0">
                    <a:pos x="2" y="18"/>
                  </a:cxn>
                  <a:cxn ang="0">
                    <a:pos x="0" y="14"/>
                  </a:cxn>
                  <a:cxn ang="0">
                    <a:pos x="0" y="7"/>
                  </a:cxn>
                  <a:cxn ang="0">
                    <a:pos x="3" y="1"/>
                  </a:cxn>
                  <a:cxn ang="0">
                    <a:pos x="6" y="0"/>
                  </a:cxn>
                </a:cxnLst>
                <a:rect l="0" t="0" r="r" b="b"/>
                <a:pathLst>
                  <a:path w="17" h="21">
                    <a:moveTo>
                      <a:pt x="6" y="0"/>
                    </a:moveTo>
                    <a:lnTo>
                      <a:pt x="8" y="0"/>
                    </a:lnTo>
                    <a:lnTo>
                      <a:pt x="14" y="3"/>
                    </a:lnTo>
                    <a:lnTo>
                      <a:pt x="15" y="6"/>
                    </a:lnTo>
                    <a:lnTo>
                      <a:pt x="17" y="10"/>
                    </a:lnTo>
                    <a:lnTo>
                      <a:pt x="17" y="12"/>
                    </a:lnTo>
                    <a:lnTo>
                      <a:pt x="15" y="16"/>
                    </a:lnTo>
                    <a:lnTo>
                      <a:pt x="12" y="19"/>
                    </a:lnTo>
                    <a:lnTo>
                      <a:pt x="10" y="21"/>
                    </a:lnTo>
                    <a:lnTo>
                      <a:pt x="7" y="21"/>
                    </a:lnTo>
                    <a:lnTo>
                      <a:pt x="2" y="18"/>
                    </a:lnTo>
                    <a:lnTo>
                      <a:pt x="0" y="14"/>
                    </a:lnTo>
                    <a:lnTo>
                      <a:pt x="0" y="7"/>
                    </a:lnTo>
                    <a:lnTo>
                      <a:pt x="3" y="1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56" tIns="60928" rIns="121856" bIns="60928" numCol="1" anchor="t" anchorCtr="0" compatLnSpc="1">
                <a:prstTxWarp prst="textNoShape">
                  <a:avLst/>
                </a:prstTxWarp>
              </a:bodyPr>
              <a:lstStyle/>
              <a:p>
                <a:pPr defTabSz="1218621"/>
                <a:endParaRPr lang="es-PE" sz="20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1" name="Freeform 28">
                <a:extLst>
                  <a:ext uri="{FF2B5EF4-FFF2-40B4-BE49-F238E27FC236}">
                    <a16:creationId xmlns:a16="http://schemas.microsoft.com/office/drawing/2014/main" id="{20F4B3BE-B36E-87AA-5D71-103CD78D34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8061" y="4362351"/>
                <a:ext cx="11372" cy="30617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4" y="0"/>
                  </a:cxn>
                  <a:cxn ang="0">
                    <a:pos x="17" y="5"/>
                  </a:cxn>
                  <a:cxn ang="0">
                    <a:pos x="19" y="12"/>
                  </a:cxn>
                  <a:cxn ang="0">
                    <a:pos x="22" y="20"/>
                  </a:cxn>
                  <a:cxn ang="0">
                    <a:pos x="25" y="26"/>
                  </a:cxn>
                  <a:cxn ang="0">
                    <a:pos x="26" y="31"/>
                  </a:cxn>
                  <a:cxn ang="0">
                    <a:pos x="25" y="41"/>
                  </a:cxn>
                  <a:cxn ang="0">
                    <a:pos x="22" y="52"/>
                  </a:cxn>
                  <a:cxn ang="0">
                    <a:pos x="18" y="61"/>
                  </a:cxn>
                  <a:cxn ang="0">
                    <a:pos x="14" y="68"/>
                  </a:cxn>
                  <a:cxn ang="0">
                    <a:pos x="7" y="70"/>
                  </a:cxn>
                  <a:cxn ang="0">
                    <a:pos x="3" y="64"/>
                  </a:cxn>
                  <a:cxn ang="0">
                    <a:pos x="0" y="55"/>
                  </a:cxn>
                  <a:cxn ang="0">
                    <a:pos x="0" y="41"/>
                  </a:cxn>
                  <a:cxn ang="0">
                    <a:pos x="2" y="27"/>
                  </a:cxn>
                  <a:cxn ang="0">
                    <a:pos x="3" y="15"/>
                  </a:cxn>
                  <a:cxn ang="0">
                    <a:pos x="6" y="5"/>
                  </a:cxn>
                  <a:cxn ang="0">
                    <a:pos x="9" y="0"/>
                  </a:cxn>
                </a:cxnLst>
                <a:rect l="0" t="0" r="r" b="b"/>
                <a:pathLst>
                  <a:path w="26" h="70">
                    <a:moveTo>
                      <a:pt x="9" y="0"/>
                    </a:moveTo>
                    <a:lnTo>
                      <a:pt x="14" y="0"/>
                    </a:lnTo>
                    <a:lnTo>
                      <a:pt x="17" y="5"/>
                    </a:lnTo>
                    <a:lnTo>
                      <a:pt x="19" y="12"/>
                    </a:lnTo>
                    <a:lnTo>
                      <a:pt x="22" y="20"/>
                    </a:lnTo>
                    <a:lnTo>
                      <a:pt x="25" y="26"/>
                    </a:lnTo>
                    <a:lnTo>
                      <a:pt x="26" y="31"/>
                    </a:lnTo>
                    <a:lnTo>
                      <a:pt x="25" y="41"/>
                    </a:lnTo>
                    <a:lnTo>
                      <a:pt x="22" y="52"/>
                    </a:lnTo>
                    <a:lnTo>
                      <a:pt x="18" y="61"/>
                    </a:lnTo>
                    <a:lnTo>
                      <a:pt x="14" y="68"/>
                    </a:lnTo>
                    <a:lnTo>
                      <a:pt x="7" y="70"/>
                    </a:lnTo>
                    <a:lnTo>
                      <a:pt x="3" y="64"/>
                    </a:lnTo>
                    <a:lnTo>
                      <a:pt x="0" y="55"/>
                    </a:lnTo>
                    <a:lnTo>
                      <a:pt x="0" y="41"/>
                    </a:lnTo>
                    <a:lnTo>
                      <a:pt x="2" y="27"/>
                    </a:lnTo>
                    <a:lnTo>
                      <a:pt x="3" y="15"/>
                    </a:lnTo>
                    <a:lnTo>
                      <a:pt x="6" y="5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56" tIns="60928" rIns="121856" bIns="60928" numCol="1" anchor="t" anchorCtr="0" compatLnSpc="1">
                <a:prstTxWarp prst="textNoShape">
                  <a:avLst/>
                </a:prstTxWarp>
              </a:bodyPr>
              <a:lstStyle/>
              <a:p>
                <a:pPr defTabSz="1218621"/>
                <a:endParaRPr lang="es-PE" sz="20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2" name="Freeform 29">
                <a:extLst>
                  <a:ext uri="{FF2B5EF4-FFF2-40B4-BE49-F238E27FC236}">
                    <a16:creationId xmlns:a16="http://schemas.microsoft.com/office/drawing/2014/main" id="{91AE85CC-A666-A294-A839-4996650F54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474" y="4154152"/>
                <a:ext cx="9623" cy="12684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15" y="3"/>
                  </a:cxn>
                  <a:cxn ang="0">
                    <a:pos x="21" y="7"/>
                  </a:cxn>
                  <a:cxn ang="0">
                    <a:pos x="22" y="15"/>
                  </a:cxn>
                  <a:cxn ang="0">
                    <a:pos x="21" y="22"/>
                  </a:cxn>
                  <a:cxn ang="0">
                    <a:pos x="18" y="26"/>
                  </a:cxn>
                  <a:cxn ang="0">
                    <a:pos x="15" y="29"/>
                  </a:cxn>
                  <a:cxn ang="0">
                    <a:pos x="7" y="29"/>
                  </a:cxn>
                  <a:cxn ang="0">
                    <a:pos x="3" y="26"/>
                  </a:cxn>
                  <a:cxn ang="0">
                    <a:pos x="0" y="20"/>
                  </a:cxn>
                  <a:cxn ang="0">
                    <a:pos x="1" y="11"/>
                  </a:cxn>
                  <a:cxn ang="0">
                    <a:pos x="4" y="3"/>
                  </a:cxn>
                  <a:cxn ang="0">
                    <a:pos x="11" y="0"/>
                  </a:cxn>
                </a:cxnLst>
                <a:rect l="0" t="0" r="r" b="b"/>
                <a:pathLst>
                  <a:path w="22" h="29">
                    <a:moveTo>
                      <a:pt x="11" y="0"/>
                    </a:moveTo>
                    <a:lnTo>
                      <a:pt x="15" y="3"/>
                    </a:lnTo>
                    <a:lnTo>
                      <a:pt x="21" y="7"/>
                    </a:lnTo>
                    <a:lnTo>
                      <a:pt x="22" y="15"/>
                    </a:lnTo>
                    <a:lnTo>
                      <a:pt x="21" y="22"/>
                    </a:lnTo>
                    <a:lnTo>
                      <a:pt x="18" y="26"/>
                    </a:lnTo>
                    <a:lnTo>
                      <a:pt x="15" y="29"/>
                    </a:lnTo>
                    <a:lnTo>
                      <a:pt x="7" y="29"/>
                    </a:lnTo>
                    <a:lnTo>
                      <a:pt x="3" y="26"/>
                    </a:lnTo>
                    <a:lnTo>
                      <a:pt x="0" y="20"/>
                    </a:lnTo>
                    <a:lnTo>
                      <a:pt x="1" y="11"/>
                    </a:lnTo>
                    <a:lnTo>
                      <a:pt x="4" y="3"/>
                    </a:lnTo>
                    <a:lnTo>
                      <a:pt x="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56" tIns="60928" rIns="121856" bIns="60928" numCol="1" anchor="t" anchorCtr="0" compatLnSpc="1">
                <a:prstTxWarp prst="textNoShape">
                  <a:avLst/>
                </a:prstTxWarp>
              </a:bodyPr>
              <a:lstStyle/>
              <a:p>
                <a:pPr defTabSz="1218621"/>
                <a:endParaRPr lang="es-PE" sz="20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3" name="Freeform 30">
                <a:extLst>
                  <a:ext uri="{FF2B5EF4-FFF2-40B4-BE49-F238E27FC236}">
                    <a16:creationId xmlns:a16="http://schemas.microsoft.com/office/drawing/2014/main" id="{37EAB3C7-DA4D-E758-379F-0D21188AC4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9857" y="4160276"/>
                <a:ext cx="4374" cy="524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9" y="0"/>
                  </a:cxn>
                  <a:cxn ang="0">
                    <a:pos x="10" y="1"/>
                  </a:cxn>
                  <a:cxn ang="0">
                    <a:pos x="10" y="8"/>
                  </a:cxn>
                  <a:cxn ang="0">
                    <a:pos x="7" y="11"/>
                  </a:cxn>
                  <a:cxn ang="0">
                    <a:pos x="4" y="12"/>
                  </a:cxn>
                  <a:cxn ang="0">
                    <a:pos x="2" y="11"/>
                  </a:cxn>
                  <a:cxn ang="0">
                    <a:pos x="0" y="11"/>
                  </a:cxn>
                  <a:cxn ang="0">
                    <a:pos x="0" y="7"/>
                  </a:cxn>
                  <a:cxn ang="0">
                    <a:pos x="2" y="3"/>
                  </a:cxn>
                  <a:cxn ang="0">
                    <a:pos x="4" y="0"/>
                  </a:cxn>
                </a:cxnLst>
                <a:rect l="0" t="0" r="r" b="b"/>
                <a:pathLst>
                  <a:path w="10" h="12">
                    <a:moveTo>
                      <a:pt x="4" y="0"/>
                    </a:moveTo>
                    <a:lnTo>
                      <a:pt x="9" y="0"/>
                    </a:lnTo>
                    <a:lnTo>
                      <a:pt x="10" y="1"/>
                    </a:lnTo>
                    <a:lnTo>
                      <a:pt x="10" y="8"/>
                    </a:lnTo>
                    <a:lnTo>
                      <a:pt x="7" y="11"/>
                    </a:lnTo>
                    <a:lnTo>
                      <a:pt x="4" y="12"/>
                    </a:lnTo>
                    <a:lnTo>
                      <a:pt x="2" y="11"/>
                    </a:lnTo>
                    <a:lnTo>
                      <a:pt x="0" y="11"/>
                    </a:lnTo>
                    <a:lnTo>
                      <a:pt x="0" y="7"/>
                    </a:lnTo>
                    <a:lnTo>
                      <a:pt x="2" y="3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56" tIns="60928" rIns="121856" bIns="60928" numCol="1" anchor="t" anchorCtr="0" compatLnSpc="1">
                <a:prstTxWarp prst="textNoShape">
                  <a:avLst/>
                </a:prstTxWarp>
              </a:bodyPr>
              <a:lstStyle/>
              <a:p>
                <a:pPr defTabSz="1218621"/>
                <a:endParaRPr lang="es-PE" sz="20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8" name="Freeform 35">
                <a:extLst>
                  <a:ext uri="{FF2B5EF4-FFF2-40B4-BE49-F238E27FC236}">
                    <a16:creationId xmlns:a16="http://schemas.microsoft.com/office/drawing/2014/main" id="{9F24BF0A-9AA5-C6CE-9C5A-C179A4FAD8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23154" y="3910525"/>
                <a:ext cx="1312" cy="306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0"/>
                  </a:cxn>
                  <a:cxn ang="0">
                    <a:pos x="3" y="1"/>
                  </a:cxn>
                  <a:cxn ang="0">
                    <a:pos x="3" y="4"/>
                  </a:cxn>
                  <a:cxn ang="0">
                    <a:pos x="1" y="7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3" h="7">
                    <a:moveTo>
                      <a:pt x="0" y="0"/>
                    </a:moveTo>
                    <a:lnTo>
                      <a:pt x="1" y="0"/>
                    </a:lnTo>
                    <a:lnTo>
                      <a:pt x="3" y="1"/>
                    </a:lnTo>
                    <a:lnTo>
                      <a:pt x="3" y="4"/>
                    </a:lnTo>
                    <a:lnTo>
                      <a:pt x="1" y="7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56" tIns="60928" rIns="121856" bIns="60928" numCol="1" anchor="t" anchorCtr="0" compatLnSpc="1">
                <a:prstTxWarp prst="textNoShape">
                  <a:avLst/>
                </a:prstTxWarp>
              </a:bodyPr>
              <a:lstStyle/>
              <a:p>
                <a:pPr defTabSz="1218621"/>
                <a:endParaRPr lang="es-PE" sz="20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0" name="Freeform 37">
                <a:extLst>
                  <a:ext uri="{FF2B5EF4-FFF2-40B4-BE49-F238E27FC236}">
                    <a16:creationId xmlns:a16="http://schemas.microsoft.com/office/drawing/2014/main" id="{4CD835B1-7999-CA18-8E89-5EC0C1672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0040" y="4128346"/>
                <a:ext cx="37178" cy="20558"/>
              </a:xfrm>
              <a:custGeom>
                <a:avLst/>
                <a:gdLst/>
                <a:ahLst/>
                <a:cxnLst>
                  <a:cxn ang="0">
                    <a:pos x="33" y="0"/>
                  </a:cxn>
                  <a:cxn ang="0">
                    <a:pos x="37" y="0"/>
                  </a:cxn>
                  <a:cxn ang="0">
                    <a:pos x="40" y="3"/>
                  </a:cxn>
                  <a:cxn ang="0">
                    <a:pos x="43" y="5"/>
                  </a:cxn>
                  <a:cxn ang="0">
                    <a:pos x="47" y="9"/>
                  </a:cxn>
                  <a:cxn ang="0">
                    <a:pos x="49" y="10"/>
                  </a:cxn>
                  <a:cxn ang="0">
                    <a:pos x="52" y="13"/>
                  </a:cxn>
                  <a:cxn ang="0">
                    <a:pos x="66" y="13"/>
                  </a:cxn>
                  <a:cxn ang="0">
                    <a:pos x="74" y="15"/>
                  </a:cxn>
                  <a:cxn ang="0">
                    <a:pos x="81" y="20"/>
                  </a:cxn>
                  <a:cxn ang="0">
                    <a:pos x="85" y="25"/>
                  </a:cxn>
                  <a:cxn ang="0">
                    <a:pos x="85" y="28"/>
                  </a:cxn>
                  <a:cxn ang="0">
                    <a:pos x="82" y="33"/>
                  </a:cxn>
                  <a:cxn ang="0">
                    <a:pos x="79" y="35"/>
                  </a:cxn>
                  <a:cxn ang="0">
                    <a:pos x="77" y="35"/>
                  </a:cxn>
                  <a:cxn ang="0">
                    <a:pos x="74" y="36"/>
                  </a:cxn>
                  <a:cxn ang="0">
                    <a:pos x="66" y="36"/>
                  </a:cxn>
                  <a:cxn ang="0">
                    <a:pos x="63" y="37"/>
                  </a:cxn>
                  <a:cxn ang="0">
                    <a:pos x="56" y="39"/>
                  </a:cxn>
                  <a:cxn ang="0">
                    <a:pos x="47" y="42"/>
                  </a:cxn>
                  <a:cxn ang="0">
                    <a:pos x="25" y="44"/>
                  </a:cxn>
                  <a:cxn ang="0">
                    <a:pos x="17" y="47"/>
                  </a:cxn>
                  <a:cxn ang="0">
                    <a:pos x="8" y="47"/>
                  </a:cxn>
                  <a:cxn ang="0">
                    <a:pos x="2" y="42"/>
                  </a:cxn>
                  <a:cxn ang="0">
                    <a:pos x="0" y="36"/>
                  </a:cxn>
                  <a:cxn ang="0">
                    <a:pos x="4" y="31"/>
                  </a:cxn>
                  <a:cxn ang="0">
                    <a:pos x="12" y="26"/>
                  </a:cxn>
                  <a:cxn ang="0">
                    <a:pos x="19" y="22"/>
                  </a:cxn>
                  <a:cxn ang="0">
                    <a:pos x="22" y="20"/>
                  </a:cxn>
                  <a:cxn ang="0">
                    <a:pos x="22" y="18"/>
                  </a:cxn>
                  <a:cxn ang="0">
                    <a:pos x="23" y="15"/>
                  </a:cxn>
                  <a:cxn ang="0">
                    <a:pos x="23" y="11"/>
                  </a:cxn>
                  <a:cxn ang="0">
                    <a:pos x="25" y="9"/>
                  </a:cxn>
                  <a:cxn ang="0">
                    <a:pos x="28" y="5"/>
                  </a:cxn>
                  <a:cxn ang="0">
                    <a:pos x="30" y="2"/>
                  </a:cxn>
                  <a:cxn ang="0">
                    <a:pos x="33" y="0"/>
                  </a:cxn>
                </a:cxnLst>
                <a:rect l="0" t="0" r="r" b="b"/>
                <a:pathLst>
                  <a:path w="85" h="47">
                    <a:moveTo>
                      <a:pt x="33" y="0"/>
                    </a:moveTo>
                    <a:lnTo>
                      <a:pt x="37" y="0"/>
                    </a:lnTo>
                    <a:lnTo>
                      <a:pt x="40" y="3"/>
                    </a:lnTo>
                    <a:lnTo>
                      <a:pt x="43" y="5"/>
                    </a:lnTo>
                    <a:lnTo>
                      <a:pt x="47" y="9"/>
                    </a:lnTo>
                    <a:lnTo>
                      <a:pt x="49" y="10"/>
                    </a:lnTo>
                    <a:lnTo>
                      <a:pt x="52" y="13"/>
                    </a:lnTo>
                    <a:lnTo>
                      <a:pt x="66" y="13"/>
                    </a:lnTo>
                    <a:lnTo>
                      <a:pt x="74" y="15"/>
                    </a:lnTo>
                    <a:lnTo>
                      <a:pt x="81" y="20"/>
                    </a:lnTo>
                    <a:lnTo>
                      <a:pt x="85" y="25"/>
                    </a:lnTo>
                    <a:lnTo>
                      <a:pt x="85" y="28"/>
                    </a:lnTo>
                    <a:lnTo>
                      <a:pt x="82" y="33"/>
                    </a:lnTo>
                    <a:lnTo>
                      <a:pt x="79" y="35"/>
                    </a:lnTo>
                    <a:lnTo>
                      <a:pt x="77" y="35"/>
                    </a:lnTo>
                    <a:lnTo>
                      <a:pt x="74" y="36"/>
                    </a:lnTo>
                    <a:lnTo>
                      <a:pt x="66" y="36"/>
                    </a:lnTo>
                    <a:lnTo>
                      <a:pt x="63" y="37"/>
                    </a:lnTo>
                    <a:lnTo>
                      <a:pt x="56" y="39"/>
                    </a:lnTo>
                    <a:lnTo>
                      <a:pt x="47" y="42"/>
                    </a:lnTo>
                    <a:lnTo>
                      <a:pt x="25" y="44"/>
                    </a:lnTo>
                    <a:lnTo>
                      <a:pt x="17" y="47"/>
                    </a:lnTo>
                    <a:lnTo>
                      <a:pt x="8" y="47"/>
                    </a:lnTo>
                    <a:lnTo>
                      <a:pt x="2" y="42"/>
                    </a:lnTo>
                    <a:lnTo>
                      <a:pt x="0" y="36"/>
                    </a:lnTo>
                    <a:lnTo>
                      <a:pt x="4" y="31"/>
                    </a:lnTo>
                    <a:lnTo>
                      <a:pt x="12" y="26"/>
                    </a:lnTo>
                    <a:lnTo>
                      <a:pt x="19" y="22"/>
                    </a:lnTo>
                    <a:lnTo>
                      <a:pt x="22" y="20"/>
                    </a:lnTo>
                    <a:lnTo>
                      <a:pt x="22" y="18"/>
                    </a:lnTo>
                    <a:lnTo>
                      <a:pt x="23" y="15"/>
                    </a:lnTo>
                    <a:lnTo>
                      <a:pt x="23" y="11"/>
                    </a:lnTo>
                    <a:lnTo>
                      <a:pt x="25" y="9"/>
                    </a:lnTo>
                    <a:lnTo>
                      <a:pt x="28" y="5"/>
                    </a:lnTo>
                    <a:lnTo>
                      <a:pt x="30" y="2"/>
                    </a:lnTo>
                    <a:lnTo>
                      <a:pt x="3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56" tIns="60928" rIns="121856" bIns="60928" numCol="1" anchor="t" anchorCtr="0" compatLnSpc="1">
                <a:prstTxWarp prst="textNoShape">
                  <a:avLst/>
                </a:prstTxWarp>
              </a:bodyPr>
              <a:lstStyle/>
              <a:p>
                <a:pPr defTabSz="1218621"/>
                <a:endParaRPr lang="es-PE" sz="20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2" name="Freeform 39">
                <a:extLst>
                  <a:ext uri="{FF2B5EF4-FFF2-40B4-BE49-F238E27FC236}">
                    <a16:creationId xmlns:a16="http://schemas.microsoft.com/office/drawing/2014/main" id="{28DDFCD6-CB40-E220-5694-CC142F6DDF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2004" y="4260439"/>
                <a:ext cx="10497" cy="18370"/>
              </a:xfrm>
              <a:custGeom>
                <a:avLst/>
                <a:gdLst/>
                <a:ahLst/>
                <a:cxnLst>
                  <a:cxn ang="0">
                    <a:pos x="19" y="0"/>
                  </a:cxn>
                  <a:cxn ang="0">
                    <a:pos x="23" y="1"/>
                  </a:cxn>
                  <a:cxn ang="0">
                    <a:pos x="24" y="7"/>
                  </a:cxn>
                  <a:cxn ang="0">
                    <a:pos x="23" y="15"/>
                  </a:cxn>
                  <a:cxn ang="0">
                    <a:pos x="20" y="25"/>
                  </a:cxn>
                  <a:cxn ang="0">
                    <a:pos x="16" y="33"/>
                  </a:cxn>
                  <a:cxn ang="0">
                    <a:pos x="11" y="40"/>
                  </a:cxn>
                  <a:cxn ang="0">
                    <a:pos x="5" y="42"/>
                  </a:cxn>
                  <a:cxn ang="0">
                    <a:pos x="1" y="40"/>
                  </a:cxn>
                  <a:cxn ang="0">
                    <a:pos x="0" y="31"/>
                  </a:cxn>
                  <a:cxn ang="0">
                    <a:pos x="1" y="22"/>
                  </a:cxn>
                  <a:cxn ang="0">
                    <a:pos x="5" y="12"/>
                  </a:cxn>
                  <a:cxn ang="0">
                    <a:pos x="11" y="4"/>
                  </a:cxn>
                  <a:cxn ang="0">
                    <a:pos x="19" y="0"/>
                  </a:cxn>
                </a:cxnLst>
                <a:rect l="0" t="0" r="r" b="b"/>
                <a:pathLst>
                  <a:path w="24" h="42">
                    <a:moveTo>
                      <a:pt x="19" y="0"/>
                    </a:moveTo>
                    <a:lnTo>
                      <a:pt x="23" y="1"/>
                    </a:lnTo>
                    <a:lnTo>
                      <a:pt x="24" y="7"/>
                    </a:lnTo>
                    <a:lnTo>
                      <a:pt x="23" y="15"/>
                    </a:lnTo>
                    <a:lnTo>
                      <a:pt x="20" y="25"/>
                    </a:lnTo>
                    <a:lnTo>
                      <a:pt x="16" y="33"/>
                    </a:lnTo>
                    <a:lnTo>
                      <a:pt x="11" y="40"/>
                    </a:lnTo>
                    <a:lnTo>
                      <a:pt x="5" y="42"/>
                    </a:lnTo>
                    <a:lnTo>
                      <a:pt x="1" y="40"/>
                    </a:lnTo>
                    <a:lnTo>
                      <a:pt x="0" y="31"/>
                    </a:lnTo>
                    <a:lnTo>
                      <a:pt x="1" y="22"/>
                    </a:lnTo>
                    <a:lnTo>
                      <a:pt x="5" y="12"/>
                    </a:lnTo>
                    <a:lnTo>
                      <a:pt x="11" y="4"/>
                    </a:lnTo>
                    <a:lnTo>
                      <a:pt x="1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56" tIns="60928" rIns="121856" bIns="60928" numCol="1" anchor="t" anchorCtr="0" compatLnSpc="1">
                <a:prstTxWarp prst="textNoShape">
                  <a:avLst/>
                </a:prstTxWarp>
              </a:bodyPr>
              <a:lstStyle/>
              <a:p>
                <a:pPr defTabSz="1218621"/>
                <a:endParaRPr lang="es-PE" sz="20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3" name="Freeform 40">
                <a:extLst>
                  <a:ext uri="{FF2B5EF4-FFF2-40B4-BE49-F238E27FC236}">
                    <a16:creationId xmlns:a16="http://schemas.microsoft.com/office/drawing/2014/main" id="{E1C86665-AC22-6F17-892B-93ACC4C576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8992" y="4654091"/>
                <a:ext cx="26243" cy="424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3" y="4"/>
                  </a:cxn>
                  <a:cxn ang="0">
                    <a:pos x="15" y="10"/>
                  </a:cxn>
                  <a:cxn ang="0">
                    <a:pos x="18" y="17"/>
                  </a:cxn>
                  <a:cxn ang="0">
                    <a:pos x="22" y="25"/>
                  </a:cxn>
                  <a:cxn ang="0">
                    <a:pos x="25" y="29"/>
                  </a:cxn>
                  <a:cxn ang="0">
                    <a:pos x="26" y="32"/>
                  </a:cxn>
                  <a:cxn ang="0">
                    <a:pos x="28" y="33"/>
                  </a:cxn>
                  <a:cxn ang="0">
                    <a:pos x="28" y="36"/>
                  </a:cxn>
                  <a:cxn ang="0">
                    <a:pos x="29" y="36"/>
                  </a:cxn>
                  <a:cxn ang="0">
                    <a:pos x="30" y="37"/>
                  </a:cxn>
                  <a:cxn ang="0">
                    <a:pos x="33" y="38"/>
                  </a:cxn>
                  <a:cxn ang="0">
                    <a:pos x="36" y="41"/>
                  </a:cxn>
                  <a:cxn ang="0">
                    <a:pos x="40" y="44"/>
                  </a:cxn>
                  <a:cxn ang="0">
                    <a:pos x="47" y="44"/>
                  </a:cxn>
                  <a:cxn ang="0">
                    <a:pos x="49" y="43"/>
                  </a:cxn>
                  <a:cxn ang="0">
                    <a:pos x="51" y="41"/>
                  </a:cxn>
                  <a:cxn ang="0">
                    <a:pos x="54" y="41"/>
                  </a:cxn>
                  <a:cxn ang="0">
                    <a:pos x="58" y="45"/>
                  </a:cxn>
                  <a:cxn ang="0">
                    <a:pos x="59" y="49"/>
                  </a:cxn>
                  <a:cxn ang="0">
                    <a:pos x="60" y="52"/>
                  </a:cxn>
                  <a:cxn ang="0">
                    <a:pos x="59" y="55"/>
                  </a:cxn>
                  <a:cxn ang="0">
                    <a:pos x="56" y="58"/>
                  </a:cxn>
                  <a:cxn ang="0">
                    <a:pos x="48" y="67"/>
                  </a:cxn>
                  <a:cxn ang="0">
                    <a:pos x="41" y="80"/>
                  </a:cxn>
                  <a:cxn ang="0">
                    <a:pos x="40" y="84"/>
                  </a:cxn>
                  <a:cxn ang="0">
                    <a:pos x="37" y="88"/>
                  </a:cxn>
                  <a:cxn ang="0">
                    <a:pos x="36" y="90"/>
                  </a:cxn>
                  <a:cxn ang="0">
                    <a:pos x="33" y="95"/>
                  </a:cxn>
                  <a:cxn ang="0">
                    <a:pos x="28" y="97"/>
                  </a:cxn>
                  <a:cxn ang="0">
                    <a:pos x="23" y="97"/>
                  </a:cxn>
                  <a:cxn ang="0">
                    <a:pos x="21" y="96"/>
                  </a:cxn>
                  <a:cxn ang="0">
                    <a:pos x="19" y="95"/>
                  </a:cxn>
                  <a:cxn ang="0">
                    <a:pos x="19" y="92"/>
                  </a:cxn>
                  <a:cxn ang="0">
                    <a:pos x="21" y="89"/>
                  </a:cxn>
                  <a:cxn ang="0">
                    <a:pos x="21" y="86"/>
                  </a:cxn>
                  <a:cxn ang="0">
                    <a:pos x="22" y="84"/>
                  </a:cxn>
                  <a:cxn ang="0">
                    <a:pos x="23" y="80"/>
                  </a:cxn>
                  <a:cxn ang="0">
                    <a:pos x="25" y="77"/>
                  </a:cxn>
                  <a:cxn ang="0">
                    <a:pos x="25" y="74"/>
                  </a:cxn>
                  <a:cxn ang="0">
                    <a:pos x="21" y="73"/>
                  </a:cxn>
                  <a:cxn ang="0">
                    <a:pos x="8" y="73"/>
                  </a:cxn>
                  <a:cxn ang="0">
                    <a:pos x="3" y="70"/>
                  </a:cxn>
                  <a:cxn ang="0">
                    <a:pos x="0" y="67"/>
                  </a:cxn>
                  <a:cxn ang="0">
                    <a:pos x="0" y="64"/>
                  </a:cxn>
                  <a:cxn ang="0">
                    <a:pos x="2" y="62"/>
                  </a:cxn>
                  <a:cxn ang="0">
                    <a:pos x="4" y="60"/>
                  </a:cxn>
                  <a:cxn ang="0">
                    <a:pos x="7" y="58"/>
                  </a:cxn>
                  <a:cxn ang="0">
                    <a:pos x="10" y="56"/>
                  </a:cxn>
                  <a:cxn ang="0">
                    <a:pos x="14" y="52"/>
                  </a:cxn>
                  <a:cxn ang="0">
                    <a:pos x="14" y="44"/>
                  </a:cxn>
                  <a:cxn ang="0">
                    <a:pos x="11" y="32"/>
                  </a:cxn>
                  <a:cxn ang="0">
                    <a:pos x="8" y="23"/>
                  </a:cxn>
                  <a:cxn ang="0">
                    <a:pos x="4" y="18"/>
                  </a:cxn>
                  <a:cxn ang="0">
                    <a:pos x="2" y="11"/>
                  </a:cxn>
                  <a:cxn ang="0">
                    <a:pos x="2" y="6"/>
                  </a:cxn>
                  <a:cxn ang="0">
                    <a:pos x="3" y="1"/>
                  </a:cxn>
                  <a:cxn ang="0">
                    <a:pos x="8" y="0"/>
                  </a:cxn>
                </a:cxnLst>
                <a:rect l="0" t="0" r="r" b="b"/>
                <a:pathLst>
                  <a:path w="60" h="97">
                    <a:moveTo>
                      <a:pt x="8" y="0"/>
                    </a:moveTo>
                    <a:lnTo>
                      <a:pt x="13" y="4"/>
                    </a:lnTo>
                    <a:lnTo>
                      <a:pt x="15" y="10"/>
                    </a:lnTo>
                    <a:lnTo>
                      <a:pt x="18" y="17"/>
                    </a:lnTo>
                    <a:lnTo>
                      <a:pt x="22" y="25"/>
                    </a:lnTo>
                    <a:lnTo>
                      <a:pt x="25" y="29"/>
                    </a:lnTo>
                    <a:lnTo>
                      <a:pt x="26" y="32"/>
                    </a:lnTo>
                    <a:lnTo>
                      <a:pt x="28" y="33"/>
                    </a:lnTo>
                    <a:lnTo>
                      <a:pt x="28" y="36"/>
                    </a:lnTo>
                    <a:lnTo>
                      <a:pt x="29" y="36"/>
                    </a:lnTo>
                    <a:lnTo>
                      <a:pt x="30" y="37"/>
                    </a:lnTo>
                    <a:lnTo>
                      <a:pt x="33" y="38"/>
                    </a:lnTo>
                    <a:lnTo>
                      <a:pt x="36" y="41"/>
                    </a:lnTo>
                    <a:lnTo>
                      <a:pt x="40" y="44"/>
                    </a:lnTo>
                    <a:lnTo>
                      <a:pt x="47" y="44"/>
                    </a:lnTo>
                    <a:lnTo>
                      <a:pt x="49" y="43"/>
                    </a:lnTo>
                    <a:lnTo>
                      <a:pt x="51" y="41"/>
                    </a:lnTo>
                    <a:lnTo>
                      <a:pt x="54" y="41"/>
                    </a:lnTo>
                    <a:lnTo>
                      <a:pt x="58" y="45"/>
                    </a:lnTo>
                    <a:lnTo>
                      <a:pt x="59" y="49"/>
                    </a:lnTo>
                    <a:lnTo>
                      <a:pt x="60" y="52"/>
                    </a:lnTo>
                    <a:lnTo>
                      <a:pt x="59" y="55"/>
                    </a:lnTo>
                    <a:lnTo>
                      <a:pt x="56" y="58"/>
                    </a:lnTo>
                    <a:lnTo>
                      <a:pt x="48" y="67"/>
                    </a:lnTo>
                    <a:lnTo>
                      <a:pt x="41" y="80"/>
                    </a:lnTo>
                    <a:lnTo>
                      <a:pt x="40" y="84"/>
                    </a:lnTo>
                    <a:lnTo>
                      <a:pt x="37" y="88"/>
                    </a:lnTo>
                    <a:lnTo>
                      <a:pt x="36" y="90"/>
                    </a:lnTo>
                    <a:lnTo>
                      <a:pt x="33" y="95"/>
                    </a:lnTo>
                    <a:lnTo>
                      <a:pt x="28" y="97"/>
                    </a:lnTo>
                    <a:lnTo>
                      <a:pt x="23" y="97"/>
                    </a:lnTo>
                    <a:lnTo>
                      <a:pt x="21" y="96"/>
                    </a:lnTo>
                    <a:lnTo>
                      <a:pt x="19" y="95"/>
                    </a:lnTo>
                    <a:lnTo>
                      <a:pt x="19" y="92"/>
                    </a:lnTo>
                    <a:lnTo>
                      <a:pt x="21" y="89"/>
                    </a:lnTo>
                    <a:lnTo>
                      <a:pt x="21" y="86"/>
                    </a:lnTo>
                    <a:lnTo>
                      <a:pt x="22" y="84"/>
                    </a:lnTo>
                    <a:lnTo>
                      <a:pt x="23" y="80"/>
                    </a:lnTo>
                    <a:lnTo>
                      <a:pt x="25" y="77"/>
                    </a:lnTo>
                    <a:lnTo>
                      <a:pt x="25" y="74"/>
                    </a:lnTo>
                    <a:lnTo>
                      <a:pt x="21" y="73"/>
                    </a:lnTo>
                    <a:lnTo>
                      <a:pt x="8" y="73"/>
                    </a:lnTo>
                    <a:lnTo>
                      <a:pt x="3" y="70"/>
                    </a:lnTo>
                    <a:lnTo>
                      <a:pt x="0" y="67"/>
                    </a:lnTo>
                    <a:lnTo>
                      <a:pt x="0" y="64"/>
                    </a:lnTo>
                    <a:lnTo>
                      <a:pt x="2" y="62"/>
                    </a:lnTo>
                    <a:lnTo>
                      <a:pt x="4" y="60"/>
                    </a:lnTo>
                    <a:lnTo>
                      <a:pt x="7" y="58"/>
                    </a:lnTo>
                    <a:lnTo>
                      <a:pt x="10" y="56"/>
                    </a:lnTo>
                    <a:lnTo>
                      <a:pt x="14" y="52"/>
                    </a:lnTo>
                    <a:lnTo>
                      <a:pt x="14" y="44"/>
                    </a:lnTo>
                    <a:lnTo>
                      <a:pt x="11" y="32"/>
                    </a:lnTo>
                    <a:lnTo>
                      <a:pt x="8" y="23"/>
                    </a:lnTo>
                    <a:lnTo>
                      <a:pt x="4" y="18"/>
                    </a:lnTo>
                    <a:lnTo>
                      <a:pt x="2" y="11"/>
                    </a:lnTo>
                    <a:lnTo>
                      <a:pt x="2" y="6"/>
                    </a:lnTo>
                    <a:lnTo>
                      <a:pt x="3" y="1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56" tIns="60928" rIns="121856" bIns="60928" numCol="1" anchor="t" anchorCtr="0" compatLnSpc="1">
                <a:prstTxWarp prst="textNoShape">
                  <a:avLst/>
                </a:prstTxWarp>
              </a:bodyPr>
              <a:lstStyle/>
              <a:p>
                <a:pPr defTabSz="1218621"/>
                <a:endParaRPr lang="es-PE" sz="20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4" name="Freeform 41">
                <a:extLst>
                  <a:ext uri="{FF2B5EF4-FFF2-40B4-BE49-F238E27FC236}">
                    <a16:creationId xmlns:a16="http://schemas.microsoft.com/office/drawing/2014/main" id="{04F3C118-C2D6-7DAF-DD5D-9A8CAF2C60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0939" y="4690832"/>
                <a:ext cx="42864" cy="41115"/>
              </a:xfrm>
              <a:custGeom>
                <a:avLst/>
                <a:gdLst/>
                <a:ahLst/>
                <a:cxnLst>
                  <a:cxn ang="0">
                    <a:pos x="82" y="0"/>
                  </a:cxn>
                  <a:cxn ang="0">
                    <a:pos x="85" y="0"/>
                  </a:cxn>
                  <a:cxn ang="0">
                    <a:pos x="87" y="1"/>
                  </a:cxn>
                  <a:cxn ang="0">
                    <a:pos x="89" y="4"/>
                  </a:cxn>
                  <a:cxn ang="0">
                    <a:pos x="94" y="9"/>
                  </a:cxn>
                  <a:cxn ang="0">
                    <a:pos x="97" y="11"/>
                  </a:cxn>
                  <a:cxn ang="0">
                    <a:pos x="98" y="13"/>
                  </a:cxn>
                  <a:cxn ang="0">
                    <a:pos x="98" y="16"/>
                  </a:cxn>
                  <a:cxn ang="0">
                    <a:pos x="97" y="24"/>
                  </a:cxn>
                  <a:cxn ang="0">
                    <a:pos x="93" y="35"/>
                  </a:cxn>
                  <a:cxn ang="0">
                    <a:pos x="85" y="45"/>
                  </a:cxn>
                  <a:cxn ang="0">
                    <a:pos x="71" y="57"/>
                  </a:cxn>
                  <a:cxn ang="0">
                    <a:pos x="60" y="68"/>
                  </a:cxn>
                  <a:cxn ang="0">
                    <a:pos x="48" y="82"/>
                  </a:cxn>
                  <a:cxn ang="0">
                    <a:pos x="42" y="89"/>
                  </a:cxn>
                  <a:cxn ang="0">
                    <a:pos x="38" y="93"/>
                  </a:cxn>
                  <a:cxn ang="0">
                    <a:pos x="35" y="94"/>
                  </a:cxn>
                  <a:cxn ang="0">
                    <a:pos x="31" y="94"/>
                  </a:cxn>
                  <a:cxn ang="0">
                    <a:pos x="23" y="93"/>
                  </a:cxn>
                  <a:cxn ang="0">
                    <a:pos x="12" y="91"/>
                  </a:cxn>
                  <a:cxn ang="0">
                    <a:pos x="4" y="87"/>
                  </a:cxn>
                  <a:cxn ang="0">
                    <a:pos x="0" y="80"/>
                  </a:cxn>
                  <a:cxn ang="0">
                    <a:pos x="1" y="74"/>
                  </a:cxn>
                  <a:cxn ang="0">
                    <a:pos x="8" y="64"/>
                  </a:cxn>
                  <a:cxn ang="0">
                    <a:pos x="19" y="54"/>
                  </a:cxn>
                  <a:cxn ang="0">
                    <a:pos x="46" y="35"/>
                  </a:cxn>
                  <a:cxn ang="0">
                    <a:pos x="54" y="28"/>
                  </a:cxn>
                  <a:cxn ang="0">
                    <a:pos x="60" y="24"/>
                  </a:cxn>
                  <a:cxn ang="0">
                    <a:pos x="61" y="20"/>
                  </a:cxn>
                  <a:cxn ang="0">
                    <a:pos x="63" y="17"/>
                  </a:cxn>
                  <a:cxn ang="0">
                    <a:pos x="65" y="13"/>
                  </a:cxn>
                  <a:cxn ang="0">
                    <a:pos x="68" y="11"/>
                  </a:cxn>
                  <a:cxn ang="0">
                    <a:pos x="72" y="8"/>
                  </a:cxn>
                  <a:cxn ang="0">
                    <a:pos x="75" y="6"/>
                  </a:cxn>
                  <a:cxn ang="0">
                    <a:pos x="78" y="4"/>
                  </a:cxn>
                  <a:cxn ang="0">
                    <a:pos x="80" y="2"/>
                  </a:cxn>
                  <a:cxn ang="0">
                    <a:pos x="82" y="0"/>
                  </a:cxn>
                </a:cxnLst>
                <a:rect l="0" t="0" r="r" b="b"/>
                <a:pathLst>
                  <a:path w="98" h="94">
                    <a:moveTo>
                      <a:pt x="82" y="0"/>
                    </a:moveTo>
                    <a:lnTo>
                      <a:pt x="85" y="0"/>
                    </a:lnTo>
                    <a:lnTo>
                      <a:pt x="87" y="1"/>
                    </a:lnTo>
                    <a:lnTo>
                      <a:pt x="89" y="4"/>
                    </a:lnTo>
                    <a:lnTo>
                      <a:pt x="94" y="9"/>
                    </a:lnTo>
                    <a:lnTo>
                      <a:pt x="97" y="11"/>
                    </a:lnTo>
                    <a:lnTo>
                      <a:pt x="98" y="13"/>
                    </a:lnTo>
                    <a:lnTo>
                      <a:pt x="98" y="16"/>
                    </a:lnTo>
                    <a:lnTo>
                      <a:pt x="97" y="24"/>
                    </a:lnTo>
                    <a:lnTo>
                      <a:pt x="93" y="35"/>
                    </a:lnTo>
                    <a:lnTo>
                      <a:pt x="85" y="45"/>
                    </a:lnTo>
                    <a:lnTo>
                      <a:pt x="71" y="57"/>
                    </a:lnTo>
                    <a:lnTo>
                      <a:pt x="60" y="68"/>
                    </a:lnTo>
                    <a:lnTo>
                      <a:pt x="48" y="82"/>
                    </a:lnTo>
                    <a:lnTo>
                      <a:pt x="42" y="89"/>
                    </a:lnTo>
                    <a:lnTo>
                      <a:pt x="38" y="93"/>
                    </a:lnTo>
                    <a:lnTo>
                      <a:pt x="35" y="94"/>
                    </a:lnTo>
                    <a:lnTo>
                      <a:pt x="31" y="94"/>
                    </a:lnTo>
                    <a:lnTo>
                      <a:pt x="23" y="93"/>
                    </a:lnTo>
                    <a:lnTo>
                      <a:pt x="12" y="91"/>
                    </a:lnTo>
                    <a:lnTo>
                      <a:pt x="4" y="87"/>
                    </a:lnTo>
                    <a:lnTo>
                      <a:pt x="0" y="80"/>
                    </a:lnTo>
                    <a:lnTo>
                      <a:pt x="1" y="74"/>
                    </a:lnTo>
                    <a:lnTo>
                      <a:pt x="8" y="64"/>
                    </a:lnTo>
                    <a:lnTo>
                      <a:pt x="19" y="54"/>
                    </a:lnTo>
                    <a:lnTo>
                      <a:pt x="46" y="35"/>
                    </a:lnTo>
                    <a:lnTo>
                      <a:pt x="54" y="28"/>
                    </a:lnTo>
                    <a:lnTo>
                      <a:pt x="60" y="24"/>
                    </a:lnTo>
                    <a:lnTo>
                      <a:pt x="61" y="20"/>
                    </a:lnTo>
                    <a:lnTo>
                      <a:pt x="63" y="17"/>
                    </a:lnTo>
                    <a:lnTo>
                      <a:pt x="65" y="13"/>
                    </a:lnTo>
                    <a:lnTo>
                      <a:pt x="68" y="11"/>
                    </a:lnTo>
                    <a:lnTo>
                      <a:pt x="72" y="8"/>
                    </a:lnTo>
                    <a:lnTo>
                      <a:pt x="75" y="6"/>
                    </a:lnTo>
                    <a:lnTo>
                      <a:pt x="78" y="4"/>
                    </a:lnTo>
                    <a:lnTo>
                      <a:pt x="80" y="2"/>
                    </a:lnTo>
                    <a:lnTo>
                      <a:pt x="8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56" tIns="60928" rIns="121856" bIns="60928" numCol="1" anchor="t" anchorCtr="0" compatLnSpc="1">
                <a:prstTxWarp prst="textNoShape">
                  <a:avLst/>
                </a:prstTxWarp>
              </a:bodyPr>
              <a:lstStyle/>
              <a:p>
                <a:pPr defTabSz="1218621"/>
                <a:endParaRPr lang="es-PE" sz="20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5" name="Freeform 42">
                <a:extLst>
                  <a:ext uri="{FF2B5EF4-FFF2-40B4-BE49-F238E27FC236}">
                    <a16:creationId xmlns:a16="http://schemas.microsoft.com/office/drawing/2014/main" id="{E6DA2A6D-7BA3-E34A-1B30-61ADED5D25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8032" y="4691707"/>
                <a:ext cx="21869" cy="20120"/>
              </a:xfrm>
              <a:custGeom>
                <a:avLst/>
                <a:gdLst/>
                <a:ahLst/>
                <a:cxnLst>
                  <a:cxn ang="0">
                    <a:pos x="47" y="0"/>
                  </a:cxn>
                  <a:cxn ang="0">
                    <a:pos x="50" y="2"/>
                  </a:cxn>
                  <a:cxn ang="0">
                    <a:pos x="50" y="9"/>
                  </a:cxn>
                  <a:cxn ang="0">
                    <a:pos x="47" y="18"/>
                  </a:cxn>
                  <a:cxn ang="0">
                    <a:pos x="43" y="29"/>
                  </a:cxn>
                  <a:cxn ang="0">
                    <a:pos x="37" y="37"/>
                  </a:cxn>
                  <a:cxn ang="0">
                    <a:pos x="32" y="43"/>
                  </a:cxn>
                  <a:cxn ang="0">
                    <a:pos x="29" y="43"/>
                  </a:cxn>
                  <a:cxn ang="0">
                    <a:pos x="25" y="44"/>
                  </a:cxn>
                  <a:cxn ang="0">
                    <a:pos x="22" y="44"/>
                  </a:cxn>
                  <a:cxn ang="0">
                    <a:pos x="20" y="46"/>
                  </a:cxn>
                  <a:cxn ang="0">
                    <a:pos x="17" y="44"/>
                  </a:cxn>
                  <a:cxn ang="0">
                    <a:pos x="14" y="44"/>
                  </a:cxn>
                  <a:cxn ang="0">
                    <a:pos x="13" y="41"/>
                  </a:cxn>
                  <a:cxn ang="0">
                    <a:pos x="13" y="29"/>
                  </a:cxn>
                  <a:cxn ang="0">
                    <a:pos x="5" y="21"/>
                  </a:cxn>
                  <a:cxn ang="0">
                    <a:pos x="2" y="17"/>
                  </a:cxn>
                  <a:cxn ang="0">
                    <a:pos x="0" y="13"/>
                  </a:cxn>
                  <a:cxn ang="0">
                    <a:pos x="3" y="7"/>
                  </a:cxn>
                  <a:cxn ang="0">
                    <a:pos x="5" y="7"/>
                  </a:cxn>
                  <a:cxn ang="0">
                    <a:pos x="6" y="9"/>
                  </a:cxn>
                  <a:cxn ang="0">
                    <a:pos x="11" y="11"/>
                  </a:cxn>
                  <a:cxn ang="0">
                    <a:pos x="15" y="13"/>
                  </a:cxn>
                  <a:cxn ang="0">
                    <a:pos x="18" y="13"/>
                  </a:cxn>
                  <a:cxn ang="0">
                    <a:pos x="21" y="14"/>
                  </a:cxn>
                  <a:cxn ang="0">
                    <a:pos x="25" y="13"/>
                  </a:cxn>
                  <a:cxn ang="0">
                    <a:pos x="31" y="10"/>
                  </a:cxn>
                  <a:cxn ang="0">
                    <a:pos x="37" y="6"/>
                  </a:cxn>
                  <a:cxn ang="0">
                    <a:pos x="43" y="2"/>
                  </a:cxn>
                  <a:cxn ang="0">
                    <a:pos x="47" y="0"/>
                  </a:cxn>
                </a:cxnLst>
                <a:rect l="0" t="0" r="r" b="b"/>
                <a:pathLst>
                  <a:path w="50" h="46">
                    <a:moveTo>
                      <a:pt x="47" y="0"/>
                    </a:moveTo>
                    <a:lnTo>
                      <a:pt x="50" y="2"/>
                    </a:lnTo>
                    <a:lnTo>
                      <a:pt x="50" y="9"/>
                    </a:lnTo>
                    <a:lnTo>
                      <a:pt x="47" y="18"/>
                    </a:lnTo>
                    <a:lnTo>
                      <a:pt x="43" y="29"/>
                    </a:lnTo>
                    <a:lnTo>
                      <a:pt x="37" y="37"/>
                    </a:lnTo>
                    <a:lnTo>
                      <a:pt x="32" y="43"/>
                    </a:lnTo>
                    <a:lnTo>
                      <a:pt x="29" y="43"/>
                    </a:lnTo>
                    <a:lnTo>
                      <a:pt x="25" y="44"/>
                    </a:lnTo>
                    <a:lnTo>
                      <a:pt x="22" y="44"/>
                    </a:lnTo>
                    <a:lnTo>
                      <a:pt x="20" y="46"/>
                    </a:lnTo>
                    <a:lnTo>
                      <a:pt x="17" y="44"/>
                    </a:lnTo>
                    <a:lnTo>
                      <a:pt x="14" y="44"/>
                    </a:lnTo>
                    <a:lnTo>
                      <a:pt x="13" y="41"/>
                    </a:lnTo>
                    <a:lnTo>
                      <a:pt x="13" y="29"/>
                    </a:lnTo>
                    <a:lnTo>
                      <a:pt x="5" y="21"/>
                    </a:lnTo>
                    <a:lnTo>
                      <a:pt x="2" y="17"/>
                    </a:lnTo>
                    <a:lnTo>
                      <a:pt x="0" y="13"/>
                    </a:lnTo>
                    <a:lnTo>
                      <a:pt x="3" y="7"/>
                    </a:lnTo>
                    <a:lnTo>
                      <a:pt x="5" y="7"/>
                    </a:lnTo>
                    <a:lnTo>
                      <a:pt x="6" y="9"/>
                    </a:lnTo>
                    <a:lnTo>
                      <a:pt x="11" y="11"/>
                    </a:lnTo>
                    <a:lnTo>
                      <a:pt x="15" y="13"/>
                    </a:lnTo>
                    <a:lnTo>
                      <a:pt x="18" y="13"/>
                    </a:lnTo>
                    <a:lnTo>
                      <a:pt x="21" y="14"/>
                    </a:lnTo>
                    <a:lnTo>
                      <a:pt x="25" y="13"/>
                    </a:lnTo>
                    <a:lnTo>
                      <a:pt x="31" y="10"/>
                    </a:lnTo>
                    <a:lnTo>
                      <a:pt x="37" y="6"/>
                    </a:lnTo>
                    <a:lnTo>
                      <a:pt x="43" y="2"/>
                    </a:lnTo>
                    <a:lnTo>
                      <a:pt x="4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56" tIns="60928" rIns="121856" bIns="60928" numCol="1" anchor="t" anchorCtr="0" compatLnSpc="1">
                <a:prstTxWarp prst="textNoShape">
                  <a:avLst/>
                </a:prstTxWarp>
              </a:bodyPr>
              <a:lstStyle/>
              <a:p>
                <a:pPr defTabSz="1218621"/>
                <a:endParaRPr lang="es-PE" sz="20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7" name="Freeform 44">
                <a:extLst>
                  <a:ext uri="{FF2B5EF4-FFF2-40B4-BE49-F238E27FC236}">
                    <a16:creationId xmlns:a16="http://schemas.microsoft.com/office/drawing/2014/main" id="{8902FF9A-7066-E12A-61C5-B51D499AF6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2611" y="4530747"/>
                <a:ext cx="13559" cy="11810"/>
              </a:xfrm>
              <a:custGeom>
                <a:avLst/>
                <a:gdLst/>
                <a:ahLst/>
                <a:cxnLst>
                  <a:cxn ang="0">
                    <a:pos x="23" y="0"/>
                  </a:cxn>
                  <a:cxn ang="0">
                    <a:pos x="28" y="0"/>
                  </a:cxn>
                  <a:cxn ang="0">
                    <a:pos x="31" y="4"/>
                  </a:cxn>
                  <a:cxn ang="0">
                    <a:pos x="28" y="9"/>
                  </a:cxn>
                  <a:cxn ang="0">
                    <a:pos x="23" y="18"/>
                  </a:cxn>
                  <a:cxn ang="0">
                    <a:pos x="15" y="23"/>
                  </a:cxn>
                  <a:cxn ang="0">
                    <a:pos x="8" y="27"/>
                  </a:cxn>
                  <a:cxn ang="0">
                    <a:pos x="0" y="26"/>
                  </a:cxn>
                  <a:cxn ang="0">
                    <a:pos x="1" y="23"/>
                  </a:cxn>
                  <a:cxn ang="0">
                    <a:pos x="5" y="18"/>
                  </a:cxn>
                  <a:cxn ang="0">
                    <a:pos x="11" y="11"/>
                  </a:cxn>
                  <a:cxn ang="0">
                    <a:pos x="16" y="5"/>
                  </a:cxn>
                  <a:cxn ang="0">
                    <a:pos x="23" y="0"/>
                  </a:cxn>
                </a:cxnLst>
                <a:rect l="0" t="0" r="r" b="b"/>
                <a:pathLst>
                  <a:path w="31" h="27">
                    <a:moveTo>
                      <a:pt x="23" y="0"/>
                    </a:moveTo>
                    <a:lnTo>
                      <a:pt x="28" y="0"/>
                    </a:lnTo>
                    <a:lnTo>
                      <a:pt x="31" y="4"/>
                    </a:lnTo>
                    <a:lnTo>
                      <a:pt x="28" y="9"/>
                    </a:lnTo>
                    <a:lnTo>
                      <a:pt x="23" y="18"/>
                    </a:lnTo>
                    <a:lnTo>
                      <a:pt x="15" y="23"/>
                    </a:lnTo>
                    <a:lnTo>
                      <a:pt x="8" y="27"/>
                    </a:lnTo>
                    <a:lnTo>
                      <a:pt x="0" y="26"/>
                    </a:lnTo>
                    <a:lnTo>
                      <a:pt x="1" y="23"/>
                    </a:lnTo>
                    <a:lnTo>
                      <a:pt x="5" y="18"/>
                    </a:lnTo>
                    <a:lnTo>
                      <a:pt x="11" y="11"/>
                    </a:lnTo>
                    <a:lnTo>
                      <a:pt x="1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56" tIns="60928" rIns="121856" bIns="60928" numCol="1" anchor="t" anchorCtr="0" compatLnSpc="1">
                <a:prstTxWarp prst="textNoShape">
                  <a:avLst/>
                </a:prstTxWarp>
              </a:bodyPr>
              <a:lstStyle/>
              <a:p>
                <a:pPr defTabSz="1218621"/>
                <a:endParaRPr lang="es-PE" sz="20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8" name="Freeform 45">
                <a:extLst>
                  <a:ext uri="{FF2B5EF4-FFF2-40B4-BE49-F238E27FC236}">
                    <a16:creationId xmlns:a16="http://schemas.microsoft.com/office/drawing/2014/main" id="{80AE12EF-FD97-46DB-D9CB-1EB5EFDE32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8692" y="4560489"/>
                <a:ext cx="13996" cy="126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0"/>
                  </a:cxn>
                  <a:cxn ang="0">
                    <a:pos x="10" y="2"/>
                  </a:cxn>
                  <a:cxn ang="0">
                    <a:pos x="21" y="6"/>
                  </a:cxn>
                  <a:cxn ang="0">
                    <a:pos x="28" y="11"/>
                  </a:cxn>
                  <a:cxn ang="0">
                    <a:pos x="30" y="17"/>
                  </a:cxn>
                  <a:cxn ang="0">
                    <a:pos x="32" y="22"/>
                  </a:cxn>
                  <a:cxn ang="0">
                    <a:pos x="28" y="28"/>
                  </a:cxn>
                  <a:cxn ang="0">
                    <a:pos x="22" y="29"/>
                  </a:cxn>
                  <a:cxn ang="0">
                    <a:pos x="15" y="25"/>
                  </a:cxn>
                  <a:cxn ang="0">
                    <a:pos x="10" y="17"/>
                  </a:cxn>
                  <a:cxn ang="0">
                    <a:pos x="9" y="14"/>
                  </a:cxn>
                  <a:cxn ang="0">
                    <a:pos x="6" y="11"/>
                  </a:cxn>
                  <a:cxn ang="0">
                    <a:pos x="4" y="9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32" h="29">
                    <a:moveTo>
                      <a:pt x="0" y="0"/>
                    </a:moveTo>
                    <a:lnTo>
                      <a:pt x="6" y="0"/>
                    </a:lnTo>
                    <a:lnTo>
                      <a:pt x="10" y="2"/>
                    </a:lnTo>
                    <a:lnTo>
                      <a:pt x="21" y="6"/>
                    </a:lnTo>
                    <a:lnTo>
                      <a:pt x="28" y="11"/>
                    </a:lnTo>
                    <a:lnTo>
                      <a:pt x="30" y="17"/>
                    </a:lnTo>
                    <a:lnTo>
                      <a:pt x="32" y="22"/>
                    </a:lnTo>
                    <a:lnTo>
                      <a:pt x="28" y="28"/>
                    </a:lnTo>
                    <a:lnTo>
                      <a:pt x="22" y="29"/>
                    </a:lnTo>
                    <a:lnTo>
                      <a:pt x="15" y="25"/>
                    </a:lnTo>
                    <a:lnTo>
                      <a:pt x="10" y="17"/>
                    </a:lnTo>
                    <a:lnTo>
                      <a:pt x="9" y="14"/>
                    </a:lnTo>
                    <a:lnTo>
                      <a:pt x="6" y="11"/>
                    </a:lnTo>
                    <a:lnTo>
                      <a:pt x="4" y="9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56" tIns="60928" rIns="121856" bIns="60928" numCol="1" anchor="t" anchorCtr="0" compatLnSpc="1">
                <a:prstTxWarp prst="textNoShape">
                  <a:avLst/>
                </a:prstTxWarp>
              </a:bodyPr>
              <a:lstStyle/>
              <a:p>
                <a:pPr defTabSz="1218621"/>
                <a:endParaRPr lang="es-PE" sz="20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1" name="Freeform 48">
                <a:extLst>
                  <a:ext uri="{FF2B5EF4-FFF2-40B4-BE49-F238E27FC236}">
                    <a16:creationId xmlns:a16="http://schemas.microsoft.com/office/drawing/2014/main" id="{71C7674C-8C88-FB9F-53C0-45738AD1CD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2399" y="4462514"/>
                <a:ext cx="50300" cy="18808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5" y="4"/>
                  </a:cxn>
                  <a:cxn ang="0">
                    <a:pos x="18" y="8"/>
                  </a:cxn>
                  <a:cxn ang="0">
                    <a:pos x="22" y="12"/>
                  </a:cxn>
                  <a:cxn ang="0">
                    <a:pos x="38" y="15"/>
                  </a:cxn>
                  <a:cxn ang="0">
                    <a:pos x="48" y="17"/>
                  </a:cxn>
                  <a:cxn ang="0">
                    <a:pos x="52" y="22"/>
                  </a:cxn>
                  <a:cxn ang="0">
                    <a:pos x="53" y="20"/>
                  </a:cxn>
                  <a:cxn ang="0">
                    <a:pos x="57" y="17"/>
                  </a:cxn>
                  <a:cxn ang="0">
                    <a:pos x="65" y="15"/>
                  </a:cxn>
                  <a:cxn ang="0">
                    <a:pos x="68" y="16"/>
                  </a:cxn>
                  <a:cxn ang="0">
                    <a:pos x="75" y="17"/>
                  </a:cxn>
                  <a:cxn ang="0">
                    <a:pos x="91" y="20"/>
                  </a:cxn>
                  <a:cxn ang="0">
                    <a:pos x="97" y="22"/>
                  </a:cxn>
                  <a:cxn ang="0">
                    <a:pos x="100" y="23"/>
                  </a:cxn>
                  <a:cxn ang="0">
                    <a:pos x="104" y="24"/>
                  </a:cxn>
                  <a:cxn ang="0">
                    <a:pos x="106" y="27"/>
                  </a:cxn>
                  <a:cxn ang="0">
                    <a:pos x="111" y="30"/>
                  </a:cxn>
                  <a:cxn ang="0">
                    <a:pos x="113" y="34"/>
                  </a:cxn>
                  <a:cxn ang="0">
                    <a:pos x="115" y="38"/>
                  </a:cxn>
                  <a:cxn ang="0">
                    <a:pos x="115" y="41"/>
                  </a:cxn>
                  <a:cxn ang="0">
                    <a:pos x="112" y="43"/>
                  </a:cxn>
                  <a:cxn ang="0">
                    <a:pos x="106" y="43"/>
                  </a:cxn>
                  <a:cxn ang="0">
                    <a:pos x="98" y="42"/>
                  </a:cxn>
                  <a:cxn ang="0">
                    <a:pos x="89" y="41"/>
                  </a:cxn>
                  <a:cxn ang="0">
                    <a:pos x="70" y="41"/>
                  </a:cxn>
                  <a:cxn ang="0">
                    <a:pos x="63" y="37"/>
                  </a:cxn>
                  <a:cxn ang="0">
                    <a:pos x="55" y="30"/>
                  </a:cxn>
                  <a:cxn ang="0">
                    <a:pos x="53" y="28"/>
                  </a:cxn>
                  <a:cxn ang="0">
                    <a:pos x="52" y="26"/>
                  </a:cxn>
                  <a:cxn ang="0">
                    <a:pos x="49" y="27"/>
                  </a:cxn>
                  <a:cxn ang="0">
                    <a:pos x="45" y="28"/>
                  </a:cxn>
                  <a:cxn ang="0">
                    <a:pos x="34" y="31"/>
                  </a:cxn>
                  <a:cxn ang="0">
                    <a:pos x="23" y="31"/>
                  </a:cxn>
                  <a:cxn ang="0">
                    <a:pos x="14" y="30"/>
                  </a:cxn>
                  <a:cxn ang="0">
                    <a:pos x="8" y="27"/>
                  </a:cxn>
                  <a:cxn ang="0">
                    <a:pos x="5" y="24"/>
                  </a:cxn>
                  <a:cxn ang="0">
                    <a:pos x="1" y="19"/>
                  </a:cxn>
                  <a:cxn ang="0">
                    <a:pos x="0" y="12"/>
                  </a:cxn>
                  <a:cxn ang="0">
                    <a:pos x="3" y="4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15" h="43">
                    <a:moveTo>
                      <a:pt x="8" y="0"/>
                    </a:moveTo>
                    <a:lnTo>
                      <a:pt x="11" y="0"/>
                    </a:lnTo>
                    <a:lnTo>
                      <a:pt x="15" y="4"/>
                    </a:lnTo>
                    <a:lnTo>
                      <a:pt x="18" y="8"/>
                    </a:lnTo>
                    <a:lnTo>
                      <a:pt x="22" y="12"/>
                    </a:lnTo>
                    <a:lnTo>
                      <a:pt x="38" y="15"/>
                    </a:lnTo>
                    <a:lnTo>
                      <a:pt x="48" y="17"/>
                    </a:lnTo>
                    <a:lnTo>
                      <a:pt x="52" y="22"/>
                    </a:lnTo>
                    <a:lnTo>
                      <a:pt x="53" y="20"/>
                    </a:lnTo>
                    <a:lnTo>
                      <a:pt x="57" y="17"/>
                    </a:lnTo>
                    <a:lnTo>
                      <a:pt x="65" y="15"/>
                    </a:lnTo>
                    <a:lnTo>
                      <a:pt x="68" y="16"/>
                    </a:lnTo>
                    <a:lnTo>
                      <a:pt x="75" y="17"/>
                    </a:lnTo>
                    <a:lnTo>
                      <a:pt x="91" y="20"/>
                    </a:lnTo>
                    <a:lnTo>
                      <a:pt x="97" y="22"/>
                    </a:lnTo>
                    <a:lnTo>
                      <a:pt x="100" y="23"/>
                    </a:lnTo>
                    <a:lnTo>
                      <a:pt x="104" y="24"/>
                    </a:lnTo>
                    <a:lnTo>
                      <a:pt x="106" y="27"/>
                    </a:lnTo>
                    <a:lnTo>
                      <a:pt x="111" y="30"/>
                    </a:lnTo>
                    <a:lnTo>
                      <a:pt x="113" y="34"/>
                    </a:lnTo>
                    <a:lnTo>
                      <a:pt x="115" y="38"/>
                    </a:lnTo>
                    <a:lnTo>
                      <a:pt x="115" y="41"/>
                    </a:lnTo>
                    <a:lnTo>
                      <a:pt x="112" y="43"/>
                    </a:lnTo>
                    <a:lnTo>
                      <a:pt x="106" y="43"/>
                    </a:lnTo>
                    <a:lnTo>
                      <a:pt x="98" y="42"/>
                    </a:lnTo>
                    <a:lnTo>
                      <a:pt x="89" y="41"/>
                    </a:lnTo>
                    <a:lnTo>
                      <a:pt x="70" y="41"/>
                    </a:lnTo>
                    <a:lnTo>
                      <a:pt x="63" y="37"/>
                    </a:lnTo>
                    <a:lnTo>
                      <a:pt x="55" y="30"/>
                    </a:lnTo>
                    <a:lnTo>
                      <a:pt x="53" y="28"/>
                    </a:lnTo>
                    <a:lnTo>
                      <a:pt x="52" y="26"/>
                    </a:lnTo>
                    <a:lnTo>
                      <a:pt x="49" y="27"/>
                    </a:lnTo>
                    <a:lnTo>
                      <a:pt x="45" y="28"/>
                    </a:lnTo>
                    <a:lnTo>
                      <a:pt x="34" y="31"/>
                    </a:lnTo>
                    <a:lnTo>
                      <a:pt x="23" y="31"/>
                    </a:lnTo>
                    <a:lnTo>
                      <a:pt x="14" y="30"/>
                    </a:lnTo>
                    <a:lnTo>
                      <a:pt x="8" y="27"/>
                    </a:lnTo>
                    <a:lnTo>
                      <a:pt x="5" y="24"/>
                    </a:lnTo>
                    <a:lnTo>
                      <a:pt x="1" y="19"/>
                    </a:lnTo>
                    <a:lnTo>
                      <a:pt x="0" y="12"/>
                    </a:lnTo>
                    <a:lnTo>
                      <a:pt x="3" y="4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56" tIns="60928" rIns="121856" bIns="60928" numCol="1" anchor="t" anchorCtr="0" compatLnSpc="1">
                <a:prstTxWarp prst="textNoShape">
                  <a:avLst/>
                </a:prstTxWarp>
              </a:bodyPr>
              <a:lstStyle/>
              <a:p>
                <a:pPr defTabSz="1218621"/>
                <a:endParaRPr lang="es-PE" sz="20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2" name="Freeform 49">
                <a:extLst>
                  <a:ext uri="{FF2B5EF4-FFF2-40B4-BE49-F238E27FC236}">
                    <a16:creationId xmlns:a16="http://schemas.microsoft.com/office/drawing/2014/main" id="{58620ABD-1E7F-293D-2079-1D8283E22D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7193" y="4484383"/>
                <a:ext cx="6998" cy="743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2" y="0"/>
                  </a:cxn>
                  <a:cxn ang="0">
                    <a:pos x="15" y="3"/>
                  </a:cxn>
                  <a:cxn ang="0">
                    <a:pos x="16" y="6"/>
                  </a:cxn>
                  <a:cxn ang="0">
                    <a:pos x="16" y="14"/>
                  </a:cxn>
                  <a:cxn ang="0">
                    <a:pos x="11" y="17"/>
                  </a:cxn>
                  <a:cxn ang="0">
                    <a:pos x="5" y="17"/>
                  </a:cxn>
                  <a:cxn ang="0">
                    <a:pos x="2" y="15"/>
                  </a:cxn>
                  <a:cxn ang="0">
                    <a:pos x="0" y="10"/>
                  </a:cxn>
                  <a:cxn ang="0">
                    <a:pos x="0" y="6"/>
                  </a:cxn>
                  <a:cxn ang="0">
                    <a:pos x="2" y="0"/>
                  </a:cxn>
                </a:cxnLst>
                <a:rect l="0" t="0" r="r" b="b"/>
                <a:pathLst>
                  <a:path w="16" h="17">
                    <a:moveTo>
                      <a:pt x="2" y="0"/>
                    </a:moveTo>
                    <a:lnTo>
                      <a:pt x="12" y="0"/>
                    </a:lnTo>
                    <a:lnTo>
                      <a:pt x="15" y="3"/>
                    </a:lnTo>
                    <a:lnTo>
                      <a:pt x="16" y="6"/>
                    </a:lnTo>
                    <a:lnTo>
                      <a:pt x="16" y="14"/>
                    </a:lnTo>
                    <a:lnTo>
                      <a:pt x="11" y="17"/>
                    </a:lnTo>
                    <a:lnTo>
                      <a:pt x="5" y="17"/>
                    </a:lnTo>
                    <a:lnTo>
                      <a:pt x="2" y="15"/>
                    </a:lnTo>
                    <a:lnTo>
                      <a:pt x="0" y="10"/>
                    </a:lnTo>
                    <a:lnTo>
                      <a:pt x="0" y="6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56" tIns="60928" rIns="121856" bIns="60928" numCol="1" anchor="t" anchorCtr="0" compatLnSpc="1">
                <a:prstTxWarp prst="textNoShape">
                  <a:avLst/>
                </a:prstTxWarp>
              </a:bodyPr>
              <a:lstStyle/>
              <a:p>
                <a:pPr defTabSz="1218621"/>
                <a:endParaRPr lang="es-PE" sz="20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3" name="Freeform 50">
                <a:extLst>
                  <a:ext uri="{FF2B5EF4-FFF2-40B4-BE49-F238E27FC236}">
                    <a16:creationId xmlns:a16="http://schemas.microsoft.com/office/drawing/2014/main" id="{06426993-6230-A5AA-408A-95932BD9B6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2124" y="4476073"/>
                <a:ext cx="17496" cy="16621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28" y="1"/>
                  </a:cxn>
                  <a:cxn ang="0">
                    <a:pos x="33" y="4"/>
                  </a:cxn>
                  <a:cxn ang="0">
                    <a:pos x="38" y="10"/>
                  </a:cxn>
                  <a:cxn ang="0">
                    <a:pos x="40" y="15"/>
                  </a:cxn>
                  <a:cxn ang="0">
                    <a:pos x="37" y="21"/>
                  </a:cxn>
                  <a:cxn ang="0">
                    <a:pos x="33" y="23"/>
                  </a:cxn>
                  <a:cxn ang="0">
                    <a:pos x="30" y="25"/>
                  </a:cxn>
                  <a:cxn ang="0">
                    <a:pos x="26" y="25"/>
                  </a:cxn>
                  <a:cxn ang="0">
                    <a:pos x="25" y="26"/>
                  </a:cxn>
                  <a:cxn ang="0">
                    <a:pos x="23" y="26"/>
                  </a:cxn>
                  <a:cxn ang="0">
                    <a:pos x="18" y="32"/>
                  </a:cxn>
                  <a:cxn ang="0">
                    <a:pos x="12" y="36"/>
                  </a:cxn>
                  <a:cxn ang="0">
                    <a:pos x="7" y="38"/>
                  </a:cxn>
                  <a:cxn ang="0">
                    <a:pos x="3" y="38"/>
                  </a:cxn>
                  <a:cxn ang="0">
                    <a:pos x="0" y="34"/>
                  </a:cxn>
                  <a:cxn ang="0">
                    <a:pos x="3" y="25"/>
                  </a:cxn>
                  <a:cxn ang="0">
                    <a:pos x="8" y="15"/>
                  </a:cxn>
                  <a:cxn ang="0">
                    <a:pos x="17" y="4"/>
                  </a:cxn>
                  <a:cxn ang="0">
                    <a:pos x="22" y="0"/>
                  </a:cxn>
                </a:cxnLst>
                <a:rect l="0" t="0" r="r" b="b"/>
                <a:pathLst>
                  <a:path w="40" h="38">
                    <a:moveTo>
                      <a:pt x="22" y="0"/>
                    </a:moveTo>
                    <a:lnTo>
                      <a:pt x="28" y="1"/>
                    </a:lnTo>
                    <a:lnTo>
                      <a:pt x="33" y="4"/>
                    </a:lnTo>
                    <a:lnTo>
                      <a:pt x="38" y="10"/>
                    </a:lnTo>
                    <a:lnTo>
                      <a:pt x="40" y="15"/>
                    </a:lnTo>
                    <a:lnTo>
                      <a:pt x="37" y="21"/>
                    </a:lnTo>
                    <a:lnTo>
                      <a:pt x="33" y="23"/>
                    </a:lnTo>
                    <a:lnTo>
                      <a:pt x="30" y="25"/>
                    </a:lnTo>
                    <a:lnTo>
                      <a:pt x="26" y="25"/>
                    </a:lnTo>
                    <a:lnTo>
                      <a:pt x="25" y="26"/>
                    </a:lnTo>
                    <a:lnTo>
                      <a:pt x="23" y="26"/>
                    </a:lnTo>
                    <a:lnTo>
                      <a:pt x="18" y="32"/>
                    </a:lnTo>
                    <a:lnTo>
                      <a:pt x="12" y="36"/>
                    </a:lnTo>
                    <a:lnTo>
                      <a:pt x="7" y="38"/>
                    </a:lnTo>
                    <a:lnTo>
                      <a:pt x="3" y="38"/>
                    </a:lnTo>
                    <a:lnTo>
                      <a:pt x="0" y="34"/>
                    </a:lnTo>
                    <a:lnTo>
                      <a:pt x="3" y="25"/>
                    </a:lnTo>
                    <a:lnTo>
                      <a:pt x="8" y="15"/>
                    </a:lnTo>
                    <a:lnTo>
                      <a:pt x="17" y="4"/>
                    </a:lnTo>
                    <a:lnTo>
                      <a:pt x="2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56" tIns="60928" rIns="121856" bIns="60928" numCol="1" anchor="t" anchorCtr="0" compatLnSpc="1">
                <a:prstTxWarp prst="textNoShape">
                  <a:avLst/>
                </a:prstTxWarp>
              </a:bodyPr>
              <a:lstStyle/>
              <a:p>
                <a:pPr defTabSz="1218621"/>
                <a:endParaRPr lang="es-PE" sz="20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4" name="Freeform 51">
                <a:extLst>
                  <a:ext uri="{FF2B5EF4-FFF2-40B4-BE49-F238E27FC236}">
                    <a16:creationId xmlns:a16="http://schemas.microsoft.com/office/drawing/2014/main" id="{9AE80B0F-1D36-06C0-58D5-02FD343F94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5443" y="4428834"/>
                <a:ext cx="26243" cy="31055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15" y="0"/>
                  </a:cxn>
                  <a:cxn ang="0">
                    <a:pos x="16" y="1"/>
                  </a:cxn>
                  <a:cxn ang="0">
                    <a:pos x="19" y="3"/>
                  </a:cxn>
                  <a:cxn ang="0">
                    <a:pos x="23" y="4"/>
                  </a:cxn>
                  <a:cxn ang="0">
                    <a:pos x="30" y="4"/>
                  </a:cxn>
                  <a:cxn ang="0">
                    <a:pos x="37" y="3"/>
                  </a:cxn>
                  <a:cxn ang="0">
                    <a:pos x="54" y="3"/>
                  </a:cxn>
                  <a:cxn ang="0">
                    <a:pos x="60" y="7"/>
                  </a:cxn>
                  <a:cxn ang="0">
                    <a:pos x="60" y="14"/>
                  </a:cxn>
                  <a:cxn ang="0">
                    <a:pos x="57" y="16"/>
                  </a:cxn>
                  <a:cxn ang="0">
                    <a:pos x="53" y="18"/>
                  </a:cxn>
                  <a:cxn ang="0">
                    <a:pos x="48" y="19"/>
                  </a:cxn>
                  <a:cxn ang="0">
                    <a:pos x="34" y="19"/>
                  </a:cxn>
                  <a:cxn ang="0">
                    <a:pos x="34" y="20"/>
                  </a:cxn>
                  <a:cxn ang="0">
                    <a:pos x="35" y="23"/>
                  </a:cxn>
                  <a:cxn ang="0">
                    <a:pos x="42" y="30"/>
                  </a:cxn>
                  <a:cxn ang="0">
                    <a:pos x="46" y="33"/>
                  </a:cxn>
                  <a:cxn ang="0">
                    <a:pos x="52" y="40"/>
                  </a:cxn>
                  <a:cxn ang="0">
                    <a:pos x="56" y="49"/>
                  </a:cxn>
                  <a:cxn ang="0">
                    <a:pos x="58" y="60"/>
                  </a:cxn>
                  <a:cxn ang="0">
                    <a:pos x="60" y="68"/>
                  </a:cxn>
                  <a:cxn ang="0">
                    <a:pos x="60" y="71"/>
                  </a:cxn>
                  <a:cxn ang="0">
                    <a:pos x="57" y="71"/>
                  </a:cxn>
                  <a:cxn ang="0">
                    <a:pos x="52" y="70"/>
                  </a:cxn>
                  <a:cxn ang="0">
                    <a:pos x="45" y="67"/>
                  </a:cxn>
                  <a:cxn ang="0">
                    <a:pos x="38" y="60"/>
                  </a:cxn>
                  <a:cxn ang="0">
                    <a:pos x="34" y="53"/>
                  </a:cxn>
                  <a:cxn ang="0">
                    <a:pos x="32" y="48"/>
                  </a:cxn>
                  <a:cxn ang="0">
                    <a:pos x="32" y="42"/>
                  </a:cxn>
                  <a:cxn ang="0">
                    <a:pos x="31" y="37"/>
                  </a:cxn>
                  <a:cxn ang="0">
                    <a:pos x="28" y="36"/>
                  </a:cxn>
                  <a:cxn ang="0">
                    <a:pos x="24" y="37"/>
                  </a:cxn>
                  <a:cxn ang="0">
                    <a:pos x="19" y="42"/>
                  </a:cxn>
                  <a:cxn ang="0">
                    <a:pos x="12" y="46"/>
                  </a:cxn>
                  <a:cxn ang="0">
                    <a:pos x="6" y="51"/>
                  </a:cxn>
                  <a:cxn ang="0">
                    <a:pos x="2" y="49"/>
                  </a:cxn>
                  <a:cxn ang="0">
                    <a:pos x="0" y="44"/>
                  </a:cxn>
                  <a:cxn ang="0">
                    <a:pos x="0" y="37"/>
                  </a:cxn>
                  <a:cxn ang="0">
                    <a:pos x="2" y="30"/>
                  </a:cxn>
                  <a:cxn ang="0">
                    <a:pos x="5" y="20"/>
                  </a:cxn>
                  <a:cxn ang="0">
                    <a:pos x="6" y="14"/>
                  </a:cxn>
                  <a:cxn ang="0">
                    <a:pos x="8" y="8"/>
                  </a:cxn>
                  <a:cxn ang="0">
                    <a:pos x="8" y="5"/>
                  </a:cxn>
                  <a:cxn ang="0">
                    <a:pos x="11" y="1"/>
                  </a:cxn>
                  <a:cxn ang="0">
                    <a:pos x="13" y="0"/>
                  </a:cxn>
                </a:cxnLst>
                <a:rect l="0" t="0" r="r" b="b"/>
                <a:pathLst>
                  <a:path w="60" h="71">
                    <a:moveTo>
                      <a:pt x="13" y="0"/>
                    </a:moveTo>
                    <a:lnTo>
                      <a:pt x="15" y="0"/>
                    </a:lnTo>
                    <a:lnTo>
                      <a:pt x="16" y="1"/>
                    </a:lnTo>
                    <a:lnTo>
                      <a:pt x="19" y="3"/>
                    </a:lnTo>
                    <a:lnTo>
                      <a:pt x="23" y="4"/>
                    </a:lnTo>
                    <a:lnTo>
                      <a:pt x="30" y="4"/>
                    </a:lnTo>
                    <a:lnTo>
                      <a:pt x="37" y="3"/>
                    </a:lnTo>
                    <a:lnTo>
                      <a:pt x="54" y="3"/>
                    </a:lnTo>
                    <a:lnTo>
                      <a:pt x="60" y="7"/>
                    </a:lnTo>
                    <a:lnTo>
                      <a:pt x="60" y="14"/>
                    </a:lnTo>
                    <a:lnTo>
                      <a:pt x="57" y="16"/>
                    </a:lnTo>
                    <a:lnTo>
                      <a:pt x="53" y="18"/>
                    </a:lnTo>
                    <a:lnTo>
                      <a:pt x="48" y="19"/>
                    </a:lnTo>
                    <a:lnTo>
                      <a:pt x="34" y="19"/>
                    </a:lnTo>
                    <a:lnTo>
                      <a:pt x="34" y="20"/>
                    </a:lnTo>
                    <a:lnTo>
                      <a:pt x="35" y="23"/>
                    </a:lnTo>
                    <a:lnTo>
                      <a:pt x="42" y="30"/>
                    </a:lnTo>
                    <a:lnTo>
                      <a:pt x="46" y="33"/>
                    </a:lnTo>
                    <a:lnTo>
                      <a:pt x="52" y="40"/>
                    </a:lnTo>
                    <a:lnTo>
                      <a:pt x="56" y="49"/>
                    </a:lnTo>
                    <a:lnTo>
                      <a:pt x="58" y="60"/>
                    </a:lnTo>
                    <a:lnTo>
                      <a:pt x="60" y="68"/>
                    </a:lnTo>
                    <a:lnTo>
                      <a:pt x="60" y="71"/>
                    </a:lnTo>
                    <a:lnTo>
                      <a:pt x="57" y="71"/>
                    </a:lnTo>
                    <a:lnTo>
                      <a:pt x="52" y="70"/>
                    </a:lnTo>
                    <a:lnTo>
                      <a:pt x="45" y="67"/>
                    </a:lnTo>
                    <a:lnTo>
                      <a:pt x="38" y="60"/>
                    </a:lnTo>
                    <a:lnTo>
                      <a:pt x="34" y="53"/>
                    </a:lnTo>
                    <a:lnTo>
                      <a:pt x="32" y="48"/>
                    </a:lnTo>
                    <a:lnTo>
                      <a:pt x="32" y="42"/>
                    </a:lnTo>
                    <a:lnTo>
                      <a:pt x="31" y="37"/>
                    </a:lnTo>
                    <a:lnTo>
                      <a:pt x="28" y="36"/>
                    </a:lnTo>
                    <a:lnTo>
                      <a:pt x="24" y="37"/>
                    </a:lnTo>
                    <a:lnTo>
                      <a:pt x="19" y="42"/>
                    </a:lnTo>
                    <a:lnTo>
                      <a:pt x="12" y="46"/>
                    </a:lnTo>
                    <a:lnTo>
                      <a:pt x="6" y="51"/>
                    </a:lnTo>
                    <a:lnTo>
                      <a:pt x="2" y="49"/>
                    </a:lnTo>
                    <a:lnTo>
                      <a:pt x="0" y="44"/>
                    </a:lnTo>
                    <a:lnTo>
                      <a:pt x="0" y="37"/>
                    </a:lnTo>
                    <a:lnTo>
                      <a:pt x="2" y="30"/>
                    </a:lnTo>
                    <a:lnTo>
                      <a:pt x="5" y="20"/>
                    </a:lnTo>
                    <a:lnTo>
                      <a:pt x="6" y="14"/>
                    </a:lnTo>
                    <a:lnTo>
                      <a:pt x="8" y="8"/>
                    </a:lnTo>
                    <a:lnTo>
                      <a:pt x="8" y="5"/>
                    </a:lnTo>
                    <a:lnTo>
                      <a:pt x="11" y="1"/>
                    </a:lnTo>
                    <a:lnTo>
                      <a:pt x="1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56" tIns="60928" rIns="121856" bIns="60928" numCol="1" anchor="t" anchorCtr="0" compatLnSpc="1">
                <a:prstTxWarp prst="textNoShape">
                  <a:avLst/>
                </a:prstTxWarp>
              </a:bodyPr>
              <a:lstStyle/>
              <a:p>
                <a:pPr defTabSz="1218621"/>
                <a:endParaRPr lang="es-PE" sz="20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5" name="Freeform 52">
                <a:extLst>
                  <a:ext uri="{FF2B5EF4-FFF2-40B4-BE49-F238E27FC236}">
                    <a16:creationId xmlns:a16="http://schemas.microsoft.com/office/drawing/2014/main" id="{3B1802B0-4B22-7DCA-5270-82193B3AC6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2442" y="4414838"/>
                <a:ext cx="28868" cy="9623"/>
              </a:xfrm>
              <a:custGeom>
                <a:avLst/>
                <a:gdLst/>
                <a:ahLst/>
                <a:cxnLst>
                  <a:cxn ang="0">
                    <a:pos x="64" y="0"/>
                  </a:cxn>
                  <a:cxn ang="0">
                    <a:pos x="66" y="2"/>
                  </a:cxn>
                  <a:cxn ang="0">
                    <a:pos x="66" y="3"/>
                  </a:cxn>
                  <a:cxn ang="0">
                    <a:pos x="62" y="11"/>
                  </a:cxn>
                  <a:cxn ang="0">
                    <a:pos x="57" y="15"/>
                  </a:cxn>
                  <a:cxn ang="0">
                    <a:pos x="55" y="17"/>
                  </a:cxn>
                  <a:cxn ang="0">
                    <a:pos x="48" y="17"/>
                  </a:cxn>
                  <a:cxn ang="0">
                    <a:pos x="37" y="20"/>
                  </a:cxn>
                  <a:cxn ang="0">
                    <a:pos x="25" y="21"/>
                  </a:cxn>
                  <a:cxn ang="0">
                    <a:pos x="14" y="22"/>
                  </a:cxn>
                  <a:cxn ang="0">
                    <a:pos x="8" y="22"/>
                  </a:cxn>
                  <a:cxn ang="0">
                    <a:pos x="3" y="20"/>
                  </a:cxn>
                  <a:cxn ang="0">
                    <a:pos x="0" y="17"/>
                  </a:cxn>
                  <a:cxn ang="0">
                    <a:pos x="0" y="14"/>
                  </a:cxn>
                  <a:cxn ang="0">
                    <a:pos x="1" y="10"/>
                  </a:cxn>
                  <a:cxn ang="0">
                    <a:pos x="4" y="6"/>
                  </a:cxn>
                  <a:cxn ang="0">
                    <a:pos x="7" y="6"/>
                  </a:cxn>
                  <a:cxn ang="0">
                    <a:pos x="14" y="7"/>
                  </a:cxn>
                  <a:cxn ang="0">
                    <a:pos x="22" y="9"/>
                  </a:cxn>
                  <a:cxn ang="0">
                    <a:pos x="26" y="9"/>
                  </a:cxn>
                  <a:cxn ang="0">
                    <a:pos x="30" y="7"/>
                  </a:cxn>
                  <a:cxn ang="0">
                    <a:pos x="40" y="4"/>
                  </a:cxn>
                  <a:cxn ang="0">
                    <a:pos x="59" y="2"/>
                  </a:cxn>
                  <a:cxn ang="0">
                    <a:pos x="64" y="0"/>
                  </a:cxn>
                </a:cxnLst>
                <a:rect l="0" t="0" r="r" b="b"/>
                <a:pathLst>
                  <a:path w="66" h="22">
                    <a:moveTo>
                      <a:pt x="64" y="0"/>
                    </a:moveTo>
                    <a:lnTo>
                      <a:pt x="66" y="2"/>
                    </a:lnTo>
                    <a:lnTo>
                      <a:pt x="66" y="3"/>
                    </a:lnTo>
                    <a:lnTo>
                      <a:pt x="62" y="11"/>
                    </a:lnTo>
                    <a:lnTo>
                      <a:pt x="57" y="15"/>
                    </a:lnTo>
                    <a:lnTo>
                      <a:pt x="55" y="17"/>
                    </a:lnTo>
                    <a:lnTo>
                      <a:pt x="48" y="17"/>
                    </a:lnTo>
                    <a:lnTo>
                      <a:pt x="37" y="20"/>
                    </a:lnTo>
                    <a:lnTo>
                      <a:pt x="25" y="21"/>
                    </a:lnTo>
                    <a:lnTo>
                      <a:pt x="14" y="22"/>
                    </a:lnTo>
                    <a:lnTo>
                      <a:pt x="8" y="22"/>
                    </a:lnTo>
                    <a:lnTo>
                      <a:pt x="3" y="20"/>
                    </a:lnTo>
                    <a:lnTo>
                      <a:pt x="0" y="17"/>
                    </a:lnTo>
                    <a:lnTo>
                      <a:pt x="0" y="14"/>
                    </a:lnTo>
                    <a:lnTo>
                      <a:pt x="1" y="10"/>
                    </a:lnTo>
                    <a:lnTo>
                      <a:pt x="4" y="6"/>
                    </a:lnTo>
                    <a:lnTo>
                      <a:pt x="7" y="6"/>
                    </a:lnTo>
                    <a:lnTo>
                      <a:pt x="14" y="7"/>
                    </a:lnTo>
                    <a:lnTo>
                      <a:pt x="22" y="9"/>
                    </a:lnTo>
                    <a:lnTo>
                      <a:pt x="26" y="9"/>
                    </a:lnTo>
                    <a:lnTo>
                      <a:pt x="30" y="7"/>
                    </a:lnTo>
                    <a:lnTo>
                      <a:pt x="40" y="4"/>
                    </a:lnTo>
                    <a:lnTo>
                      <a:pt x="59" y="2"/>
                    </a:lnTo>
                    <a:lnTo>
                      <a:pt x="6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56" tIns="60928" rIns="121856" bIns="60928" numCol="1" anchor="t" anchorCtr="0" compatLnSpc="1">
                <a:prstTxWarp prst="textNoShape">
                  <a:avLst/>
                </a:prstTxWarp>
              </a:bodyPr>
              <a:lstStyle/>
              <a:p>
                <a:pPr defTabSz="1218621"/>
                <a:endParaRPr lang="es-PE" sz="20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6" name="Freeform 53">
                <a:extLst>
                  <a:ext uri="{FF2B5EF4-FFF2-40B4-BE49-F238E27FC236}">
                    <a16:creationId xmlns:a16="http://schemas.microsoft.com/office/drawing/2014/main" id="{87DA6BB7-F8FC-6A1B-81B5-B98D7074C7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63556" y="4409589"/>
                <a:ext cx="9623" cy="20558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20" y="0"/>
                  </a:cxn>
                  <a:cxn ang="0">
                    <a:pos x="22" y="6"/>
                  </a:cxn>
                  <a:cxn ang="0">
                    <a:pos x="21" y="15"/>
                  </a:cxn>
                  <a:cxn ang="0">
                    <a:pos x="20" y="26"/>
                  </a:cxn>
                  <a:cxn ang="0">
                    <a:pos x="15" y="37"/>
                  </a:cxn>
                  <a:cxn ang="0">
                    <a:pos x="10" y="44"/>
                  </a:cxn>
                  <a:cxn ang="0">
                    <a:pos x="5" y="47"/>
                  </a:cxn>
                  <a:cxn ang="0">
                    <a:pos x="0" y="43"/>
                  </a:cxn>
                  <a:cxn ang="0">
                    <a:pos x="0" y="34"/>
                  </a:cxn>
                  <a:cxn ang="0">
                    <a:pos x="2" y="25"/>
                  </a:cxn>
                  <a:cxn ang="0">
                    <a:pos x="10" y="6"/>
                  </a:cxn>
                  <a:cxn ang="0">
                    <a:pos x="15" y="0"/>
                  </a:cxn>
                </a:cxnLst>
                <a:rect l="0" t="0" r="r" b="b"/>
                <a:pathLst>
                  <a:path w="22" h="47">
                    <a:moveTo>
                      <a:pt x="15" y="0"/>
                    </a:moveTo>
                    <a:lnTo>
                      <a:pt x="20" y="0"/>
                    </a:lnTo>
                    <a:lnTo>
                      <a:pt x="22" y="6"/>
                    </a:lnTo>
                    <a:lnTo>
                      <a:pt x="21" y="15"/>
                    </a:lnTo>
                    <a:lnTo>
                      <a:pt x="20" y="26"/>
                    </a:lnTo>
                    <a:lnTo>
                      <a:pt x="15" y="37"/>
                    </a:lnTo>
                    <a:lnTo>
                      <a:pt x="10" y="44"/>
                    </a:lnTo>
                    <a:lnTo>
                      <a:pt x="5" y="47"/>
                    </a:lnTo>
                    <a:lnTo>
                      <a:pt x="0" y="43"/>
                    </a:lnTo>
                    <a:lnTo>
                      <a:pt x="0" y="34"/>
                    </a:lnTo>
                    <a:lnTo>
                      <a:pt x="2" y="25"/>
                    </a:lnTo>
                    <a:lnTo>
                      <a:pt x="10" y="6"/>
                    </a:lnTo>
                    <a:lnTo>
                      <a:pt x="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56" tIns="60928" rIns="121856" bIns="60928" numCol="1" anchor="t" anchorCtr="0" compatLnSpc="1">
                <a:prstTxWarp prst="textNoShape">
                  <a:avLst/>
                </a:prstTxWarp>
              </a:bodyPr>
              <a:lstStyle/>
              <a:p>
                <a:pPr defTabSz="1218621"/>
                <a:endParaRPr lang="es-PE" sz="20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8" name="Freeform 55">
                <a:extLst>
                  <a:ext uri="{FF2B5EF4-FFF2-40B4-BE49-F238E27FC236}">
                    <a16:creationId xmlns:a16="http://schemas.microsoft.com/office/drawing/2014/main" id="{52881710-EBA0-B633-BC68-FF18CDC139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8943" y="4301554"/>
                <a:ext cx="27556" cy="51175"/>
              </a:xfrm>
              <a:custGeom>
                <a:avLst/>
                <a:gdLst/>
                <a:ahLst/>
                <a:cxnLst>
                  <a:cxn ang="0">
                    <a:pos x="27" y="0"/>
                  </a:cxn>
                  <a:cxn ang="0">
                    <a:pos x="29" y="0"/>
                  </a:cxn>
                  <a:cxn ang="0">
                    <a:pos x="37" y="5"/>
                  </a:cxn>
                  <a:cxn ang="0">
                    <a:pos x="42" y="13"/>
                  </a:cxn>
                  <a:cxn ang="0">
                    <a:pos x="44" y="20"/>
                  </a:cxn>
                  <a:cxn ang="0">
                    <a:pos x="44" y="26"/>
                  </a:cxn>
                  <a:cxn ang="0">
                    <a:pos x="41" y="32"/>
                  </a:cxn>
                  <a:cxn ang="0">
                    <a:pos x="35" y="36"/>
                  </a:cxn>
                  <a:cxn ang="0">
                    <a:pos x="30" y="42"/>
                  </a:cxn>
                  <a:cxn ang="0">
                    <a:pos x="26" y="51"/>
                  </a:cxn>
                  <a:cxn ang="0">
                    <a:pos x="24" y="55"/>
                  </a:cxn>
                  <a:cxn ang="0">
                    <a:pos x="24" y="61"/>
                  </a:cxn>
                  <a:cxn ang="0">
                    <a:pos x="26" y="62"/>
                  </a:cxn>
                  <a:cxn ang="0">
                    <a:pos x="30" y="62"/>
                  </a:cxn>
                  <a:cxn ang="0">
                    <a:pos x="31" y="61"/>
                  </a:cxn>
                  <a:cxn ang="0">
                    <a:pos x="37" y="61"/>
                  </a:cxn>
                  <a:cxn ang="0">
                    <a:pos x="40" y="59"/>
                  </a:cxn>
                  <a:cxn ang="0">
                    <a:pos x="42" y="61"/>
                  </a:cxn>
                  <a:cxn ang="0">
                    <a:pos x="48" y="62"/>
                  </a:cxn>
                  <a:cxn ang="0">
                    <a:pos x="52" y="65"/>
                  </a:cxn>
                  <a:cxn ang="0">
                    <a:pos x="56" y="66"/>
                  </a:cxn>
                  <a:cxn ang="0">
                    <a:pos x="60" y="66"/>
                  </a:cxn>
                  <a:cxn ang="0">
                    <a:pos x="61" y="68"/>
                  </a:cxn>
                  <a:cxn ang="0">
                    <a:pos x="63" y="68"/>
                  </a:cxn>
                  <a:cxn ang="0">
                    <a:pos x="63" y="69"/>
                  </a:cxn>
                  <a:cxn ang="0">
                    <a:pos x="60" y="74"/>
                  </a:cxn>
                  <a:cxn ang="0">
                    <a:pos x="56" y="77"/>
                  </a:cxn>
                  <a:cxn ang="0">
                    <a:pos x="49" y="78"/>
                  </a:cxn>
                  <a:cxn ang="0">
                    <a:pos x="41" y="80"/>
                  </a:cxn>
                  <a:cxn ang="0">
                    <a:pos x="34" y="85"/>
                  </a:cxn>
                  <a:cxn ang="0">
                    <a:pos x="30" y="91"/>
                  </a:cxn>
                  <a:cxn ang="0">
                    <a:pos x="24" y="98"/>
                  </a:cxn>
                  <a:cxn ang="0">
                    <a:pos x="11" y="111"/>
                  </a:cxn>
                  <a:cxn ang="0">
                    <a:pos x="5" y="115"/>
                  </a:cxn>
                  <a:cxn ang="0">
                    <a:pos x="1" y="117"/>
                  </a:cxn>
                  <a:cxn ang="0">
                    <a:pos x="1" y="114"/>
                  </a:cxn>
                  <a:cxn ang="0">
                    <a:pos x="5" y="106"/>
                  </a:cxn>
                  <a:cxn ang="0">
                    <a:pos x="11" y="98"/>
                  </a:cxn>
                  <a:cxn ang="0">
                    <a:pos x="24" y="84"/>
                  </a:cxn>
                  <a:cxn ang="0">
                    <a:pos x="24" y="80"/>
                  </a:cxn>
                  <a:cxn ang="0">
                    <a:pos x="20" y="74"/>
                  </a:cxn>
                  <a:cxn ang="0">
                    <a:pos x="14" y="68"/>
                  </a:cxn>
                  <a:cxn ang="0">
                    <a:pos x="7" y="59"/>
                  </a:cxn>
                  <a:cxn ang="0">
                    <a:pos x="1" y="51"/>
                  </a:cxn>
                  <a:cxn ang="0">
                    <a:pos x="0" y="43"/>
                  </a:cxn>
                  <a:cxn ang="0">
                    <a:pos x="1" y="37"/>
                  </a:cxn>
                  <a:cxn ang="0">
                    <a:pos x="5" y="32"/>
                  </a:cxn>
                  <a:cxn ang="0">
                    <a:pos x="11" y="28"/>
                  </a:cxn>
                  <a:cxn ang="0">
                    <a:pos x="18" y="22"/>
                  </a:cxn>
                  <a:cxn ang="0">
                    <a:pos x="22" y="17"/>
                  </a:cxn>
                  <a:cxn ang="0">
                    <a:pos x="23" y="11"/>
                  </a:cxn>
                  <a:cxn ang="0">
                    <a:pos x="23" y="6"/>
                  </a:cxn>
                  <a:cxn ang="0">
                    <a:pos x="24" y="2"/>
                  </a:cxn>
                  <a:cxn ang="0">
                    <a:pos x="27" y="0"/>
                  </a:cxn>
                </a:cxnLst>
                <a:rect l="0" t="0" r="r" b="b"/>
                <a:pathLst>
                  <a:path w="63" h="117">
                    <a:moveTo>
                      <a:pt x="27" y="0"/>
                    </a:moveTo>
                    <a:lnTo>
                      <a:pt x="29" y="0"/>
                    </a:lnTo>
                    <a:lnTo>
                      <a:pt x="37" y="5"/>
                    </a:lnTo>
                    <a:lnTo>
                      <a:pt x="42" y="13"/>
                    </a:lnTo>
                    <a:lnTo>
                      <a:pt x="44" y="20"/>
                    </a:lnTo>
                    <a:lnTo>
                      <a:pt x="44" y="26"/>
                    </a:lnTo>
                    <a:lnTo>
                      <a:pt x="41" y="32"/>
                    </a:lnTo>
                    <a:lnTo>
                      <a:pt x="35" y="36"/>
                    </a:lnTo>
                    <a:lnTo>
                      <a:pt x="30" y="42"/>
                    </a:lnTo>
                    <a:lnTo>
                      <a:pt x="26" y="51"/>
                    </a:lnTo>
                    <a:lnTo>
                      <a:pt x="24" y="55"/>
                    </a:lnTo>
                    <a:lnTo>
                      <a:pt x="24" y="61"/>
                    </a:lnTo>
                    <a:lnTo>
                      <a:pt x="26" y="62"/>
                    </a:lnTo>
                    <a:lnTo>
                      <a:pt x="30" y="62"/>
                    </a:lnTo>
                    <a:lnTo>
                      <a:pt x="31" y="61"/>
                    </a:lnTo>
                    <a:lnTo>
                      <a:pt x="37" y="61"/>
                    </a:lnTo>
                    <a:lnTo>
                      <a:pt x="40" y="59"/>
                    </a:lnTo>
                    <a:lnTo>
                      <a:pt x="42" y="61"/>
                    </a:lnTo>
                    <a:lnTo>
                      <a:pt x="48" y="62"/>
                    </a:lnTo>
                    <a:lnTo>
                      <a:pt x="52" y="65"/>
                    </a:lnTo>
                    <a:lnTo>
                      <a:pt x="56" y="66"/>
                    </a:lnTo>
                    <a:lnTo>
                      <a:pt x="60" y="66"/>
                    </a:lnTo>
                    <a:lnTo>
                      <a:pt x="61" y="68"/>
                    </a:lnTo>
                    <a:lnTo>
                      <a:pt x="63" y="68"/>
                    </a:lnTo>
                    <a:lnTo>
                      <a:pt x="63" y="69"/>
                    </a:lnTo>
                    <a:lnTo>
                      <a:pt x="60" y="74"/>
                    </a:lnTo>
                    <a:lnTo>
                      <a:pt x="56" y="77"/>
                    </a:lnTo>
                    <a:lnTo>
                      <a:pt x="49" y="78"/>
                    </a:lnTo>
                    <a:lnTo>
                      <a:pt x="41" y="80"/>
                    </a:lnTo>
                    <a:lnTo>
                      <a:pt x="34" y="85"/>
                    </a:lnTo>
                    <a:lnTo>
                      <a:pt x="30" y="91"/>
                    </a:lnTo>
                    <a:lnTo>
                      <a:pt x="24" y="98"/>
                    </a:lnTo>
                    <a:lnTo>
                      <a:pt x="11" y="111"/>
                    </a:lnTo>
                    <a:lnTo>
                      <a:pt x="5" y="115"/>
                    </a:lnTo>
                    <a:lnTo>
                      <a:pt x="1" y="117"/>
                    </a:lnTo>
                    <a:lnTo>
                      <a:pt x="1" y="114"/>
                    </a:lnTo>
                    <a:lnTo>
                      <a:pt x="5" y="106"/>
                    </a:lnTo>
                    <a:lnTo>
                      <a:pt x="11" y="98"/>
                    </a:lnTo>
                    <a:lnTo>
                      <a:pt x="24" y="84"/>
                    </a:lnTo>
                    <a:lnTo>
                      <a:pt x="24" y="80"/>
                    </a:lnTo>
                    <a:lnTo>
                      <a:pt x="20" y="74"/>
                    </a:lnTo>
                    <a:lnTo>
                      <a:pt x="14" y="68"/>
                    </a:lnTo>
                    <a:lnTo>
                      <a:pt x="7" y="59"/>
                    </a:lnTo>
                    <a:lnTo>
                      <a:pt x="1" y="51"/>
                    </a:lnTo>
                    <a:lnTo>
                      <a:pt x="0" y="43"/>
                    </a:lnTo>
                    <a:lnTo>
                      <a:pt x="1" y="37"/>
                    </a:lnTo>
                    <a:lnTo>
                      <a:pt x="5" y="32"/>
                    </a:lnTo>
                    <a:lnTo>
                      <a:pt x="11" y="28"/>
                    </a:lnTo>
                    <a:lnTo>
                      <a:pt x="18" y="22"/>
                    </a:lnTo>
                    <a:lnTo>
                      <a:pt x="22" y="17"/>
                    </a:lnTo>
                    <a:lnTo>
                      <a:pt x="23" y="11"/>
                    </a:lnTo>
                    <a:lnTo>
                      <a:pt x="23" y="6"/>
                    </a:lnTo>
                    <a:lnTo>
                      <a:pt x="24" y="2"/>
                    </a:lnTo>
                    <a:lnTo>
                      <a:pt x="2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56" tIns="60928" rIns="121856" bIns="60928" numCol="1" anchor="t" anchorCtr="0" compatLnSpc="1">
                <a:prstTxWarp prst="textNoShape">
                  <a:avLst/>
                </a:prstTxWarp>
              </a:bodyPr>
              <a:lstStyle/>
              <a:p>
                <a:pPr defTabSz="1218621"/>
                <a:endParaRPr lang="es-PE" sz="20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9" name="Freeform 56">
                <a:extLst>
                  <a:ext uri="{FF2B5EF4-FFF2-40B4-BE49-F238E27FC236}">
                    <a16:creationId xmlns:a16="http://schemas.microsoft.com/office/drawing/2014/main" id="{8575E656-27A9-82B6-8454-F758FDA4AD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2064" y="4350104"/>
                <a:ext cx="14434" cy="10935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5" y="0"/>
                  </a:cxn>
                  <a:cxn ang="0">
                    <a:pos x="29" y="14"/>
                  </a:cxn>
                  <a:cxn ang="0">
                    <a:pos x="33" y="21"/>
                  </a:cxn>
                  <a:cxn ang="0">
                    <a:pos x="33" y="24"/>
                  </a:cxn>
                  <a:cxn ang="0">
                    <a:pos x="29" y="25"/>
                  </a:cxn>
                  <a:cxn ang="0">
                    <a:pos x="22" y="25"/>
                  </a:cxn>
                  <a:cxn ang="0">
                    <a:pos x="14" y="24"/>
                  </a:cxn>
                  <a:cxn ang="0">
                    <a:pos x="5" y="24"/>
                  </a:cxn>
                  <a:cxn ang="0">
                    <a:pos x="0" y="21"/>
                  </a:cxn>
                  <a:cxn ang="0">
                    <a:pos x="0" y="15"/>
                  </a:cxn>
                  <a:cxn ang="0">
                    <a:pos x="1" y="9"/>
                  </a:cxn>
                  <a:cxn ang="0">
                    <a:pos x="4" y="3"/>
                  </a:cxn>
                  <a:cxn ang="0">
                    <a:pos x="7" y="0"/>
                  </a:cxn>
                </a:cxnLst>
                <a:rect l="0" t="0" r="r" b="b"/>
                <a:pathLst>
                  <a:path w="33" h="25">
                    <a:moveTo>
                      <a:pt x="7" y="0"/>
                    </a:moveTo>
                    <a:lnTo>
                      <a:pt x="15" y="0"/>
                    </a:lnTo>
                    <a:lnTo>
                      <a:pt x="29" y="14"/>
                    </a:lnTo>
                    <a:lnTo>
                      <a:pt x="33" y="21"/>
                    </a:lnTo>
                    <a:lnTo>
                      <a:pt x="33" y="24"/>
                    </a:lnTo>
                    <a:lnTo>
                      <a:pt x="29" y="25"/>
                    </a:lnTo>
                    <a:lnTo>
                      <a:pt x="22" y="25"/>
                    </a:lnTo>
                    <a:lnTo>
                      <a:pt x="14" y="24"/>
                    </a:lnTo>
                    <a:lnTo>
                      <a:pt x="5" y="24"/>
                    </a:lnTo>
                    <a:lnTo>
                      <a:pt x="0" y="21"/>
                    </a:lnTo>
                    <a:lnTo>
                      <a:pt x="0" y="15"/>
                    </a:lnTo>
                    <a:lnTo>
                      <a:pt x="1" y="9"/>
                    </a:lnTo>
                    <a:lnTo>
                      <a:pt x="4" y="3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56" tIns="60928" rIns="121856" bIns="60928" numCol="1" anchor="t" anchorCtr="0" compatLnSpc="1">
                <a:prstTxWarp prst="textNoShape">
                  <a:avLst/>
                </a:prstTxWarp>
              </a:bodyPr>
              <a:lstStyle/>
              <a:p>
                <a:pPr defTabSz="1218621"/>
                <a:endParaRPr lang="es-PE" sz="2000" noProof="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0" name="Freeform 57">
                <a:extLst>
                  <a:ext uri="{FF2B5EF4-FFF2-40B4-BE49-F238E27FC236}">
                    <a16:creationId xmlns:a16="http://schemas.microsoft.com/office/drawing/2014/main" id="{FE5728F9-E878-566E-9B51-508E89E474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6498" y="4341794"/>
                <a:ext cx="10060" cy="10935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6" y="3"/>
                  </a:cxn>
                  <a:cxn ang="0">
                    <a:pos x="20" y="7"/>
                  </a:cxn>
                  <a:cxn ang="0">
                    <a:pos x="23" y="13"/>
                  </a:cxn>
                  <a:cxn ang="0">
                    <a:pos x="22" y="18"/>
                  </a:cxn>
                  <a:cxn ang="0">
                    <a:pos x="18" y="22"/>
                  </a:cxn>
                  <a:cxn ang="0">
                    <a:pos x="9" y="25"/>
                  </a:cxn>
                  <a:cxn ang="0">
                    <a:pos x="2" y="23"/>
                  </a:cxn>
                  <a:cxn ang="0">
                    <a:pos x="0" y="19"/>
                  </a:cxn>
                  <a:cxn ang="0">
                    <a:pos x="1" y="13"/>
                  </a:cxn>
                  <a:cxn ang="0">
                    <a:pos x="4" y="6"/>
                  </a:cxn>
                  <a:cxn ang="0">
                    <a:pos x="7" y="2"/>
                  </a:cxn>
                  <a:cxn ang="0">
                    <a:pos x="9" y="0"/>
                  </a:cxn>
                </a:cxnLst>
                <a:rect l="0" t="0" r="r" b="b"/>
                <a:pathLst>
                  <a:path w="23" h="25">
                    <a:moveTo>
                      <a:pt x="9" y="0"/>
                    </a:moveTo>
                    <a:lnTo>
                      <a:pt x="16" y="3"/>
                    </a:lnTo>
                    <a:lnTo>
                      <a:pt x="20" y="7"/>
                    </a:lnTo>
                    <a:lnTo>
                      <a:pt x="23" y="13"/>
                    </a:lnTo>
                    <a:lnTo>
                      <a:pt x="22" y="18"/>
                    </a:lnTo>
                    <a:lnTo>
                      <a:pt x="18" y="22"/>
                    </a:lnTo>
                    <a:lnTo>
                      <a:pt x="9" y="25"/>
                    </a:lnTo>
                    <a:lnTo>
                      <a:pt x="2" y="23"/>
                    </a:lnTo>
                    <a:lnTo>
                      <a:pt x="0" y="19"/>
                    </a:lnTo>
                    <a:lnTo>
                      <a:pt x="1" y="13"/>
                    </a:lnTo>
                    <a:lnTo>
                      <a:pt x="4" y="6"/>
                    </a:lnTo>
                    <a:lnTo>
                      <a:pt x="7" y="2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56" tIns="60928" rIns="121856" bIns="60928" numCol="1" anchor="t" anchorCtr="0" compatLnSpc="1">
                <a:prstTxWarp prst="textNoShape">
                  <a:avLst/>
                </a:prstTxWarp>
              </a:bodyPr>
              <a:lstStyle/>
              <a:p>
                <a:pPr defTabSz="1218621"/>
                <a:endParaRPr lang="es-PE" sz="2000" noProof="0" dirty="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A79A2F9-3E70-C951-3C0A-0C9CA4B14ACE}"/>
              </a:ext>
            </a:extLst>
          </p:cNvPr>
          <p:cNvGrpSpPr/>
          <p:nvPr/>
        </p:nvGrpSpPr>
        <p:grpSpPr>
          <a:xfrm>
            <a:off x="2858161" y="1261145"/>
            <a:ext cx="6700633" cy="4094317"/>
            <a:chOff x="2978749" y="1840946"/>
            <a:chExt cx="6355323" cy="3787144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6864C4FD-C935-1167-BB24-6DD5349C631A}"/>
                </a:ext>
              </a:extLst>
            </p:cNvPr>
            <p:cNvSpPr/>
            <p:nvPr/>
          </p:nvSpPr>
          <p:spPr>
            <a:xfrm>
              <a:off x="2978749" y="2691321"/>
              <a:ext cx="2526965" cy="2484874"/>
            </a:xfrm>
            <a:prstGeom prst="rect">
              <a:avLst/>
            </a:prstGeom>
            <a:gradFill>
              <a:gsLst>
                <a:gs pos="100000">
                  <a:sysClr val="window" lastClr="FFFFFF">
                    <a:lumMod val="75000"/>
                  </a:sysClr>
                </a:gs>
                <a:gs pos="0">
                  <a:sysClr val="window" lastClr="FFFFFF">
                    <a:lumMod val="95000"/>
                  </a:sysClr>
                </a:gs>
              </a:gsLst>
              <a:lin ang="5400000" scaled="0"/>
            </a:gra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>
              <a:reflection blurRad="6350" stA="52000" endA="300" endPos="20000" dir="5400000" sy="-100000" algn="bl" rotWithShape="0"/>
            </a:effectLst>
          </p:spPr>
          <p:txBody>
            <a:bodyPr lIns="121856" tIns="121856" rIns="121856" bIns="121856" rtlCol="0" anchor="t"/>
            <a:lstStyle/>
            <a:p>
              <a:pPr defTabSz="1218621"/>
              <a:endParaRPr lang="es-PE" sz="2000" kern="0" noProof="0" dirty="0">
                <a:solidFill>
                  <a:sysClr val="windowText" lastClr="000000">
                    <a:lumMod val="85000"/>
                    <a:lumOff val="15000"/>
                  </a:sysClr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3BAF0DC-1C5E-92D5-1988-87AC59708D10}"/>
                </a:ext>
              </a:extLst>
            </p:cNvPr>
            <p:cNvSpPr/>
            <p:nvPr/>
          </p:nvSpPr>
          <p:spPr>
            <a:xfrm>
              <a:off x="6709738" y="1945724"/>
              <a:ext cx="2559756" cy="76595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621"/>
              <a:endParaRPr lang="es-PE" sz="2000" noProof="0" dirty="0">
                <a:solidFill>
                  <a:prstClr val="white"/>
                </a:solidFill>
              </a:endParaRPr>
            </a:p>
          </p:txBody>
        </p:sp>
        <p:sp>
          <p:nvSpPr>
            <p:cNvPr id="107" name="Rounded Rectangle 106">
              <a:extLst>
                <a:ext uri="{FF2B5EF4-FFF2-40B4-BE49-F238E27FC236}">
                  <a16:creationId xmlns:a16="http://schemas.microsoft.com/office/drawing/2014/main" id="{A16AC716-9D15-ABAE-AEA3-2F5E56B06526}"/>
                </a:ext>
              </a:extLst>
            </p:cNvPr>
            <p:cNvSpPr/>
            <p:nvPr/>
          </p:nvSpPr>
          <p:spPr>
            <a:xfrm>
              <a:off x="6703565" y="2051635"/>
              <a:ext cx="2290142" cy="643395"/>
            </a:xfrm>
            <a:prstGeom prst="roundRect">
              <a:avLst/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621"/>
              <a:r>
                <a:rPr lang="es-PE" sz="2000" b="1" noProof="0" dirty="0">
                  <a:solidFill>
                    <a:prstClr val="white"/>
                  </a:solidFill>
                </a:rPr>
                <a:t>Operativos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4F30EA53-9B35-EB27-84E5-9C6E418CF286}"/>
                </a:ext>
              </a:extLst>
            </p:cNvPr>
            <p:cNvSpPr/>
            <p:nvPr/>
          </p:nvSpPr>
          <p:spPr>
            <a:xfrm>
              <a:off x="6449668" y="1840946"/>
              <a:ext cx="386613" cy="38603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621"/>
              <a:r>
                <a:rPr lang="es-PE" sz="2000" b="1" noProof="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D8C6E5C8-5532-BC70-267B-2610EFF1655F}"/>
                </a:ext>
              </a:extLst>
            </p:cNvPr>
            <p:cNvSpPr txBox="1"/>
            <p:nvPr/>
          </p:nvSpPr>
          <p:spPr>
            <a:xfrm>
              <a:off x="6796205" y="2711711"/>
              <a:ext cx="2537867" cy="2419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8621"/>
              <a:r>
                <a:rPr lang="es-PE" sz="2000" noProof="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Abarcan un área operativa de la organización.</a:t>
              </a:r>
            </a:p>
            <a:p>
              <a:pPr defTabSz="1218621"/>
              <a:endParaRPr lang="es-PE" sz="1200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 defTabSz="1218621"/>
              <a:r>
                <a:rPr lang="es-PE" sz="2000" noProof="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Son específicos.</a:t>
              </a:r>
            </a:p>
            <a:p>
              <a:pPr defTabSz="1218621"/>
              <a:endParaRPr lang="es-PE" sz="1200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  <a:p>
              <a:pPr defTabSz="1218621"/>
              <a:r>
                <a:rPr lang="es-PE" sz="20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Consideran las características SMART.</a:t>
              </a:r>
              <a:endParaRPr lang="es-PE" sz="2000" noProof="0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E7327F50-B960-1EA0-3338-97D7A6C0DF3E}"/>
                </a:ext>
              </a:extLst>
            </p:cNvPr>
            <p:cNvSpPr/>
            <p:nvPr/>
          </p:nvSpPr>
          <p:spPr>
            <a:xfrm>
              <a:off x="7124353" y="4104487"/>
              <a:ext cx="1523603" cy="152360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621"/>
              <a:endParaRPr lang="es-PE" sz="2000" noProof="0" dirty="0">
                <a:solidFill>
                  <a:prstClr val="white"/>
                </a:solidFill>
              </a:endParaRPr>
            </a:p>
          </p:txBody>
        </p:sp>
      </p:grpSp>
      <p:sp>
        <p:nvSpPr>
          <p:cNvPr id="7" name="TextBox 109">
            <a:extLst>
              <a:ext uri="{FF2B5EF4-FFF2-40B4-BE49-F238E27FC236}">
                <a16:creationId xmlns:a16="http://schemas.microsoft.com/office/drawing/2014/main" id="{BDCB5D09-A504-D274-4FD4-7E9311E7B6C6}"/>
              </a:ext>
            </a:extLst>
          </p:cNvPr>
          <p:cNvSpPr txBox="1"/>
          <p:nvPr/>
        </p:nvSpPr>
        <p:spPr>
          <a:xfrm>
            <a:off x="3118465" y="2517016"/>
            <a:ext cx="2236913" cy="1679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621"/>
            <a:r>
              <a:rPr lang="es-PE" sz="2000" noProof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Abarcan a toda la organización.</a:t>
            </a:r>
          </a:p>
          <a:p>
            <a:pPr defTabSz="1218621"/>
            <a:endParaRPr lang="es-PE" sz="20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defTabSz="1218621"/>
            <a:r>
              <a:rPr lang="es-PE" sz="2000" noProof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Son de amplio alcance.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6742FF3-5CC6-14FB-62D3-970F20421B36}"/>
              </a:ext>
            </a:extLst>
          </p:cNvPr>
          <p:cNvSpPr txBox="1">
            <a:spLocks noChangeArrowheads="1"/>
          </p:cNvSpPr>
          <p:nvPr/>
        </p:nvSpPr>
        <p:spPr>
          <a:xfrm>
            <a:off x="381139" y="144289"/>
            <a:ext cx="3034622" cy="7817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ES_tradnl" sz="3200" dirty="0">
                <a:solidFill>
                  <a:schemeClr val="accent1">
                    <a:lumMod val="50000"/>
                  </a:schemeClr>
                </a:solidFill>
                <a:latin typeface="+mn-lt"/>
                <a:ea typeface="ＭＳ Ｐゴシック" charset="0"/>
                <a:cs typeface="Arial" panose="020B0604020202020204" pitchFamily="34" charset="0"/>
              </a:rPr>
              <a:t>Objetivos:</a:t>
            </a:r>
          </a:p>
        </p:txBody>
      </p:sp>
    </p:spTree>
    <p:extLst>
      <p:ext uri="{BB962C8B-B14F-4D97-AF65-F5344CB8AC3E}">
        <p14:creationId xmlns:p14="http://schemas.microsoft.com/office/powerpoint/2010/main" val="529731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Objetivos SMART: cómo aplicar correctamente el método SMART - IONOS España">
            <a:extLst>
              <a:ext uri="{FF2B5EF4-FFF2-40B4-BE49-F238E27FC236}">
                <a16:creationId xmlns:a16="http://schemas.microsoft.com/office/drawing/2014/main" id="{8EF3BB36-93CE-B14A-400F-FC81E8532E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pic>
        <p:nvPicPr>
          <p:cNvPr id="10250" name="Picture 10" descr="Qué son los Objetivos SMART y cómo puedes aplicarlos a tu clínica? Incluye  ejemplos - DoctorMercadeo">
            <a:extLst>
              <a:ext uri="{FF2B5EF4-FFF2-40B4-BE49-F238E27FC236}">
                <a16:creationId xmlns:a16="http://schemas.microsoft.com/office/drawing/2014/main" id="{C016E79F-1E08-8A64-427B-AAA425637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907" y="351418"/>
            <a:ext cx="9942146" cy="6506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69437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Objetivos empresariales | Blog Santander Open Academy">
            <a:extLst>
              <a:ext uri="{FF2B5EF4-FFF2-40B4-BE49-F238E27FC236}">
                <a16:creationId xmlns:a16="http://schemas.microsoft.com/office/drawing/2014/main" id="{A6D1EDF0-6409-9C71-D5C4-8693F748A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244184"/>
            <a:ext cx="12192000" cy="5613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C02D45BD-E6B9-8112-934F-1908153D14FB}"/>
              </a:ext>
            </a:extLst>
          </p:cNvPr>
          <p:cNvSpPr txBox="1">
            <a:spLocks noChangeArrowheads="1"/>
          </p:cNvSpPr>
          <p:nvPr/>
        </p:nvSpPr>
        <p:spPr>
          <a:xfrm>
            <a:off x="387244" y="172529"/>
            <a:ext cx="4081239" cy="707886"/>
          </a:xfrm>
          <a:prstGeom prst="rect">
            <a:avLst/>
          </a:prstGeom>
        </p:spPr>
        <p:txBody>
          <a:bodyPr vert="horz" wrap="square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</a:pPr>
            <a:r>
              <a:rPr lang="es-ES_tradnl" sz="4000" dirty="0">
                <a:solidFill>
                  <a:schemeClr val="tx1"/>
                </a:solidFill>
                <a:latin typeface="+mn-lt"/>
                <a:ea typeface="ＭＳ Ｐゴシック" charset="0"/>
                <a:cs typeface="Arial" panose="020B0604020202020204" pitchFamily="34" charset="0"/>
              </a:rPr>
              <a:t> Los objetivos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E599386-5E84-5F4C-A617-85DB69713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0381" y="2495739"/>
            <a:ext cx="4816839" cy="79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algn="ctr" eaLnBrk="0" hangingPunct="0">
              <a:spcBef>
                <a:spcPct val="20000"/>
              </a:spcBef>
              <a:buSzPct val="150000"/>
            </a:pPr>
            <a:r>
              <a:rPr kumimoji="1" lang="es-ES_tradnl" sz="2600" dirty="0">
                <a:solidFill>
                  <a:schemeClr val="tx1"/>
                </a:solidFill>
                <a:cs typeface="Arial" panose="020B0604020202020204" pitchFamily="34" charset="0"/>
              </a:rPr>
              <a:t>Dan dirección a todas las decisiones y actividades administrativas y proporcionan los criterios para evaluar  los logros conseguidos.</a:t>
            </a:r>
          </a:p>
          <a:p>
            <a:pPr marL="485775" indent="-485775" algn="ctr" eaLnBrk="0" hangingPunct="0">
              <a:spcBef>
                <a:spcPct val="20000"/>
              </a:spcBef>
              <a:buSzPct val="150000"/>
              <a:buFontTx/>
              <a:buChar char="•"/>
            </a:pPr>
            <a:endParaRPr kumimoji="1" lang="es-ES_tradnl" sz="26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485775" indent="-485775" algn="ctr" eaLnBrk="0" hangingPunct="0">
              <a:spcBef>
                <a:spcPct val="20000"/>
              </a:spcBef>
              <a:buSzPct val="150000"/>
              <a:buFontTx/>
              <a:buChar char="•"/>
            </a:pPr>
            <a:endParaRPr kumimoji="1" lang="es-ES_tradnl" sz="26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485775" indent="-485775" algn="ctr" eaLnBrk="0" hangingPunct="0">
              <a:spcBef>
                <a:spcPct val="20000"/>
              </a:spcBef>
              <a:buSzPct val="150000"/>
              <a:buFontTx/>
              <a:buChar char="•"/>
            </a:pPr>
            <a:endParaRPr kumimoji="1" lang="es-ES_tradnl" sz="26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485775" indent="-485775" algn="ctr" eaLnBrk="0" hangingPunct="0">
              <a:spcBef>
                <a:spcPct val="20000"/>
              </a:spcBef>
              <a:buSzPct val="150000"/>
              <a:buFontTx/>
              <a:buChar char="•"/>
            </a:pPr>
            <a:endParaRPr kumimoji="1" lang="es-ES_tradnl" sz="26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485775" indent="-485775" algn="ctr" eaLnBrk="0" hangingPunct="0">
              <a:spcBef>
                <a:spcPct val="20000"/>
              </a:spcBef>
              <a:buSzPct val="150000"/>
              <a:buFontTx/>
              <a:buChar char="•"/>
            </a:pPr>
            <a:endParaRPr kumimoji="1" lang="es-ES_tradnl" sz="12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485775" indent="-485775" algn="ctr" eaLnBrk="0" hangingPunct="0">
              <a:spcBef>
                <a:spcPct val="20000"/>
              </a:spcBef>
              <a:buSzPct val="150000"/>
              <a:buFontTx/>
              <a:buChar char="•"/>
            </a:pPr>
            <a:endParaRPr kumimoji="1" lang="es-ES_tradnl" sz="2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4141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5 Rectángulo"/>
          <p:cNvSpPr txBox="1">
            <a:spLocks/>
          </p:cNvSpPr>
          <p:nvPr/>
        </p:nvSpPr>
        <p:spPr>
          <a:xfrm>
            <a:off x="701722" y="2151269"/>
            <a:ext cx="8881451" cy="3125984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_tradnl" sz="2600" dirty="0"/>
          </a:p>
          <a:p>
            <a:r>
              <a:rPr lang="es-ES_tradnl" sz="2600" dirty="0"/>
              <a:t>Brindar una alternativa natural la cual ofrece beneficios nutricionales a nuestros consumidores.</a:t>
            </a:r>
          </a:p>
          <a:p>
            <a:endParaRPr lang="es-ES_tradnl" sz="2600" dirty="0"/>
          </a:p>
          <a:p>
            <a:pPr marL="0" indent="0">
              <a:buNone/>
            </a:pPr>
            <a:endParaRPr lang="es-ES_tradnl" sz="2600" dirty="0"/>
          </a:p>
          <a:p>
            <a:r>
              <a:rPr lang="es-ES_tradnl" sz="2600" dirty="0"/>
              <a:t>Incrementar las ventas en un 10% en el segundo año de operaciones en los productos de consumo masivo.</a:t>
            </a:r>
            <a:endParaRPr lang="es-PE" sz="2600" dirty="0"/>
          </a:p>
        </p:txBody>
      </p:sp>
      <p:pic>
        <p:nvPicPr>
          <p:cNvPr id="12" name="Picture 4" descr="249,058 imágenes de X roja - Imágenes, fotos y vectores de stock |  Shutterstoc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723"/>
          <a:stretch/>
        </p:blipFill>
        <p:spPr bwMode="auto">
          <a:xfrm>
            <a:off x="10059333" y="2681338"/>
            <a:ext cx="631796" cy="580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Marca de verificación fotos de stock, imágenes de Marca de verificación sin  royalties | Depositphoto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9332" y="4640404"/>
            <a:ext cx="793547" cy="63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351;p46">
            <a:extLst>
              <a:ext uri="{FF2B5EF4-FFF2-40B4-BE49-F238E27FC236}">
                <a16:creationId xmlns:a16="http://schemas.microsoft.com/office/drawing/2014/main" id="{BDDDE817-8B56-C136-05A9-15FAA4A5351F}"/>
              </a:ext>
            </a:extLst>
          </p:cNvPr>
          <p:cNvSpPr txBox="1">
            <a:spLocks/>
          </p:cNvSpPr>
          <p:nvPr/>
        </p:nvSpPr>
        <p:spPr>
          <a:xfrm>
            <a:off x="701722" y="814198"/>
            <a:ext cx="8374505" cy="766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lt1"/>
              </a:buClr>
              <a:buSzPts val="4000"/>
            </a:pPr>
            <a:r>
              <a:rPr lang="es-PE" sz="3200" dirty="0">
                <a:solidFill>
                  <a:schemeClr val="tx1"/>
                </a:solidFill>
                <a:latin typeface="+mn-lt"/>
              </a:rPr>
              <a:t>¿Cuál de los siguientes enunciados no es un objetivo operativo ?</a:t>
            </a:r>
          </a:p>
        </p:txBody>
      </p:sp>
    </p:spTree>
    <p:extLst>
      <p:ext uri="{BB962C8B-B14F-4D97-AF65-F5344CB8AC3E}">
        <p14:creationId xmlns:p14="http://schemas.microsoft.com/office/powerpoint/2010/main" val="2701825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ISO 9001:2015 Análisis del contexto interno y externo">
            <a:extLst>
              <a:ext uri="{FF2B5EF4-FFF2-40B4-BE49-F238E27FC236}">
                <a16:creationId xmlns:a16="http://schemas.microsoft.com/office/drawing/2014/main" id="{A2FFDCA6-878E-F012-200F-7C6B26D4B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79825"/>
            <a:ext cx="12192000" cy="487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323B4D20-8F86-02BC-1217-723647C4709C}"/>
              </a:ext>
            </a:extLst>
          </p:cNvPr>
          <p:cNvSpPr txBox="1">
            <a:spLocks/>
          </p:cNvSpPr>
          <p:nvPr/>
        </p:nvSpPr>
        <p:spPr>
          <a:xfrm>
            <a:off x="1121434" y="444360"/>
            <a:ext cx="10455215" cy="1246417"/>
          </a:xfrm>
          <a:prstGeom prst="rect">
            <a:avLst/>
          </a:prstGeom>
          <a:noFill/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PE" sz="3600" dirty="0">
                <a:latin typeface="+mn-lt"/>
              </a:rPr>
              <a:t>Para definir los conceptos vistos, requerimos del análisis externo, tema que en la siguiente sesión.</a:t>
            </a:r>
          </a:p>
        </p:txBody>
      </p:sp>
    </p:spTree>
    <p:extLst>
      <p:ext uri="{BB962C8B-B14F-4D97-AF65-F5344CB8AC3E}">
        <p14:creationId xmlns:p14="http://schemas.microsoft.com/office/powerpoint/2010/main" val="7899768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49" descr="Facultad de... - Facultad de Ciencias Empresariales UP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7533" y="518615"/>
            <a:ext cx="3357548" cy="1425006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49"/>
          <p:cNvSpPr txBox="1"/>
          <p:nvPr/>
        </p:nvSpPr>
        <p:spPr>
          <a:xfrm>
            <a:off x="0" y="3691195"/>
            <a:ext cx="5852614" cy="2388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859B"/>
              </a:buClr>
              <a:buSzPts val="2800"/>
              <a:buFont typeface="Calibri"/>
              <a:buNone/>
            </a:pPr>
            <a:r>
              <a:rPr lang="es-PE" sz="2800" b="1" i="0" u="none" strike="noStrike" cap="none">
                <a:solidFill>
                  <a:srgbClr val="31859B"/>
                </a:solidFill>
                <a:latin typeface="Calibri"/>
                <a:ea typeface="Calibri"/>
                <a:cs typeface="Calibri"/>
                <a:sym typeface="Calibri"/>
              </a:rPr>
              <a:t>Curso: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859B"/>
              </a:buClr>
              <a:buSzPts val="2800"/>
              <a:buFont typeface="Calibri"/>
              <a:buNone/>
            </a:pPr>
            <a:r>
              <a:rPr lang="es-PE" sz="2800" b="1" i="0" u="none" strike="noStrike" cap="none">
                <a:solidFill>
                  <a:srgbClr val="31859B"/>
                </a:solidFill>
                <a:latin typeface="Calibri"/>
                <a:ea typeface="Calibri"/>
                <a:cs typeface="Calibri"/>
                <a:sym typeface="Calibri"/>
              </a:rPr>
              <a:t>Fundamentos de Ciencias Empresariales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1859B"/>
              </a:buClr>
              <a:buSzPts val="2800"/>
              <a:buFont typeface="Calibri"/>
              <a:buNone/>
            </a:pPr>
            <a:r>
              <a:rPr lang="es-PE" sz="2800" b="1" i="0" u="none" strike="noStrike" cap="none">
                <a:solidFill>
                  <a:srgbClr val="31859B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9"/>
          <p:cNvSpPr txBox="1"/>
          <p:nvPr/>
        </p:nvSpPr>
        <p:spPr>
          <a:xfrm>
            <a:off x="5852614" y="0"/>
            <a:ext cx="6339386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49"/>
          <p:cNvSpPr txBox="1"/>
          <p:nvPr/>
        </p:nvSpPr>
        <p:spPr>
          <a:xfrm>
            <a:off x="6832977" y="3136632"/>
            <a:ext cx="487225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PE" sz="3200" b="1" i="0" u="none" strike="noStrike" cap="none">
                <a:solidFill>
                  <a:srgbClr val="2867A0"/>
                </a:solidFill>
                <a:latin typeface="Calibri"/>
                <a:ea typeface="Calibri"/>
                <a:cs typeface="Calibri"/>
                <a:sym typeface="Calibri"/>
              </a:rPr>
              <a:t>Gracias</a:t>
            </a:r>
            <a:endParaRPr sz="3200" b="1" i="0" u="none" strike="noStrike" cap="none">
              <a:solidFill>
                <a:srgbClr val="2867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21199</TotalTime>
  <Words>991</Words>
  <Application>Microsoft Office PowerPoint</Application>
  <PresentationFormat>Panorámica</PresentationFormat>
  <Paragraphs>127</Paragraphs>
  <Slides>27</Slides>
  <Notes>15</Notes>
  <HiddenSlides>0</HiddenSlides>
  <MMClips>1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27</vt:i4>
      </vt:variant>
    </vt:vector>
  </HeadingPairs>
  <TitlesOfParts>
    <vt:vector size="35" baseType="lpstr">
      <vt:lpstr>Arial</vt:lpstr>
      <vt:lpstr>Calibri</vt:lpstr>
      <vt:lpstr>Comic Sans MS</vt:lpstr>
      <vt:lpstr>inherit</vt:lpstr>
      <vt:lpstr>Noto Sans Symbols</vt:lpstr>
      <vt:lpstr>Verdana</vt:lpstr>
      <vt:lpstr>Office Theme</vt:lpstr>
      <vt:lpstr>Tema de Office</vt:lpstr>
      <vt:lpstr>Presentación de PowerPoint</vt:lpstr>
      <vt:lpstr>Presentación de PowerPoint</vt:lpstr>
      <vt:lpstr>Presentación de PowerPoint</vt:lpstr>
      <vt:lpstr>La planeación consiste en definir las metas de la organización, establecer estrategias para lograrlas y desarrollar planes para integrar y coordinar las actividades laborales.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Vanessa Mirtha ACOSTA RUIZ</dc:creator>
  <cp:lastModifiedBy>Ana Lourdes Cornejo Alvarez</cp:lastModifiedBy>
  <cp:revision>76</cp:revision>
  <dcterms:created xsi:type="dcterms:W3CDTF">2025-03-18T19:54:05Z</dcterms:created>
  <dcterms:modified xsi:type="dcterms:W3CDTF">2025-07-21T22:11:42Z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2022-04-18T00:00:00Z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2025-03-18T00:00:00Z</vt:filetime>
  </property>
  <property fmtid="{D5CDD505-2E9C-101B-9397-08002B2CF9AE}" pid="5" name="Producer">
    <vt:lpwstr>Microsoft® PowerPoint® 2016</vt:lpwstr>
  </property>
</Properties>
</file>